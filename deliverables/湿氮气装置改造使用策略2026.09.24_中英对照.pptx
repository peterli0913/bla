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9" r:id="rId2"/>
    <p:sldId id="260" r:id="rId3"/>
    <p:sldId id="261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ongchao Wang" initials="YW" lastIdx="1" clrIdx="0"/>
  <p:cmAuthor id="2" name="Zhiheng Wang" initials="ZW" lastIdx="1" clrIdx="1">
    <p:extLst>
      <p:ext uri="{19B8F6BF-5375-455C-9EA6-DF929625EA0E}">
        <p15:presenceInfo xmlns:p15="http://schemas.microsoft.com/office/powerpoint/2012/main" userId="Zhiheng W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AEFF7"/>
    <a:srgbClr val="D2D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-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commentAuthors" Target="commentAuthors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9-24T17:33:17.354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519B2B-C672-4819-9876-120A6C66DB32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2B69B-828D-475B-96B5-C6450DB3821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30037-BA86-4F3D-9F04-080BB04B3B7C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1D58A-0E25-445A-8B64-F44560C2C8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jpg"/><Relationship Id="rId3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1" t="2116" r="4860" b="1865"/>
          <a:stretch/>
        </p:blipFill>
        <p:spPr>
          <a:xfrm>
            <a:off x="5641848" y="960120"/>
            <a:ext cx="5715000" cy="4954924"/>
          </a:xfrm>
          <a:prstGeom prst="rect">
            <a:avLst/>
          </a:prstGeom>
        </p:spPr>
      </p:pic>
      <p:sp>
        <p:nvSpPr>
          <p:cNvPr id="96" name="文本框 95"/>
          <p:cNvSpPr txBox="1"/>
          <p:nvPr/>
        </p:nvSpPr>
        <p:spPr>
          <a:xfrm>
            <a:off x="502920" y="914400"/>
            <a:ext cx="5074920" cy="414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lang="en-US" altLang="zh-CN" b="1" sz="1800">
                <a:latin typeface="Arial"/>
              </a:rPr>
              <a:t>Humidified Nitrogen – Operating Strategy</a:t>
            </a:r>
          </a:p>
          <a:p>
            <a:pPr>
              <a:lnSpc>
                <a:spcPct val="95000"/>
              </a:lnSpc>
              <a:spcBef>
                <a:spcPts val="0"/>
              </a:spcBef>
            </a:pPr>
            <a:r>
              <a:rPr lang="zh-CN" altLang="en-US" b="1" sz="1400">
                <a:solidFill>
                  <a:srgbClr val="595959"/>
                </a:solidFill>
              </a:rPr>
              <a:t>湿氮气-使用策略</a:t>
            </a:r>
          </a:p>
        </p:txBody>
      </p:sp>
      <p:cxnSp>
        <p:nvCxnSpPr>
          <p:cNvPr id="10" name="直接箭头连接符 9"/>
          <p:cNvCxnSpPr/>
          <p:nvPr/>
        </p:nvCxnSpPr>
        <p:spPr>
          <a:xfrm flipH="1">
            <a:off x="5504688" y="2093793"/>
            <a:ext cx="463922" cy="393375"/>
          </a:xfrm>
          <a:prstGeom prst="straightConnector1">
            <a:avLst/>
          </a:prstGeom>
          <a:ln w="41275" cap="flat" cmpd="sng" algn="ctr">
            <a:solidFill>
              <a:srgbClr val="ED7D31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 flipV="1">
            <a:off x="5504688" y="3246120"/>
            <a:ext cx="423245" cy="336444"/>
          </a:xfrm>
          <a:prstGeom prst="straightConnector1">
            <a:avLst/>
          </a:prstGeom>
          <a:ln w="50800" cap="flat" cmpd="sng" algn="ctr">
            <a:solidFill>
              <a:srgbClr val="ED7D31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>
          <a:xfrm>
            <a:off x="502920" y="1481328"/>
            <a:ext cx="5074920" cy="4937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7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altLang="zh-CN" sz="1200" b="1">
                <a:latin typeface="Arial"/>
              </a:rPr>
              <a:t>Overall strategy for the humidified nitrogen system:</a:t>
            </a:r>
            <a:r>
              <a:rPr lang="zh-CN" altLang="en-US" sz="1100" b="1"/>
              <a:t xml:space="preserve">   </a:t>
            </a:r>
            <a:r>
              <a:rPr lang="zh-CN" altLang="en-US" sz="1100" b="1">
                <a:solidFill>
                  <a:srgbClr val="595959"/>
                </a:solidFill>
              </a:rPr>
              <a:t>湿氮气装置整体策略：</a:t>
            </a:r>
          </a:p>
          <a:p>
            <a:pPr>
              <a:lnSpc>
                <a:spcPct val="97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altLang="zh-CN" sz="1200" b="1">
                <a:latin typeface="Arial"/>
              </a:rPr>
              <a:t>I. First Use</a:t>
            </a:r>
            <a:r>
              <a:rPr lang="zh-CN" altLang="en-US" sz="1100" b="1"/>
              <a:t xml:space="preserve">   </a:t>
            </a:r>
            <a:r>
              <a:rPr lang="zh-CN" altLang="en-US" sz="1100" b="1">
                <a:solidFill>
                  <a:srgbClr val="595959"/>
                </a:solidFill>
              </a:rPr>
              <a:t>一、首次使用时：</a:t>
            </a:r>
          </a:p>
          <a:p>
            <a:pPr>
              <a:lnSpc>
                <a:spcPct val="97000"/>
              </a:lnSpc>
              <a:spcAft>
                <a:spcPts val="0"/>
              </a:spcAft>
            </a:pPr>
            <a:r>
              <a:rPr lang="en-US" altLang="zh-CN" sz="1150" b="0">
                <a:latin typeface="Arial"/>
              </a:rPr>
              <a:t>1. Alkaline cleaning: Recirculate alkaline solution and then purified water through the unit; finally, purge the unit with nitrogen and drain at the low points.</a:t>
            </a:r>
          </a:p>
          <a:p>
            <a:pPr>
              <a:lnSpc>
                <a:spcPct val="97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altLang="en-US" sz="1050" b="0">
                <a:solidFill>
                  <a:srgbClr val="595959"/>
                </a:solidFill>
              </a:rPr>
              <a:t>1. 碱液清洗：依次使用碱液、纯化水进行循环冲洗，最后使用氮气对设备进行吹扫低点排净。</a:t>
            </a:r>
          </a:p>
          <a:p>
            <a:pPr>
              <a:lnSpc>
                <a:spcPct val="97000"/>
              </a:lnSpc>
              <a:spcAft>
                <a:spcPts val="0"/>
              </a:spcAft>
            </a:pPr>
            <a:r>
              <a:rPr lang="en-US" altLang="zh-CN" sz="1150" b="0">
                <a:latin typeface="Arial"/>
              </a:rPr>
              <a:t>2. WFI rinse: Using a sterile bag and an aseptic connector, recirculate and spray-rinse the unit with WFI, then drain at the low points.</a:t>
            </a:r>
          </a:p>
          <a:p>
            <a:pPr>
              <a:lnSpc>
                <a:spcPct val="97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altLang="en-US" sz="1050" b="0">
                <a:solidFill>
                  <a:srgbClr val="595959"/>
                </a:solidFill>
              </a:rPr>
              <a:t>2. 注射水淋洗：使用无菌软袋，通过无菌链接器，使用注射水对装置进行循环喷淋淋洗后，低点排净。</a:t>
            </a:r>
          </a:p>
          <a:p>
            <a:pPr>
              <a:lnSpc>
                <a:spcPct val="97000"/>
              </a:lnSpc>
              <a:spcAft>
                <a:spcPts val="0"/>
              </a:spcAft>
            </a:pPr>
            <a:r>
              <a:rPr lang="en-US" altLang="zh-CN" sz="1150" b="0">
                <a:latin typeface="Arial"/>
              </a:rPr>
              <a:t>3. WFI charge: Charge WFI again through a sterile bag for use.</a:t>
            </a:r>
          </a:p>
          <a:p>
            <a:pPr>
              <a:lnSpc>
                <a:spcPct val="97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altLang="en-US" sz="1050" b="0">
                <a:solidFill>
                  <a:srgbClr val="595959"/>
                </a:solidFill>
              </a:rPr>
              <a:t>3. 注射水进料：再次通过无菌袋加入注射水进行使用。</a:t>
            </a:r>
          </a:p>
          <a:p>
            <a:pPr>
              <a:lnSpc>
                <a:spcPct val="97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altLang="zh-CN" sz="1200" b="1">
                <a:latin typeface="Arial"/>
              </a:rPr>
              <a:t>II. Periodic WFI Replacement</a:t>
            </a:r>
            <a:r>
              <a:rPr lang="zh-CN" altLang="en-US" sz="1100" b="1"/>
              <a:t xml:space="preserve">   </a:t>
            </a:r>
            <a:r>
              <a:rPr lang="zh-CN" altLang="en-US" sz="1100" b="1">
                <a:solidFill>
                  <a:srgbClr val="595959"/>
                </a:solidFill>
              </a:rPr>
              <a:t>二、注射水周期性更换</a:t>
            </a:r>
          </a:p>
          <a:p>
            <a:pPr>
              <a:lnSpc>
                <a:spcPct val="97000"/>
              </a:lnSpc>
              <a:spcAft>
                <a:spcPts val="0"/>
              </a:spcAft>
            </a:pPr>
            <a:r>
              <a:rPr lang="en-US" altLang="zh-CN" sz="1150" b="0">
                <a:latin typeface="Arial"/>
              </a:rPr>
              <a:t>1. Drain at the low points.</a:t>
            </a:r>
          </a:p>
          <a:p>
            <a:pPr>
              <a:lnSpc>
                <a:spcPct val="97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altLang="en-US" sz="1050" b="0">
                <a:solidFill>
                  <a:srgbClr val="595959"/>
                </a:solidFill>
              </a:rPr>
              <a:t>1. 低点排净。</a:t>
            </a:r>
          </a:p>
          <a:p>
            <a:pPr>
              <a:lnSpc>
                <a:spcPct val="97000"/>
              </a:lnSpc>
              <a:spcAft>
                <a:spcPts val="0"/>
              </a:spcAft>
            </a:pPr>
            <a:r>
              <a:rPr lang="en-US" altLang="zh-CN" sz="1150" b="0">
                <a:latin typeface="Arial"/>
              </a:rPr>
              <a:t>2. Add fresh WFI, recirculate to rinse, then drain at the low points.</a:t>
            </a:r>
          </a:p>
          <a:p>
            <a:pPr>
              <a:lnSpc>
                <a:spcPct val="97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altLang="en-US" sz="1050" b="0">
                <a:solidFill>
                  <a:srgbClr val="595959"/>
                </a:solidFill>
              </a:rPr>
              <a:t>2. 补充新注射水循环淋洗，低点排净。</a:t>
            </a:r>
          </a:p>
          <a:p>
            <a:pPr>
              <a:lnSpc>
                <a:spcPct val="97000"/>
              </a:lnSpc>
              <a:spcAft>
                <a:spcPts val="0"/>
              </a:spcAft>
            </a:pPr>
            <a:r>
              <a:rPr lang="en-US" altLang="zh-CN" sz="1150" b="0">
                <a:latin typeface="Arial"/>
              </a:rPr>
              <a:t>3. Recharge WFI for use.</a:t>
            </a:r>
          </a:p>
          <a:p>
            <a:pPr>
              <a:lnSpc>
                <a:spcPct val="97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altLang="en-US" sz="1050" b="0">
                <a:solidFill>
                  <a:srgbClr val="595959"/>
                </a:solidFill>
              </a:rPr>
              <a:t>3. 再次补入注射水进行使用。</a:t>
            </a:r>
          </a:p>
          <a:p>
            <a:pPr>
              <a:lnSpc>
                <a:spcPct val="97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altLang="zh-CN" sz="1200" b="1">
                <a:latin typeface="Arial"/>
              </a:rPr>
              <a:t>III. Alternate Use of Two Humidifiers</a:t>
            </a:r>
            <a:r>
              <a:rPr lang="zh-CN" altLang="en-US" sz="1100" b="1"/>
              <a:t xml:space="preserve">   </a:t>
            </a:r>
            <a:r>
              <a:rPr lang="zh-CN" altLang="en-US" sz="1100" b="1">
                <a:solidFill>
                  <a:srgbClr val="595959"/>
                </a:solidFill>
              </a:rPr>
              <a:t>三、两套氮气加湿装置互补</a:t>
            </a:r>
          </a:p>
          <a:p>
            <a:pPr>
              <a:lnSpc>
                <a:spcPct val="97000"/>
              </a:lnSpc>
              <a:spcAft>
                <a:spcPts val="0"/>
              </a:spcAft>
            </a:pPr>
            <a:r>
              <a:rPr lang="en-US" altLang="zh-CN" sz="1150" b="0">
                <a:latin typeface="Arial"/>
              </a:rPr>
              <a:t>Within the WFI replacement interval, the two units are periodically cleaned by recirculation per Section II and used alternately.</a:t>
            </a:r>
          </a:p>
          <a:p>
            <a:pPr>
              <a:lnSpc>
                <a:spcPct val="97000"/>
              </a:lnSpc>
              <a:spcBef>
                <a:spcPts val="0"/>
              </a:spcBef>
              <a:spcAft>
                <a:spcPts val="200"/>
              </a:spcAft>
            </a:pPr>
            <a:r>
              <a:rPr lang="zh-CN" altLang="en-US" sz="1050" b="0">
                <a:solidFill>
                  <a:srgbClr val="595959"/>
                </a:solidFill>
              </a:rPr>
              <a:t>在注射水周期范围内按照方式二，周期性循环清洗交替使用。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92" r="1393" b="13231"/>
          <a:stretch/>
        </p:blipFill>
        <p:spPr>
          <a:xfrm>
            <a:off x="2967487" y="1333167"/>
            <a:ext cx="8804948" cy="5091634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 flipH="1" flipV="1">
            <a:off x="2700069" y="1495321"/>
            <a:ext cx="2410946" cy="1127110"/>
          </a:xfrm>
          <a:prstGeom prst="straightConnector1">
            <a:avLst/>
          </a:prstGeom>
          <a:ln w="41275" cap="flat" cmpd="sng" algn="ctr">
            <a:solidFill>
              <a:srgbClr val="ED7D31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>
          <a:xfrm>
            <a:off x="514384" y="1037280"/>
            <a:ext cx="2157984" cy="97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altLang="zh-CN" sz="1200" b="1">
                <a:latin typeface="Arial"/>
                <a:sym typeface="+mn-ea"/>
              </a:rPr>
              <a:t>1. Material line into the clean area: fitted with a cleaning/purge port, allowing cleaning and purging in both directions.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100" b="1">
                <a:solidFill>
                  <a:srgbClr val="595959"/>
                </a:solidFill>
                <a:sym typeface="+mn-ea"/>
              </a:rPr>
              <a:t>1. 进洁净区物料管路：设置有清洗吹扫口，能够往两个方向进行清洗吹扫。</a:t>
            </a:r>
          </a:p>
        </p:txBody>
      </p:sp>
      <p:cxnSp>
        <p:nvCxnSpPr>
          <p:cNvPr id="5" name="直接箭头连接符 4"/>
          <p:cNvCxnSpPr>
            <a:endCxn id="15" idx="3"/>
          </p:cNvCxnSpPr>
          <p:nvPr/>
        </p:nvCxnSpPr>
        <p:spPr>
          <a:xfrm flipH="1" flipV="1">
            <a:off x="2798767" y="3302940"/>
            <a:ext cx="3334971" cy="58516"/>
          </a:xfrm>
          <a:prstGeom prst="straightConnector1">
            <a:avLst/>
          </a:prstGeom>
          <a:ln w="41275" cap="flat" cmpd="sng" algn="ctr">
            <a:solidFill>
              <a:srgbClr val="ED7D31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14384" y="3015657"/>
            <a:ext cx="2240280" cy="5745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altLang="zh-CN" sz="1200" b="1">
                <a:latin typeface="Arial"/>
              </a:rPr>
              <a:t>2. Filter strategy: filters are cleaned off-line.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100" b="1">
                <a:solidFill>
                  <a:srgbClr val="595959"/>
                </a:solidFill>
              </a:rPr>
              <a:t>2. 过滤器策略：过滤器采用离线清洗的方式。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514384" y="4389273"/>
            <a:ext cx="208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altLang="zh-CN" sz="1200" b="1">
                <a:latin typeface="Arial"/>
              </a:rPr>
              <a:t>3. WFI pre-flush drain line.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100" b="1">
                <a:solidFill>
                  <a:srgbClr val="595959"/>
                </a:solidFill>
              </a:rPr>
              <a:t>3. 注射水预冲洗排净管路。</a:t>
            </a:r>
          </a:p>
        </p:txBody>
      </p:sp>
      <p:cxnSp>
        <p:nvCxnSpPr>
          <p:cNvPr id="35" name="直接箭头连接符 34"/>
          <p:cNvCxnSpPr/>
          <p:nvPr/>
        </p:nvCxnSpPr>
        <p:spPr>
          <a:xfrm flipH="1">
            <a:off x="2618072" y="3829151"/>
            <a:ext cx="4852177" cy="744788"/>
          </a:xfrm>
          <a:prstGeom prst="straightConnector1">
            <a:avLst/>
          </a:prstGeom>
          <a:ln w="41275" cap="flat" cmpd="sng" algn="ctr">
            <a:solidFill>
              <a:srgbClr val="ED7D31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3017520" y="896112"/>
            <a:ext cx="8778240" cy="4368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b="1" sz="1600">
                <a:latin typeface="Arial"/>
              </a:rPr>
              <a:t>Low-Point Drain and High-Point Purge Locations</a:t>
            </a:r>
            <a:r>
              <a:rPr lang="zh-CN" altLang="en-US" b="1" sz="1500"/>
              <a:t xml:space="preserve">   </a:t>
            </a:r>
            <a:r>
              <a:rPr lang="zh-CN" altLang="en-US" b="1" sz="1500">
                <a:solidFill>
                  <a:srgbClr val="595959"/>
                </a:solidFill>
              </a:rPr>
              <a:t>设备低点排净和高位吹扫点位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5188017" y="2622431"/>
            <a:ext cx="481263" cy="329820"/>
          </a:xfrm>
          <a:prstGeom prst="roundRect">
            <a:avLst/>
          </a:prstGeom>
          <a:noFill/>
          <a:ln w="444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6147361" y="2977157"/>
            <a:ext cx="551822" cy="439811"/>
          </a:xfrm>
          <a:prstGeom prst="roundRect">
            <a:avLst/>
          </a:prstGeom>
          <a:noFill/>
          <a:ln w="444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肘形连接符 19"/>
          <p:cNvCxnSpPr/>
          <p:nvPr/>
        </p:nvCxnSpPr>
        <p:spPr>
          <a:xfrm rot="5400000">
            <a:off x="6704416" y="4202480"/>
            <a:ext cx="2703860" cy="904776"/>
          </a:xfrm>
          <a:prstGeom prst="bentConnector3">
            <a:avLst>
              <a:gd name="adj1" fmla="val 7282"/>
            </a:avLst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9230628" y="5611528"/>
            <a:ext cx="19250" cy="471638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H="1">
            <a:off x="9837019" y="5696551"/>
            <a:ext cx="8022" cy="386615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H="1" flipV="1">
            <a:off x="2700071" y="5763511"/>
            <a:ext cx="6463180" cy="83836"/>
          </a:xfrm>
          <a:prstGeom prst="straightConnector1">
            <a:avLst/>
          </a:prstGeom>
          <a:ln w="41275" cap="flat" cmpd="sng" algn="ctr">
            <a:solidFill>
              <a:srgbClr val="ED7D31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514384" y="5557656"/>
            <a:ext cx="2157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altLang="zh-CN" sz="1200" b="1">
                <a:latin typeface="Arial"/>
              </a:rPr>
              <a:t>4. Equipment low-point drain line.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100" b="1">
                <a:solidFill>
                  <a:srgbClr val="595959"/>
                </a:solidFill>
              </a:rPr>
              <a:t>4. 设备低点排净管路。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2372" y="1541026"/>
            <a:ext cx="6025910" cy="4820728"/>
          </a:xfrm>
          <a:prstGeom prst="rect">
            <a:avLst/>
          </a:prstGeom>
        </p:spPr>
      </p:pic>
      <p:cxnSp>
        <p:nvCxnSpPr>
          <p:cNvPr id="3" name="直接箭头连接符 2"/>
          <p:cNvCxnSpPr/>
          <p:nvPr/>
        </p:nvCxnSpPr>
        <p:spPr>
          <a:xfrm flipH="1" flipV="1">
            <a:off x="3513221" y="1713297"/>
            <a:ext cx="5034016" cy="345582"/>
          </a:xfrm>
          <a:prstGeom prst="straightConnector1">
            <a:avLst/>
          </a:prstGeom>
          <a:ln w="41275" cap="flat" cmpd="sng" algn="ctr">
            <a:solidFill>
              <a:srgbClr val="ED7D31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731520" y="1325880"/>
            <a:ext cx="2743200" cy="69367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altLang="zh-CN" sz="1200" b="1">
                <a:latin typeface="Arial"/>
                <a:sym typeface="+mn-ea"/>
              </a:rPr>
              <a:t>1. Humidified N₂ line to the AFD: fitted with a cleaning/purge port, allowing cleaning and purging in both directions.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100" b="1">
                <a:solidFill>
                  <a:srgbClr val="595959"/>
                </a:solidFill>
                <a:sym typeface="+mn-ea"/>
              </a:rPr>
              <a:t>1. 进三合一的湿氮气管路：设置有清洗吹扫口，能够往两个方向进行清洗吹扫。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8653112" y="2058876"/>
            <a:ext cx="798897" cy="328189"/>
          </a:xfrm>
          <a:prstGeom prst="roundRect">
            <a:avLst/>
          </a:prstGeom>
          <a:noFill/>
          <a:ln w="444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017520" y="841248"/>
            <a:ext cx="8778240" cy="4368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b="1" sz="1600">
                <a:latin typeface="Arial"/>
              </a:rPr>
              <a:t>Low-Point Drain and High-Point Purge Locations</a:t>
            </a:r>
            <a:r>
              <a:rPr lang="zh-CN" altLang="en-US" b="1" sz="1500"/>
              <a:t xml:space="preserve">   </a:t>
            </a:r>
            <a:r>
              <a:rPr lang="zh-CN" altLang="en-US" b="1" sz="1500">
                <a:solidFill>
                  <a:srgbClr val="595959"/>
                </a:solidFill>
              </a:rPr>
              <a:t>设备低点排净和高位吹扫点位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68096" y="2651760"/>
            <a:ext cx="2697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altLang="zh-CN" sz="1200" b="1">
                <a:latin typeface="Arial"/>
              </a:rPr>
              <a:t>2. Low-point drain of the humidified N₂ line to the AFD.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100" b="1">
                <a:solidFill>
                  <a:srgbClr val="595959"/>
                </a:solidFill>
              </a:rPr>
              <a:t>2. 进三合一的湿氮气管路低点排净。</a:t>
            </a:r>
          </a:p>
        </p:txBody>
      </p:sp>
      <p:cxnSp>
        <p:nvCxnSpPr>
          <p:cNvPr id="10" name="直接箭头连接符 9"/>
          <p:cNvCxnSpPr/>
          <p:nvPr/>
        </p:nvCxnSpPr>
        <p:spPr>
          <a:xfrm flipH="1" flipV="1">
            <a:off x="3529584" y="2926079"/>
            <a:ext cx="2938596" cy="2338943"/>
          </a:xfrm>
          <a:prstGeom prst="straightConnector1">
            <a:avLst/>
          </a:prstGeom>
          <a:ln w="41275" cap="flat" cmpd="sng" algn="ctr">
            <a:solidFill>
              <a:srgbClr val="ED7D31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肘形连接符 12"/>
          <p:cNvCxnSpPr/>
          <p:nvPr/>
        </p:nvCxnSpPr>
        <p:spPr>
          <a:xfrm rot="5400000">
            <a:off x="7359406" y="4134944"/>
            <a:ext cx="3655817" cy="529390"/>
          </a:xfrm>
          <a:prstGeom prst="bentConnector3">
            <a:avLst>
              <a:gd name="adj1" fmla="val 765"/>
            </a:avLst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>
            <a:off x="6583680" y="5111015"/>
            <a:ext cx="9626" cy="1029903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694944" y="3657600"/>
            <a:ext cx="4343400" cy="1491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en-US" altLang="zh-CN" sz="1600" b="1">
                <a:latin typeface="Arial"/>
              </a:rPr>
              <a:t>For Lilly's confirmation:</a:t>
            </a:r>
            <a:r>
              <a:rPr lang="zh-CN" altLang="en-US" sz="1500" b="1"/>
              <a:t xml:space="preserve">   </a:t>
            </a:r>
            <a:r>
              <a:rPr lang="zh-CN" altLang="en-US" sz="1500" b="1">
                <a:solidFill>
                  <a:srgbClr val="595959"/>
                </a:solidFill>
              </a:rPr>
              <a:t>需客户确认：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altLang="zh-CN" sz="1300" b="1">
                <a:latin typeface="Arial"/>
              </a:rPr>
              <a:t>Should the valves at the drain and purge points be installed to a 2D or a 3D dead-leg requirement?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1200" b="1">
                <a:solidFill>
                  <a:srgbClr val="595959"/>
                </a:solidFill>
              </a:rPr>
              <a:t>排净和吹扫点位阀门安装要求2D还是3D？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altLang="zh-CN" sz="1300" b="1">
                <a:latin typeface="Arial"/>
              </a:rPr>
              <a:t>1. 2D — longer valve procurement lead time;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1200" b="1">
                <a:solidFill>
                  <a:srgbClr val="595959"/>
                </a:solidFill>
              </a:rPr>
              <a:t>1. 2D——阀门采购周期较长；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altLang="zh-CN" sz="1300" b="1">
                <a:latin typeface="Arial"/>
              </a:rPr>
              <a:t>2. 3D — shorter valve procurement lead time; domestic equipment suppliers have confirmed that a 3D design can be cleaned effectively.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1200" b="1">
                <a:solidFill>
                  <a:srgbClr val="595959"/>
                </a:solidFill>
              </a:rPr>
              <a:t>2. 3D——阀门采购周期短，国内设备厂家反馈3D能够清洗干净。</a:t>
            </a:r>
          </a:p>
        </p:txBody>
      </p:sp>
      <p:cxnSp>
        <p:nvCxnSpPr>
          <p:cNvPr id="29" name="直接箭头连接符 28"/>
          <p:cNvCxnSpPr/>
          <p:nvPr/>
        </p:nvCxnSpPr>
        <p:spPr>
          <a:xfrm flipH="1" flipV="1">
            <a:off x="3529584" y="2834640"/>
            <a:ext cx="5296784" cy="4815"/>
          </a:xfrm>
          <a:prstGeom prst="straightConnector1">
            <a:avLst/>
          </a:prstGeom>
          <a:ln w="41275" cap="flat" cmpd="sng" algn="ctr">
            <a:solidFill>
              <a:srgbClr val="ED7D31"/>
            </a:solidFill>
            <a:prstDash val="solid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313</Words>
  <Application>Microsoft Office PowerPoint</Application>
  <PresentationFormat>宽屏</PresentationFormat>
  <Paragraphs>24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Xiangyang Peng</dc:creator>
  <cp:lastModifiedBy>Yongchao Wang</cp:lastModifiedBy>
  <cp:revision>16</cp:revision>
  <dcterms:created xsi:type="dcterms:W3CDTF">2026-09-24T07:07:32Z</dcterms:created>
  <dcterms:modified xsi:type="dcterms:W3CDTF">2026-09-24T10:20:28Z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2052-0.0.0.0</vt:lpwstr>
  </property>
</Properties>
</file>