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rawings/vmlDrawing1.vml" ContentType="application/vnd.openxmlformats-officedocument.vmlDrawing"/>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 id="2147483670" r:id="rId3"/>
    <p:sldMasterId id="2147483682" r:id="rId4"/>
    <p:sldMasterId id="2147483694" r:id="rId5"/>
    <p:sldMasterId id="2147483706" r:id="rId6"/>
    <p:sldMasterId id="2147483718" r:id="rId7"/>
    <p:sldMasterId id="2147483730" r:id="rId8"/>
    <p:sldMasterId id="2147483741" r:id="rId9"/>
    <p:sldMasterId id="2147483752" r:id="rId10"/>
    <p:sldMasterId id="2147483764" r:id="rId11"/>
    <p:sldMasterId id="2147483776" r:id="rId12"/>
    <p:sldMasterId id="2147483788" r:id="rId13"/>
    <p:sldMasterId id="2147483814" r:id="rId14"/>
  </p:sldMasterIdLst>
  <p:notesMasterIdLst>
    <p:notesMasterId r:id="rId21"/>
  </p:notesMasterIdLst>
  <p:sldIdLst>
    <p:sldId id="885" r:id="rId15"/>
    <p:sldId id="884" r:id="rId16"/>
    <p:sldId id="876" r:id="rId17"/>
    <p:sldId id="881" r:id="rId18"/>
    <p:sldId id="882" r:id="rId19"/>
    <p:sldId id="879" r:id="rId20"/>
  </p:sldIdLst>
  <p:sldSz cx="24384000" cy="13716000"/>
  <p:notesSz cx="6858000" cy="9144000"/>
  <p:defaultTextStyle>
    <a:defPPr>
      <a:defRPr lang="en-US"/>
    </a:defPPr>
    <a:lvl1pPr marL="0" lvl="0" indent="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1pPr>
    <a:lvl2pPr marL="0" lvl="1" indent="2286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2pPr>
    <a:lvl3pPr marL="0" lvl="2" indent="4572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3pPr>
    <a:lvl4pPr marL="0" lvl="3" indent="6858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4pPr>
    <a:lvl5pPr marL="0" lvl="4"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5pPr>
    <a:lvl6pPr marL="2286000" lvl="5"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6pPr>
    <a:lvl7pPr marL="2743200" lvl="6"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7pPr>
    <a:lvl8pPr marL="3200400" lvl="7"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8pPr>
    <a:lvl9pPr marL="3657600" lvl="8"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9pPr>
  </p:defaultTextStyle>
  <p:extLst>
    <p:ext uri="{EFAFB233-063F-42B5-8137-9DF3F51BA10A}">
      <p15:sldGuideLst xmlns:p15="http://schemas.microsoft.com/office/powerpoint/2012/main">
        <p15:guide id="1" pos="7680">
          <p15:clr>
            <a:srgbClr val="A4A3A4"/>
          </p15:clr>
        </p15:guide>
        <p15:guide id="2" orient="horz" pos="43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Yonggang Shi" initials="YS" lastIdx="1" clrIdx="0"/>
  <p:cmAuthor id="4" name="Qichen Liu" initials="QL" lastIdx="3" clrIdx="1"/>
  <p:cmAuthor id="5" name="Kai Liu9244" initials="KL"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B9BD5"/>
    <a:srgbClr val="EAEFF7"/>
    <a:srgbClr val="D2DEEF"/>
    <a:srgbClr val="EAF0F7"/>
    <a:srgbClr val="3A6DB4"/>
    <a:srgbClr val="00356A"/>
    <a:srgbClr val="3F6E9A"/>
    <a:srgbClr val="CDDCEA"/>
    <a:srgbClr val="6897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55" autoAdjust="0"/>
    <p:restoredTop sz="94012" autoAdjust="0"/>
  </p:normalViewPr>
  <p:slideViewPr>
    <p:cSldViewPr snapToGrid="0" snapToObjects="1" showGuides="1">
      <p:cViewPr varScale="1">
        <p:scale>
          <a:sx n="34" d="100"/>
          <a:sy n="34" d="100"/>
        </p:scale>
        <p:origin x="572" y="84"/>
      </p:cViewPr>
      <p:guideLst>
        <p:guide pos="7680"/>
        <p:guide orient="horz" pos="4320"/>
      </p:guideLst>
    </p:cSldViewPr>
  </p:slideViewPr>
  <p:notesTextViewPr>
    <p:cViewPr>
      <p:scale>
        <a:sx n="1" d="1"/>
        <a:sy n="1" d="1"/>
      </p:scale>
      <p:origin x="0" y="0"/>
    </p:cViewPr>
  </p:notesTextViewPr>
  <p:sorterViewPr showFormatting="0">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 Id="rId10" Type="http://schemas.openxmlformats.org/officeDocument/2006/relationships/slideMaster" Target="slideMasters/slideMaster10.xml"/><Relationship Id="rId11" Type="http://schemas.openxmlformats.org/officeDocument/2006/relationships/slideMaster" Target="slideMasters/slideMaster11.xml"/><Relationship Id="rId12" Type="http://schemas.openxmlformats.org/officeDocument/2006/relationships/slideMaster" Target="slideMasters/slideMaster12.xml"/><Relationship Id="rId13" Type="http://schemas.openxmlformats.org/officeDocument/2006/relationships/slideMaster" Target="slideMasters/slideMaster13.xml"/><Relationship Id="rId14" Type="http://schemas.openxmlformats.org/officeDocument/2006/relationships/slideMaster" Target="slideMasters/slideMaster14.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notesMaster" Target="notesMasters/notesMaster1.xml"/><Relationship Id="rId22" Type="http://schemas.openxmlformats.org/officeDocument/2006/relationships/commentAuthors" Target="commentAuthor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46" name="Shape 66"/>
          <p:cNvSpPr>
            <a:spLocks noGrp="1" noRot="1" noChangeAspect="1"/>
          </p:cNvSpPr>
          <p:nvPr>
            <p:ph type="sldImg"/>
          </p:nvPr>
        </p:nvSpPr>
        <p:spPr>
          <a:xfrm>
            <a:off x="1143000" y="685800"/>
            <a:ext cx="4572000" cy="3429000"/>
          </a:xfrm>
          <a:prstGeom prst="rect">
            <a:avLst/>
          </a:prstGeom>
          <a:noFill/>
          <a:ln w="9525">
            <a:noFill/>
          </a:ln>
        </p:spPr>
      </p:sp>
      <p:sp>
        <p:nvSpPr>
          <p:cNvPr id="6147" name="Shape 67"/>
          <p:cNvSpPr>
            <a:spLocks noGrp="1"/>
          </p:cNvSpPr>
          <p:nvPr>
            <p:ph type="body" sz="quarter"/>
          </p:nvPr>
        </p:nvSpPr>
        <p:spPr>
          <a:xfrm>
            <a:off x="914400" y="4343400"/>
            <a:ext cx="5029200" cy="4114800"/>
          </a:xfrm>
          <a:prstGeom prst="rect">
            <a:avLst/>
          </a:prstGeom>
          <a:noFill/>
          <a:ln w="9525">
            <a:noFill/>
          </a:ln>
        </p:spPr>
        <p:txBody>
          <a:bodyPr anchor="t"/>
          <a:lstStyle/>
          <a:p>
            <a:pPr lvl="0"/>
            <a:endParaRPr lang="zh-CN" altLang="zh-CN"/>
          </a:p>
        </p:txBody>
      </p:sp>
    </p:spTree>
  </p:cSld>
  <p:clrMap bg1="lt1" tx1="dk1" bg2="lt2" tx2="dk2" accent1="accent1" accent2="accent2" accent3="accent3" accent4="accent4" accent5="accent5" accent6="accent6" hlink="hlink" folHlink="folHlink"/>
  <p:hf sldNum="0" hdr="0" ftr="0" dt="0"/>
  <p:notesStyle>
    <a:lvl1pPr defTabSz="457200" latinLnBrk="0">
      <a:lnSpc>
        <a:spcPct val="117000"/>
      </a:lnSpc>
      <a:defRPr sz="2200">
        <a:latin typeface="+mn-lt"/>
        <a:ea typeface="+mn-ea"/>
        <a:cs typeface="+mn-cs"/>
        <a:sym typeface="Helvetica Neue" panose="02000503000000020004"/>
      </a:defRPr>
    </a:lvl1pPr>
    <a:lvl2pPr indent="228600" defTabSz="457200" latinLnBrk="0">
      <a:lnSpc>
        <a:spcPct val="117000"/>
      </a:lnSpc>
      <a:defRPr sz="2200">
        <a:latin typeface="+mn-lt"/>
        <a:ea typeface="+mn-ea"/>
        <a:cs typeface="+mn-cs"/>
        <a:sym typeface="Helvetica Neue" panose="02000503000000020004"/>
      </a:defRPr>
    </a:lvl2pPr>
    <a:lvl3pPr indent="457200" defTabSz="457200" latinLnBrk="0">
      <a:lnSpc>
        <a:spcPct val="117000"/>
      </a:lnSpc>
      <a:defRPr sz="2200">
        <a:latin typeface="+mn-lt"/>
        <a:ea typeface="+mn-ea"/>
        <a:cs typeface="+mn-cs"/>
        <a:sym typeface="Helvetica Neue" panose="02000503000000020004"/>
      </a:defRPr>
    </a:lvl3pPr>
    <a:lvl4pPr indent="685800" defTabSz="457200" latinLnBrk="0">
      <a:lnSpc>
        <a:spcPct val="117000"/>
      </a:lnSpc>
      <a:defRPr sz="2200">
        <a:latin typeface="+mn-lt"/>
        <a:ea typeface="+mn-ea"/>
        <a:cs typeface="+mn-cs"/>
        <a:sym typeface="Helvetica Neue" panose="02000503000000020004"/>
      </a:defRPr>
    </a:lvl4pPr>
    <a:lvl5pPr indent="914400" defTabSz="457200" latinLnBrk="0">
      <a:lnSpc>
        <a:spcPct val="117000"/>
      </a:lnSpc>
      <a:defRPr sz="2200">
        <a:latin typeface="+mn-lt"/>
        <a:ea typeface="+mn-ea"/>
        <a:cs typeface="+mn-cs"/>
        <a:sym typeface="Helvetica Neue" panose="02000503000000020004"/>
      </a:defRPr>
    </a:lvl5pPr>
    <a:lvl6pPr indent="1143000" defTabSz="457200" latinLnBrk="0">
      <a:lnSpc>
        <a:spcPct val="117000"/>
      </a:lnSpc>
      <a:defRPr sz="2200">
        <a:latin typeface="+mn-lt"/>
        <a:ea typeface="+mn-ea"/>
        <a:cs typeface="+mn-cs"/>
        <a:sym typeface="Helvetica Neue" panose="02000503000000020004"/>
      </a:defRPr>
    </a:lvl6pPr>
    <a:lvl7pPr indent="1371600" defTabSz="457200" latinLnBrk="0">
      <a:lnSpc>
        <a:spcPct val="117000"/>
      </a:lnSpc>
      <a:defRPr sz="2200">
        <a:latin typeface="+mn-lt"/>
        <a:ea typeface="+mn-ea"/>
        <a:cs typeface="+mn-cs"/>
        <a:sym typeface="Helvetica Neue" panose="02000503000000020004"/>
      </a:defRPr>
    </a:lvl7pPr>
    <a:lvl8pPr indent="1600200" defTabSz="457200" latinLnBrk="0">
      <a:lnSpc>
        <a:spcPct val="117000"/>
      </a:lnSpc>
      <a:defRPr sz="2200">
        <a:latin typeface="+mn-lt"/>
        <a:ea typeface="+mn-ea"/>
        <a:cs typeface="+mn-cs"/>
        <a:sym typeface="Helvetica Neue" panose="02000503000000020004"/>
      </a:defRPr>
    </a:lvl8pPr>
    <a:lvl9pPr indent="1828800" defTabSz="457200" latinLnBrk="0">
      <a:lnSpc>
        <a:spcPct val="117000"/>
      </a:lnSpc>
      <a:defRPr sz="2200">
        <a:latin typeface="+mn-lt"/>
        <a:ea typeface="+mn-ea"/>
        <a:cs typeface="+mn-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34300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jpe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jpe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jpe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jpe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jpe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2.jpe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3.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2.jpe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3.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jpe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3.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jpe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 Id="rId2" Type="http://schemas.openxmlformats.org/officeDocument/2006/relationships/image" Target="../media/image2.jpe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18" name="灯片编号占位符 17"/>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页脚占位符 3"/>
          <p:cNvSpPr>
            <a:spLocks noGrp="1"/>
          </p:cNvSpPr>
          <p:nvPr>
            <p:ph type="ftr" sz="quarter" idx="11"/>
          </p:nvPr>
        </p:nvSpPr>
        <p:spPr/>
        <p:txBody>
          <a:body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灯片编号占位符 3"/>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7" name="灯片编号占位符 6"/>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FABC47A4-756D-490B-A52F-7D9E2C9FC05F}"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defTabSz="1828800" fontAlgn="auto">
              <a:spcBef>
                <a:spcPts val="0"/>
              </a:spcBef>
              <a:spcAft>
                <a:spcPts val="0"/>
              </a:spcAft>
              <a:defRPr/>
            </a:pPr>
            <a:r>
              <a:rPr lang="en-US" altLang="zh-CN">
                <a:solidFill>
                  <a:prstClr val="white"/>
                </a:solidFill>
                <a:ea typeface="微软雅黑"/>
              </a:rPr>
              <a:t>-</a:t>
            </a:r>
            <a:fld id="{FAEDECE0-B3E3-4E93-9B91-9F10B30F5B07}" type="slidenum">
              <a:rPr lang="en-US" altLang="zh-CN" smtClean="0">
                <a:solidFill>
                  <a:prstClr val="white"/>
                </a:solidFill>
                <a:ea typeface="微软雅黑"/>
              </a:rPr>
              <a:t>‹#›</a:t>
            </a:fld>
            <a:r>
              <a:rPr lang="en-US" altLang="zh-CN">
                <a:solidFill>
                  <a:prstClr val="white"/>
                </a:solidFill>
                <a:ea typeface="微软雅黑"/>
              </a:rPr>
              <a:t>-</a:t>
            </a:r>
            <a:endParaRPr lang="zh-CN" altLang="en-US" dirty="0">
              <a:solidFill>
                <a:prstClr val="white"/>
              </a:solidFill>
              <a:ea typeface="微软雅黑"/>
            </a:endParaRPr>
          </a:p>
        </p:txBody>
      </p:sp>
      <p:sp>
        <p:nvSpPr>
          <p:cNvPr id="7" name="文本框 6"/>
          <p:cNvSpPr txBox="1"/>
          <p:nvPr userDrawn="1"/>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18" name="灯片编号占位符 17"/>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页脚占位符 3"/>
          <p:cNvSpPr>
            <a:spLocks noGrp="1"/>
          </p:cNvSpPr>
          <p:nvPr>
            <p:ph type="ftr" sz="quarter" idx="11"/>
          </p:nvPr>
        </p:nvSpPr>
        <p:spPr/>
        <p:txBody>
          <a:body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灯片编号占位符 3"/>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7" name="灯片编号占位符 6"/>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FABC47A4-756D-490B-A52F-7D9E2C9FC05F}"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defTabSz="1828800" fontAlgn="auto">
              <a:spcBef>
                <a:spcPts val="0"/>
              </a:spcBef>
              <a:spcAft>
                <a:spcPts val="0"/>
              </a:spcAft>
              <a:defRPr/>
            </a:pPr>
            <a:r>
              <a:rPr lang="en-US" altLang="zh-CN">
                <a:solidFill>
                  <a:prstClr val="white"/>
                </a:solidFill>
                <a:ea typeface="微软雅黑"/>
              </a:rPr>
              <a:t>-</a:t>
            </a:r>
            <a:fld id="{FAEDECE0-B3E3-4E93-9B91-9F10B30F5B07}" type="slidenum">
              <a:rPr lang="en-US" altLang="zh-CN" smtClean="0">
                <a:solidFill>
                  <a:prstClr val="white"/>
                </a:solidFill>
                <a:ea typeface="微软雅黑"/>
              </a:rPr>
              <a:t>‹#›</a:t>
            </a:fld>
            <a:r>
              <a:rPr lang="en-US" altLang="zh-CN">
                <a:solidFill>
                  <a:prstClr val="white"/>
                </a:solidFill>
                <a:ea typeface="微软雅黑"/>
              </a:rPr>
              <a:t>-</a:t>
            </a:r>
            <a:endParaRPr lang="zh-CN" altLang="en-US" dirty="0">
              <a:solidFill>
                <a:prstClr val="white"/>
              </a:solidFill>
              <a:ea typeface="微软雅黑"/>
            </a:endParaRPr>
          </a:p>
        </p:txBody>
      </p:sp>
      <p:sp>
        <p:nvSpPr>
          <p:cNvPr id="7" name="文本框 6"/>
          <p:cNvSpPr txBox="1"/>
          <p:nvPr userDrawn="1"/>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27733919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28960914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p:txBody>
      </p:sp>
    </p:spTree>
    <p:extLst>
      <p:ext uri="{BB962C8B-B14F-4D97-AF65-F5344CB8AC3E}">
        <p14:creationId xmlns:p14="http://schemas.microsoft.com/office/powerpoint/2010/main" val="419354652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138098810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Tree>
    <p:extLst>
      <p:ext uri="{BB962C8B-B14F-4D97-AF65-F5344CB8AC3E}">
        <p14:creationId xmlns:p14="http://schemas.microsoft.com/office/powerpoint/2010/main" val="7015412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Tree>
    <p:extLst>
      <p:ext uri="{BB962C8B-B14F-4D97-AF65-F5344CB8AC3E}">
        <p14:creationId xmlns:p14="http://schemas.microsoft.com/office/powerpoint/2010/main" val="390752139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Tree>
    <p:extLst>
      <p:ext uri="{BB962C8B-B14F-4D97-AF65-F5344CB8AC3E}">
        <p14:creationId xmlns:p14="http://schemas.microsoft.com/office/powerpoint/2010/main" val="347033702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151499526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a:p>
        </p:txBody>
      </p:sp>
      <p:sp>
        <p:nvSpPr>
          <p:cNvPr id="7" name="文本框 6"/>
          <p:cNvSpPr txBox="1"/>
          <p:nvPr/>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
        <p:nvSpPr>
          <p:cNvPr id="3" name="Линия">
            <a:extLst>
              <a:ext uri="{FF2B5EF4-FFF2-40B4-BE49-F238E27FC236}">
                <a16:creationId xmlns:a16="http://schemas.microsoft.com/office/drawing/2014/main" id="{549862F7-E668-78F8-8665-2291CCA64764}"/>
              </a:ext>
            </a:extLst>
          </p:cNvPr>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Tree>
    <p:extLst>
      <p:ext uri="{BB962C8B-B14F-4D97-AF65-F5344CB8AC3E}">
        <p14:creationId xmlns:p14="http://schemas.microsoft.com/office/powerpoint/2010/main" val="1410898014"/>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147830067"/>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extLst>
      <p:ext uri="{BB962C8B-B14F-4D97-AF65-F5344CB8AC3E}">
        <p14:creationId xmlns:p14="http://schemas.microsoft.com/office/powerpoint/2010/main" val="2681880868"/>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 Id="rId9" Type="http://schemas.openxmlformats.org/officeDocument/2006/relationships/slideLayout" Target="../slideLayouts/slideLayout29.xml"/><Relationship Id="rId10" Type="http://schemas.openxmlformats.org/officeDocument/2006/relationships/slideLayout" Target="../slideLayouts/slideLayout30.xml"/><Relationship Id="rId1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5" Type="http://schemas.openxmlformats.org/officeDocument/2006/relationships/slideLayout" Target="../slideLayouts/slideLayout46.xml"/><Relationship Id="rId6" Type="http://schemas.openxmlformats.org/officeDocument/2006/relationships/slideLayout" Target="../slideLayouts/slideLayout47.xml"/><Relationship Id="rId7" Type="http://schemas.openxmlformats.org/officeDocument/2006/relationships/slideLayout" Target="../slideLayouts/slideLayout48.xml"/><Relationship Id="rId8" Type="http://schemas.openxmlformats.org/officeDocument/2006/relationships/slideLayout" Target="../slideLayouts/slideLayout49.xml"/><Relationship Id="rId9" Type="http://schemas.openxmlformats.org/officeDocument/2006/relationships/slideLayout" Target="../slideLayouts/slideLayout50.xml"/><Relationship Id="rId10" Type="http://schemas.openxmlformats.org/officeDocument/2006/relationships/slideLayout" Target="../slideLayouts/slideLayout51.xml"/><Relationship Id="rId11" Type="http://schemas.openxmlformats.org/officeDocument/2006/relationships/slideLayout" Target="../slideLayouts/slideLayout52.xml"/><Relationship Id="rId1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slideLayout" Target="../slideLayouts/slideLayout54.xml"/><Relationship Id="rId3" Type="http://schemas.openxmlformats.org/officeDocument/2006/relationships/slideLayout" Target="../slideLayouts/slideLayout55.xml"/><Relationship Id="rId4" Type="http://schemas.openxmlformats.org/officeDocument/2006/relationships/slideLayout" Target="../slideLayouts/slideLayout56.xml"/><Relationship Id="rId5" Type="http://schemas.openxmlformats.org/officeDocument/2006/relationships/slideLayout" Target="../slideLayouts/slideLayout57.xml"/><Relationship Id="rId6" Type="http://schemas.openxmlformats.org/officeDocument/2006/relationships/slideLayout" Target="../slideLayouts/slideLayout58.xml"/><Relationship Id="rId7" Type="http://schemas.openxmlformats.org/officeDocument/2006/relationships/slideLayout" Target="../slideLayouts/slideLayout59.xml"/><Relationship Id="rId8" Type="http://schemas.openxmlformats.org/officeDocument/2006/relationships/slideLayout" Target="../slideLayouts/slideLayout60.xml"/><Relationship Id="rId9" Type="http://schemas.openxmlformats.org/officeDocument/2006/relationships/slideLayout" Target="../slideLayouts/slideLayout61.xml"/><Relationship Id="rId10" Type="http://schemas.openxmlformats.org/officeDocument/2006/relationships/slideLayout" Target="../slideLayouts/slideLayout62.xml"/><Relationship Id="rId11" Type="http://schemas.openxmlformats.org/officeDocument/2006/relationships/slideLayout" Target="../slideLayouts/slideLayout63.xml"/><Relationship Id="rId1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slideLayout" Target="../slideLayouts/slideLayout65.xml"/><Relationship Id="rId3" Type="http://schemas.openxmlformats.org/officeDocument/2006/relationships/slideLayout" Target="../slideLayouts/slideLayout66.xml"/><Relationship Id="rId4" Type="http://schemas.openxmlformats.org/officeDocument/2006/relationships/slideLayout" Target="../slideLayouts/slideLayout67.xml"/><Relationship Id="rId5" Type="http://schemas.openxmlformats.org/officeDocument/2006/relationships/slideLayout" Target="../slideLayouts/slideLayout68.xml"/><Relationship Id="rId6" Type="http://schemas.openxmlformats.org/officeDocument/2006/relationships/slideLayout" Target="../slideLayouts/slideLayout69.xml"/><Relationship Id="rId7" Type="http://schemas.openxmlformats.org/officeDocument/2006/relationships/slideLayout" Target="../slideLayouts/slideLayout70.xml"/><Relationship Id="rId8" Type="http://schemas.openxmlformats.org/officeDocument/2006/relationships/slideLayout" Target="../slideLayouts/slideLayout71.xml"/><Relationship Id="rId9" Type="http://schemas.openxmlformats.org/officeDocument/2006/relationships/slideLayout" Target="../slideLayouts/slideLayout72.xml"/><Relationship Id="rId10" Type="http://schemas.openxmlformats.org/officeDocument/2006/relationships/slideLayout" Target="../slideLayouts/slideLayout73.xml"/><Relationship Id="rId11" Type="http://schemas.openxmlformats.org/officeDocument/2006/relationships/slideLayout" Target="../slideLayouts/slideLayout74.xml"/><Relationship Id="rId12"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slideLayout" Target="../slideLayouts/slideLayout76.xml"/><Relationship Id="rId3" Type="http://schemas.openxmlformats.org/officeDocument/2006/relationships/slideLayout" Target="../slideLayouts/slideLayout77.xml"/><Relationship Id="rId4" Type="http://schemas.openxmlformats.org/officeDocument/2006/relationships/slideLayout" Target="../slideLayouts/slideLayout78.xml"/><Relationship Id="rId5" Type="http://schemas.openxmlformats.org/officeDocument/2006/relationships/slideLayout" Target="../slideLayouts/slideLayout79.xml"/><Relationship Id="rId6" Type="http://schemas.openxmlformats.org/officeDocument/2006/relationships/slideLayout" Target="../slideLayouts/slideLayout80.xml"/><Relationship Id="rId7" Type="http://schemas.openxmlformats.org/officeDocument/2006/relationships/slideLayout" Target="../slideLayouts/slideLayout81.xml"/><Relationship Id="rId8" Type="http://schemas.openxmlformats.org/officeDocument/2006/relationships/slideLayout" Target="../slideLayouts/slideLayout82.xml"/><Relationship Id="rId9" Type="http://schemas.openxmlformats.org/officeDocument/2006/relationships/slideLayout" Target="../slideLayouts/slideLayout83.xml"/><Relationship Id="rId10" Type="http://schemas.openxmlformats.org/officeDocument/2006/relationships/slideLayout" Target="../slideLayouts/slideLayout84.xml"/><Relationship Id="rId1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slideLayout" Target="../slideLayouts/slideLayout86.xml"/><Relationship Id="rId3" Type="http://schemas.openxmlformats.org/officeDocument/2006/relationships/slideLayout" Target="../slideLayouts/slideLayout87.xml"/><Relationship Id="rId4" Type="http://schemas.openxmlformats.org/officeDocument/2006/relationships/slideLayout" Target="../slideLayouts/slideLayout88.xml"/><Relationship Id="rId5" Type="http://schemas.openxmlformats.org/officeDocument/2006/relationships/slideLayout" Target="../slideLayouts/slideLayout89.xml"/><Relationship Id="rId6" Type="http://schemas.openxmlformats.org/officeDocument/2006/relationships/slideLayout" Target="../slideLayouts/slideLayout90.xml"/><Relationship Id="rId7" Type="http://schemas.openxmlformats.org/officeDocument/2006/relationships/slideLayout" Target="../slideLayouts/slideLayout91.xml"/><Relationship Id="rId8" Type="http://schemas.openxmlformats.org/officeDocument/2006/relationships/slideLayout" Target="../slideLayouts/slideLayout92.xml"/><Relationship Id="rId9" Type="http://schemas.openxmlformats.org/officeDocument/2006/relationships/slideLayout" Target="../slideLayouts/slideLayout93.xml"/><Relationship Id="rId10" Type="http://schemas.openxmlformats.org/officeDocument/2006/relationships/slideLayout" Target="../slideLayouts/slideLayout94.xml"/><Relationship Id="rId1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slideLayout" Target="../slideLayouts/slideLayout96.xml"/><Relationship Id="rId3" Type="http://schemas.openxmlformats.org/officeDocument/2006/relationships/slideLayout" Target="../slideLayouts/slideLayout97.xml"/><Relationship Id="rId4" Type="http://schemas.openxmlformats.org/officeDocument/2006/relationships/slideLayout" Target="../slideLayouts/slideLayout98.xml"/><Relationship Id="rId5" Type="http://schemas.openxmlformats.org/officeDocument/2006/relationships/slideLayout" Target="../slideLayouts/slideLayout99.xml"/><Relationship Id="rId6" Type="http://schemas.openxmlformats.org/officeDocument/2006/relationships/slideLayout" Target="../slideLayouts/slideLayout100.xml"/><Relationship Id="rId7" Type="http://schemas.openxmlformats.org/officeDocument/2006/relationships/slideLayout" Target="../slideLayouts/slideLayout101.xml"/><Relationship Id="rId8" Type="http://schemas.openxmlformats.org/officeDocument/2006/relationships/slideLayout" Target="../slideLayouts/slideLayout102.xml"/><Relationship Id="rId9" Type="http://schemas.openxmlformats.org/officeDocument/2006/relationships/slideLayout" Target="../slideLayouts/slideLayout103.xml"/><Relationship Id="rId10" Type="http://schemas.openxmlformats.org/officeDocument/2006/relationships/slideLayout" Target="../slideLayouts/slideLayout104.xml"/><Relationship Id="rId11" Type="http://schemas.openxmlformats.org/officeDocument/2006/relationships/slideLayout" Target="../slideLayouts/slideLayout105.xml"/><Relationship Id="rId12"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slideLayout" Target="../slideLayouts/slideLayout107.xml"/><Relationship Id="rId3" Type="http://schemas.openxmlformats.org/officeDocument/2006/relationships/slideLayout" Target="../slideLayouts/slideLayout108.xml"/><Relationship Id="rId4" Type="http://schemas.openxmlformats.org/officeDocument/2006/relationships/slideLayout" Target="../slideLayouts/slideLayout109.xml"/><Relationship Id="rId5" Type="http://schemas.openxmlformats.org/officeDocument/2006/relationships/slideLayout" Target="../slideLayouts/slideLayout110.xml"/><Relationship Id="rId6" Type="http://schemas.openxmlformats.org/officeDocument/2006/relationships/slideLayout" Target="../slideLayouts/slideLayout111.xml"/><Relationship Id="rId7" Type="http://schemas.openxmlformats.org/officeDocument/2006/relationships/slideLayout" Target="../slideLayouts/slideLayout112.xml"/><Relationship Id="rId8" Type="http://schemas.openxmlformats.org/officeDocument/2006/relationships/slideLayout" Target="../slideLayouts/slideLayout113.xml"/><Relationship Id="rId9" Type="http://schemas.openxmlformats.org/officeDocument/2006/relationships/slideLayout" Target="../slideLayouts/slideLayout114.xml"/><Relationship Id="rId10" Type="http://schemas.openxmlformats.org/officeDocument/2006/relationships/slideLayout" Target="../slideLayouts/slideLayout115.xml"/><Relationship Id="rId11" Type="http://schemas.openxmlformats.org/officeDocument/2006/relationships/slideLayout" Target="../slideLayouts/slideLayout116.xml"/><Relationship Id="rId12"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17.xml"/><Relationship Id="rId2" Type="http://schemas.openxmlformats.org/officeDocument/2006/relationships/slideLayout" Target="../slideLayouts/slideLayout118.xml"/><Relationship Id="rId3" Type="http://schemas.openxmlformats.org/officeDocument/2006/relationships/slideLayout" Target="../slideLayouts/slideLayout119.xml"/><Relationship Id="rId4" Type="http://schemas.openxmlformats.org/officeDocument/2006/relationships/slideLayout" Target="../slideLayouts/slideLayout120.xml"/><Relationship Id="rId5" Type="http://schemas.openxmlformats.org/officeDocument/2006/relationships/slideLayout" Target="../slideLayouts/slideLayout121.xml"/><Relationship Id="rId6" Type="http://schemas.openxmlformats.org/officeDocument/2006/relationships/slideLayout" Target="../slideLayouts/slideLayout122.xml"/><Relationship Id="rId7" Type="http://schemas.openxmlformats.org/officeDocument/2006/relationships/slideLayout" Target="../slideLayouts/slideLayout123.xml"/><Relationship Id="rId8" Type="http://schemas.openxmlformats.org/officeDocument/2006/relationships/slideLayout" Target="../slideLayouts/slideLayout124.xml"/><Relationship Id="rId9" Type="http://schemas.openxmlformats.org/officeDocument/2006/relationships/slideLayout" Target="../slideLayouts/slideLayout125.xml"/><Relationship Id="rId10" Type="http://schemas.openxmlformats.org/officeDocument/2006/relationships/slideLayout" Target="../slideLayouts/slideLayout126.xml"/><Relationship Id="rId11" Type="http://schemas.openxmlformats.org/officeDocument/2006/relationships/slideLayout" Target="../slideLayouts/slideLayout127.xml"/><Relationship Id="rId12"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slideLayout" Target="../slideLayouts/slideLayout129.xml"/><Relationship Id="rId3" Type="http://schemas.openxmlformats.org/officeDocument/2006/relationships/slideLayout" Target="../slideLayouts/slideLayout130.xml"/><Relationship Id="rId4" Type="http://schemas.openxmlformats.org/officeDocument/2006/relationships/slideLayout" Target="../slideLayouts/slideLayout131.xml"/><Relationship Id="rId5" Type="http://schemas.openxmlformats.org/officeDocument/2006/relationships/slideLayout" Target="../slideLayouts/slideLayout132.xml"/><Relationship Id="rId6" Type="http://schemas.openxmlformats.org/officeDocument/2006/relationships/slideLayout" Target="../slideLayouts/slideLayout133.xml"/><Relationship Id="rId7" Type="http://schemas.openxmlformats.org/officeDocument/2006/relationships/slideLayout" Target="../slideLayouts/slideLayout134.xml"/><Relationship Id="rId8" Type="http://schemas.openxmlformats.org/officeDocument/2006/relationships/slideLayout" Target="../slideLayouts/slideLayout135.xml"/><Relationship Id="rId9" Type="http://schemas.openxmlformats.org/officeDocument/2006/relationships/slideLayout" Target="../slideLayouts/slideLayout136.xml"/><Relationship Id="rId10" Type="http://schemas.openxmlformats.org/officeDocument/2006/relationships/slideLayout" Target="../slideLayouts/slideLayout137.xml"/><Relationship Id="rId11"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138.xml"/><Relationship Id="rId2" Type="http://schemas.openxmlformats.org/officeDocument/2006/relationships/slideLayout" Target="../slideLayouts/slideLayout139.xml"/><Relationship Id="rId3" Type="http://schemas.openxmlformats.org/officeDocument/2006/relationships/slideLayout" Target="../slideLayouts/slideLayout140.xml"/><Relationship Id="rId4" Type="http://schemas.openxmlformats.org/officeDocument/2006/relationships/slideLayout" Target="../slideLayouts/slideLayout141.xml"/><Relationship Id="rId5" Type="http://schemas.openxmlformats.org/officeDocument/2006/relationships/slideLayout" Target="../slideLayouts/slideLayout142.xml"/><Relationship Id="rId6" Type="http://schemas.openxmlformats.org/officeDocument/2006/relationships/slideLayout" Target="../slideLayouts/slideLayout143.xml"/><Relationship Id="rId7" Type="http://schemas.openxmlformats.org/officeDocument/2006/relationships/slideLayout" Target="../slideLayouts/slideLayout144.xml"/><Relationship Id="rId8" Type="http://schemas.openxmlformats.org/officeDocument/2006/relationships/slideLayout" Target="../slideLayouts/slideLayout145.xml"/><Relationship Id="rId9" Type="http://schemas.openxmlformats.org/officeDocument/2006/relationships/slideLayout" Target="../slideLayouts/slideLayout146.xml"/><Relationship Id="rId10" Type="http://schemas.openxmlformats.org/officeDocument/2006/relationships/slideLayout" Target="../slideLayouts/slideLayout147.xml"/><Relationship Id="rId11" Type="http://schemas.openxmlformats.org/officeDocument/2006/relationships/slideLayout" Target="../slideLayouts/slideLayout148.xml"/><Relationship Id="rId12" Type="http://schemas.openxmlformats.org/officeDocument/2006/relationships/theme" Target="../theme/theme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endParaRPr>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endParaRPr>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a:p>
        </p:txBody>
      </p:sp>
      <p:sp>
        <p:nvSpPr>
          <p:cNvPr id="7" name="KSO_TEMPLATE" hidden="1"/>
          <p:cNvSpPr/>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a:sym typeface="+mn-ea"/>
              </a:rPr>
              <a:t>单击此处编辑标题</a:t>
            </a: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163364953"/>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31"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6.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8.xml"/><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148.xml"/><Relationship Id="rId3" Type="http://schemas.openxmlformats.org/officeDocument/2006/relationships/oleObject" Target="../embeddings/oleObject1.bin"/><Relationship Id="rId4" Type="http://schemas.openxmlformats.org/officeDocument/2006/relationships/image" Target="../media/image8.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8.xml"/><Relationship Id="rId2" Type="http://schemas.openxmlformats.org/officeDocument/2006/relationships/image" Target="../media/image9.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r>
              <a:rPr lang="en-US" altLang="zh-CN" smtClean="0"/>
              <a:t>-</a:t>
            </a:r>
            <a:fld id="{FAEDECE0-B3E3-4E93-9B91-9F10B30F5B07}" type="slidenum">
              <a:rPr lang="en-US" altLang="zh-CN" smtClean="0"/>
              <a:t>1</a:t>
            </a:fld>
            <a:r>
              <a:rPr lang="en-US" altLang="zh-CN" smtClean="0"/>
              <a:t>-</a:t>
            </a:r>
            <a:endParaRPr lang="zh-CN" altLang="en-US"/>
          </a:p>
        </p:txBody>
      </p:sp>
      <p:sp>
        <p:nvSpPr>
          <p:cNvPr id="3" name="文本框 2"/>
          <p:cNvSpPr txBox="1"/>
          <p:nvPr/>
        </p:nvSpPr>
        <p:spPr>
          <a:xfrm>
            <a:off x="2724150" y="2667000"/>
            <a:ext cx="14247811" cy="6001643"/>
          </a:xfrm>
          <a:prstGeom prst="rect">
            <a:avLst/>
          </a:prstGeom>
          <a:noFill/>
        </p:spPr>
        <p:txBody>
          <a:bodyPr wrap="square" rtlCol="0">
            <a:spAutoFit/>
          </a:bodyPr>
          <a:lstStyle/>
          <a:p>
            <a:pPr>
              <a:lnSpc>
                <a:spcPct val="150000"/>
              </a:lnSpc>
            </a:pPr>
            <a:r>
              <a:rPr lang="zh-CN" altLang="en-US" sz="2800" b="1" dirty="0" smtClean="0">
                <a:solidFill>
                  <a:srgbClr val="1C2833"/>
                </a:solidFill>
                <a:latin typeface="微软雅黑"/>
                <a:ea typeface="微软雅黑"/>
              </a:rPr>
              <a:t>The following work was completed to strengthen process control:</a:t>
            </a:r>
            <a:endParaRPr lang="en-US" altLang="zh-CN" sz="3200" b="1" dirty="0" smtClean="0"/>
          </a:p>
          <a:p>
            <a:pPr marL="514350" indent="-514350">
              <a:lnSpc>
                <a:spcPct val="150000"/>
              </a:lnSpc>
              <a:buFont typeface="+mj-lt"/>
              <a:buAutoNum type="arabicPeriod"/>
            </a:pPr>
            <a:r>
              <a:rPr lang="zh-CN" altLang="en-US" sz="2800" dirty="0" b="0">
                <a:solidFill>
                  <a:srgbClr val="1C2833"/>
                </a:solidFill>
                <a:latin typeface="微软雅黑"/>
                <a:ea typeface="微软雅黑"/>
              </a:rPr>
              <a:t>A mass flow meter and a sight glass were added on the iodine-solution transfer line.</a:t>
            </a:r>
            <a:r>
              <a:rPr lang="zh-CN" altLang="en-US" sz="3200" dirty="0" smtClean="0"/>
              <a:t/>
            </a:r>
            <a:endParaRPr lang="en-US" altLang="zh-CN" sz="3200" dirty="0" smtClean="0"/>
          </a:p>
          <a:p>
            <a:pPr marL="514350" indent="-514350">
              <a:lnSpc>
                <a:spcPct val="150000"/>
              </a:lnSpc>
              <a:buFont typeface="+mj-lt"/>
              <a:buAutoNum type="arabicPeriod"/>
            </a:pPr>
            <a:r>
              <a:rPr lang="zh-CN" altLang="en-US" sz="2800" dirty="0" b="0">
                <a:solidFill>
                  <a:srgbClr val="1C2833"/>
                </a:solidFill>
                <a:latin typeface="微软雅黑"/>
                <a:ea typeface="微软雅黑"/>
              </a:rPr>
              <a:t>Supplemental verification of the synthesizer system low-temperature limit was completed.</a:t>
            </a:r>
            <a:r>
              <a:rPr lang="zh-CN" altLang="en-US" sz="3200" dirty="0" smtClean="0"/>
              <a:t/>
            </a:r>
            <a:endParaRPr lang="en-US" altLang="zh-CN" sz="3200" dirty="0" smtClean="0"/>
          </a:p>
          <a:p>
            <a:pPr marL="514350" indent="-514350">
              <a:lnSpc>
                <a:spcPct val="150000"/>
              </a:lnSpc>
              <a:buFont typeface="+mj-lt"/>
              <a:buAutoNum type="arabicPeriod"/>
            </a:pPr>
            <a:r>
              <a:rPr lang="zh-CN" altLang="en-US" sz="2800" dirty="0" b="0">
                <a:solidFill>
                  <a:srgbClr val="1C2833"/>
                </a:solidFill>
                <a:latin typeface="微软雅黑"/>
                <a:ea typeface="微软雅黑"/>
              </a:rPr>
              <a:t>Synthesizer software was improved, including the reports and the displays.</a:t>
            </a:r>
            <a:r>
              <a:rPr lang="zh-CN" altLang="en-US" sz="3200" dirty="0" smtClean="0"/>
              <a:t/>
            </a:r>
            <a:endParaRPr lang="zh-CN" altLang="en-US" sz="3200" dirty="0"/>
          </a:p>
          <a:p>
            <a:pPr>
              <a:lnSpc>
                <a:spcPct val="150000"/>
              </a:lnSpc>
            </a:pPr>
            <a:r>
              <a:rPr lang="zh-CN" altLang="en-US" sz="2800" b="1" dirty="0" smtClean="0">
                <a:solidFill>
                  <a:srgbClr val="1C2833"/>
                </a:solidFill>
                <a:latin typeface="微软雅黑"/>
                <a:ea typeface="微软雅黑"/>
              </a:rPr>
              <a:t>Principal improvements made at the client’s request:</a:t>
            </a:r>
            <a:r>
              <a:rPr lang="zh-CN" altLang="en-US" sz="3200" b="1" dirty="0" smtClean="0"/>
              <a:t/>
            </a:r>
            <a:endParaRPr lang="en-US" altLang="zh-CN" sz="3200" b="1" dirty="0" smtClean="0"/>
          </a:p>
          <a:p>
            <a:pPr marL="514350" indent="-514350">
              <a:lnSpc>
                <a:spcPct val="150000"/>
              </a:lnSpc>
              <a:buFont typeface="+mj-lt"/>
              <a:buAutoNum type="arabicPeriod"/>
            </a:pPr>
            <a:r>
              <a:rPr lang="zh-CN" altLang="en-US" sz="2800" dirty="0" smtClean="0" b="0">
                <a:solidFill>
                  <a:srgbClr val="1C2833"/>
                </a:solidFill>
                <a:latin typeface="微软雅黑"/>
                <a:ea typeface="微软雅黑"/>
              </a:rPr>
              <a:t>Operator confirmation was added for waste discharge and system transfer. The tuning-fork level switch and the PLC software were modified and verified.</a:t>
            </a:r>
            <a:r>
              <a:rPr lang="en-US" altLang="zh-CN" sz="3200" dirty="0" smtClean="0"/>
              <a:t/>
            </a:r>
            <a:r>
              <a:rPr lang="zh-CN" altLang="en-US" sz="3200" dirty="0" smtClean="0"/>
              <a:t/>
            </a:r>
            <a:endParaRPr lang="en-US" altLang="zh-CN" sz="3200" dirty="0" smtClean="0"/>
          </a:p>
          <a:p>
            <a:pPr marL="514350" indent="-514350">
              <a:lnSpc>
                <a:spcPct val="150000"/>
              </a:lnSpc>
              <a:buFont typeface="+mj-lt"/>
              <a:buAutoNum type="arabicPeriod"/>
            </a:pPr>
            <a:r>
              <a:rPr lang="zh-CN" altLang="en-US" sz="2800" dirty="0" smtClean="0" b="0">
                <a:solidFill>
                  <a:srgbClr val="1C2833"/>
                </a:solidFill>
                <a:latin typeface="微软雅黑"/>
                <a:ea typeface="微软雅黑"/>
              </a:rPr>
              <a:t>Peristaltic-pump tubing is not compatible with prolonged DIC/DIPEA contact, so transfer was changed to a metering pump.</a:t>
            </a:r>
            <a:r>
              <a:rPr lang="en-US" altLang="zh-CN" sz="3200" dirty="0" smtClean="0"/>
              <a:t/>
            </a:r>
            <a:r>
              <a:rPr lang="zh-CN" altLang="en-US" sz="3200" dirty="0"/>
              <a:t/>
            </a:r>
            <a:r>
              <a:rPr lang="zh-CN" altLang="en-US" sz="3200" dirty="0" smtClean="0"/>
              <a:t/>
            </a:r>
            <a:endParaRPr lang="en-US" altLang="zh-CN" sz="3200" dirty="0" smtClean="0"/>
          </a:p>
          <a:p>
            <a:pPr marL="514350" indent="-514350">
              <a:lnSpc>
                <a:spcPct val="150000"/>
              </a:lnSpc>
              <a:buFont typeface="+mj-lt"/>
              <a:buAutoNum type="arabicPeriod"/>
            </a:pPr>
            <a:r>
              <a:rPr lang="zh-CN" altLang="en-US" sz="2800" dirty="0" smtClean="0" b="0">
                <a:solidFill>
                  <a:srgbClr val="1C2833"/>
                </a:solidFill>
                <a:latin typeface="微软雅黑"/>
                <a:ea typeface="微软雅黑"/>
              </a:rPr>
              <a:t>Process piping, the deprotection preparation vessel, and ancillary stainless-steel equipment were passivated and inspected, then cleaned and tested.</a:t>
            </a:r>
            <a:r>
              <a:rPr lang="zh-CN" altLang="en-US" sz="3200" dirty="0" smtClean="0"/>
              <a:t/>
            </a:r>
            <a:r>
              <a:rPr lang="zh-CN" altLang="en-US" sz="3200" dirty="0" smtClean="0"/>
              <a:t/>
            </a:r>
            <a:endParaRPr lang="en-US" altLang="zh-CN" sz="3200" dirty="0" smtClean="0"/>
          </a:p>
        </p:txBody>
      </p:sp>
    </p:spTree>
    <p:extLst>
      <p:ext uri="{BB962C8B-B14F-4D97-AF65-F5344CB8AC3E}">
        <p14:creationId xmlns:p14="http://schemas.microsoft.com/office/powerpoint/2010/main" val="2723079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0"/>
          </p:nvPr>
        </p:nvSpPr>
        <p:spPr/>
        <p:txBody>
          <a:bodyPr>
            <a:normAutofit fontScale="75000" lnSpcReduction="20000"/>
          </a:bodyPr>
          <a:lstStyle/>
          <a:p>
            <a:pPr>
              <a:defRPr/>
            </a:pPr>
            <a:r>
              <a:rPr lang="en-US" altLang="zh-CN" dirty="0"/>
              <a:t>-</a:t>
            </a:r>
            <a:fld id="{FAEDECE0-B3E3-4E93-9B91-9F10B30F5B07}" type="slidenum">
              <a:rPr lang="en-US" altLang="zh-CN" smtClean="0"/>
              <a:t>2</a:t>
            </a:fld>
            <a:r>
              <a:rPr lang="en-US" altLang="zh-CN" dirty="0"/>
              <a:t>-</a:t>
            </a:r>
            <a:endParaRPr lang="zh-CN" altLang="en-US" dirty="0"/>
          </a:p>
        </p:txBody>
      </p:sp>
      <p:sp>
        <p:nvSpPr>
          <p:cNvPr id="2" name="文本框 1"/>
          <p:cNvSpPr txBox="1"/>
          <p:nvPr/>
        </p:nvSpPr>
        <p:spPr>
          <a:xfrm>
            <a:off x="17365296" y="329923"/>
            <a:ext cx="5652509" cy="769441"/>
          </a:xfrm>
          <a:prstGeom prst="rect">
            <a:avLst/>
          </a:prstGeom>
          <a:noFill/>
        </p:spPr>
        <p:txBody>
          <a:bodyPr wrap="square" rtlCol="0">
            <a:noAutofit/>
          </a:bodyPr>
          <a:lstStyle/>
          <a:p>
            <a:r>
              <a:rPr lang="en-US" altLang="zh-CN" sz="4400" b="1" dirty="0" smtClean="0">
                <a:solidFill>
                  <a:srgbClr val="3C6CB3"/>
                </a:solidFill>
                <a:latin typeface="+mj-ea"/>
                <a:ea typeface="+mj-ea"/>
              </a:rPr>
              <a:t>SPPS option review</a:t>
            </a:r>
            <a:endParaRPr lang="zh-CN" altLang="en-US" sz="4400" b="1" dirty="0">
              <a:solidFill>
                <a:srgbClr val="3C6CB3"/>
              </a:solidFill>
              <a:latin typeface="+mj-ea"/>
              <a:ea typeface="+mj-ea"/>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199" y="3158718"/>
            <a:ext cx="12472667" cy="6028530"/>
          </a:xfrm>
          <a:prstGeom prst="rect">
            <a:avLst/>
          </a:prstGeom>
        </p:spPr>
      </p:pic>
      <p:sp>
        <p:nvSpPr>
          <p:cNvPr id="3" name="文本框 2"/>
          <p:cNvSpPr txBox="1"/>
          <p:nvPr/>
        </p:nvSpPr>
        <p:spPr>
          <a:xfrm>
            <a:off x="2777706" y="5242341"/>
            <a:ext cx="6745856" cy="1017917"/>
          </a:xfrm>
          <a:prstGeom prst="rect">
            <a:avLst/>
          </a:prstGeom>
          <a:noFill/>
          <a:ln>
            <a:solidFill>
              <a:srgbClr val="FF0000"/>
            </a:solidFill>
          </a:ln>
        </p:spPr>
        <p:txBody>
          <a:bodyPr wrap="square" rtlCol="0">
            <a:spAutoFit/>
          </a:bodyPr>
          <a:lstStyle/>
          <a:p>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4107327540"/>
              </p:ext>
            </p:extLst>
          </p:nvPr>
        </p:nvGraphicFramePr>
        <p:xfrm>
          <a:off x="776201" y="9097368"/>
          <a:ext cx="12472665" cy="2744718"/>
        </p:xfrm>
        <a:graphic>
          <a:graphicData uri="http://schemas.openxmlformats.org/drawingml/2006/table">
            <a:tbl>
              <a:tblPr/>
              <a:tblGrid>
                <a:gridCol w="1316377">
                  <a:extLst>
                    <a:ext uri="{9D8B030D-6E8A-4147-A177-3AD203B41FA5}">
                      <a16:colId xmlns:a16="http://schemas.microsoft.com/office/drawing/2014/main" val="4231785485"/>
                    </a:ext>
                  </a:extLst>
                </a:gridCol>
                <a:gridCol w="2316598">
                  <a:extLst>
                    <a:ext uri="{9D8B030D-6E8A-4147-A177-3AD203B41FA5}">
                      <a16:colId xmlns:a16="http://schemas.microsoft.com/office/drawing/2014/main" val="1118872730"/>
                    </a:ext>
                  </a:extLst>
                </a:gridCol>
                <a:gridCol w="908522">
                  <a:extLst>
                    <a:ext uri="{9D8B030D-6E8A-4147-A177-3AD203B41FA5}">
                      <a16:colId xmlns:a16="http://schemas.microsoft.com/office/drawing/2014/main" val="4186127771"/>
                    </a:ext>
                  </a:extLst>
                </a:gridCol>
                <a:gridCol w="1316377">
                  <a:extLst>
                    <a:ext uri="{9D8B030D-6E8A-4147-A177-3AD203B41FA5}">
                      <a16:colId xmlns:a16="http://schemas.microsoft.com/office/drawing/2014/main" val="1760775270"/>
                    </a:ext>
                  </a:extLst>
                </a:gridCol>
                <a:gridCol w="1316377">
                  <a:extLst>
                    <a:ext uri="{9D8B030D-6E8A-4147-A177-3AD203B41FA5}">
                      <a16:colId xmlns:a16="http://schemas.microsoft.com/office/drawing/2014/main" val="3188875527"/>
                    </a:ext>
                  </a:extLst>
                </a:gridCol>
                <a:gridCol w="2272928">
                  <a:extLst>
                    <a:ext uri="{9D8B030D-6E8A-4147-A177-3AD203B41FA5}">
                      <a16:colId xmlns:a16="http://schemas.microsoft.com/office/drawing/2014/main" val="4178731468"/>
                    </a:ext>
                  </a:extLst>
                </a:gridCol>
                <a:gridCol w="1709109">
                  <a:extLst>
                    <a:ext uri="{9D8B030D-6E8A-4147-A177-3AD203B41FA5}">
                      <a16:colId xmlns:a16="http://schemas.microsoft.com/office/drawing/2014/main" val="4290337702"/>
                    </a:ext>
                  </a:extLst>
                </a:gridCol>
                <a:gridCol w="1316377">
                  <a:extLst>
                    <a:ext uri="{9D8B030D-6E8A-4147-A177-3AD203B41FA5}">
                      <a16:colId xmlns:a16="http://schemas.microsoft.com/office/drawing/2014/main" val="3178622526"/>
                    </a:ext>
                  </a:extLst>
                </a:gridCol>
              </a:tblGrid>
              <a:tr h="914906">
                <a:tc gridSpan="8">
                  <a:txBody>
                    <a:bodyPr/>
                    <a:lstStyle/>
                    <a:p>
                      <a:pPr algn="ctr" fontAlgn="ctr"/>
                      <a:r>
                        <a:rPr lang="zh-CN" altLang="en-US" sz="2400" b="1" i="0" u="none" strike="noStrike" dirty="0">
                          <a:solidFill>
                            <a:srgbClr val="FFFFFF"/>
                          </a:solidFill>
                          <a:effectLst/>
                          <a:latin typeface="微软雅黑" panose="020B0503020204020204" pitchFamily="34" charset="-122"/>
                          <a:ea typeface="微软雅黑" panose="020B0503020204020204" pitchFamily="34" charset="-122"/>
                        </a:rPr>
                        <a:t>Qualification options and charging schedule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45286841"/>
                  </a:ext>
                </a:extLst>
              </a:tr>
              <a:tr h="914906">
                <a:tc>
                  <a:txBody>
                    <a:bodyPr/>
                    <a:lstStyle/>
                    <a:p>
                      <a:pPr algn="ctr" fontAlgn="ctr"/>
                      <a:r>
                        <a:rPr lang="zh-CN" altLang="en-US" sz="2400" b="1" i="0" u="none" strike="noStrike">
                          <a:solidFill>
                            <a:srgbClr val="FFFFFF"/>
                          </a:solidFill>
                          <a:effectLst/>
                          <a:latin typeface="微软雅黑" panose="020B0503020204020204" pitchFamily="34" charset="-122"/>
                          <a:ea typeface="微软雅黑" panose="020B0503020204020204" pitchFamily="34" charset="-122"/>
                        </a:rPr>
                        <a:t>Option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dirty="0">
                          <a:solidFill>
                            <a:srgbClr val="FFFFFF"/>
                          </a:solidFill>
                          <a:effectLst/>
                          <a:latin typeface="微软雅黑" panose="020B0503020204020204" pitchFamily="34" charset="-122"/>
                          <a:ea typeface="微软雅黑" panose="020B0503020204020204" pitchFamily="34" charset="-122"/>
                        </a:rPr>
                        <a:t>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736269041"/>
                  </a:ext>
                </a:extLst>
              </a:tr>
              <a:tr h="914906">
                <a:tc>
                  <a:txBody>
                    <a:bodyPr/>
                    <a:lstStyle/>
                    <a:p>
                      <a:pPr algn="ctr" fontAlgn="ctr"/>
                      <a:r>
                        <a:rPr lang="zh-CN" altLang="en-US" sz="2400" b="0" i="0" u="none" strike="noStrike" dirty="0" smtClean="0">
                          <a:solidFill>
                            <a:srgbClr val="000000"/>
                          </a:solidFill>
                          <a:effectLst/>
                          <a:latin typeface="微软雅黑" panose="020B0503020204020204" pitchFamily="34" charset="-122"/>
                          <a:ea typeface="微软雅黑" panose="020B0503020204020204" pitchFamily="34" charset="-122"/>
                        </a:rPr>
                        <a:t>Option 1</a:t>
                      </a:r>
                      <a:endParaRPr lang="en-US" altLang="zh-CN"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Software upgrade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Verification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Iodine trial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sz="2400" b="0" i="0" u="none" strike="noStrike">
                          <a:solidFill>
                            <a:srgbClr val="000000"/>
                          </a:solidFill>
                          <a:effectLst/>
                          <a:latin typeface="微软雅黑" panose="020B0503020204020204" pitchFamily="34" charset="-122"/>
                          <a:ea typeface="微软雅黑" panose="020B0503020204020204" pitchFamily="34" charset="-122"/>
                        </a:rPr>
                        <a:t>CMa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dirty="0">
                          <a:solidFill>
                            <a:srgbClr val="0070C0"/>
                          </a:solidFill>
                          <a:effectLst/>
                          <a:latin typeface="微软雅黑" panose="020B0503020204020204" pitchFamily="34" charset="-122"/>
                          <a:ea typeface="微软雅黑" panose="020B0503020204020204" pitchFamily="34" charset="-122"/>
                        </a:rPr>
                        <a:t>Charge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5013910"/>
                  </a:ext>
                </a:extLst>
              </a:tr>
            </a:tbl>
          </a:graphicData>
        </a:graphic>
      </p:graphicFrame>
      <p:sp>
        <p:nvSpPr>
          <p:cNvPr id="7" name="文本框 6"/>
          <p:cNvSpPr txBox="1"/>
          <p:nvPr/>
        </p:nvSpPr>
        <p:spPr>
          <a:xfrm>
            <a:off x="13646989" y="2589838"/>
            <a:ext cx="4744528" cy="461665"/>
          </a:xfrm>
          <a:prstGeom prst="rect">
            <a:avLst/>
          </a:prstGeom>
          <a:noFill/>
        </p:spPr>
        <p:txBody>
          <a:bodyPr wrap="square" rtlCol="0">
            <a:noAutofit/>
          </a:bodyPr>
          <a:lstStyle/>
          <a:p>
            <a:r>
              <a:rPr lang="zh-CN" altLang="en-US" sz="2400" b="1" dirty="0" smtClean="0">
                <a:solidFill>
                  <a:srgbClr val="0070C0"/>
                </a:solidFill>
                <a:latin typeface="+mj-ea"/>
                <a:ea typeface="+mj-ea"/>
              </a:rPr>
              <a:t>Option assessment</a:t>
            </a:r>
            <a:endParaRPr lang="zh-CN" altLang="en-US" sz="2400" b="1" dirty="0">
              <a:solidFill>
                <a:srgbClr val="0070C0"/>
              </a:solidFill>
              <a:latin typeface="+mj-ea"/>
              <a:ea typeface="+mj-ea"/>
            </a:endParaRPr>
          </a:p>
        </p:txBody>
      </p:sp>
      <p:sp>
        <p:nvSpPr>
          <p:cNvPr id="8" name="矩形 7"/>
          <p:cNvSpPr/>
          <p:nvPr/>
        </p:nvSpPr>
        <p:spPr>
          <a:xfrm>
            <a:off x="13646989" y="3101694"/>
            <a:ext cx="9661584" cy="5737506"/>
          </a:xfrm>
          <a:prstGeom prst="rect">
            <a:avLst/>
          </a:prstGeom>
        </p:spPr>
        <p:txBody>
          <a:bodyPr wrap="square">
            <a:noAutofit/>
          </a:bodyPr>
          <a:lstStyle/>
          <a:p>
            <a:pPr marL="457200" indent="-457200">
              <a:lnSpc>
                <a:spcPct val="110000"/>
              </a:lnSpc>
              <a:buAutoNum type="arabicPeriod"/>
            </a:pPr>
            <a:r>
              <a:rPr lang="en-US" altLang="zh-CN" sz="2200" dirty="0" smtClean="0">
                <a:latin typeface="微软雅黑"/>
                <a:ea typeface="微软雅黑"/>
              </a:rPr>
              <a:t>Option 1 provides audible and visual alarms for the high-high and low-low limits, together with high and low pre-alarms. Personnel respond on site once an alarm is triggered, so any excursion beyond the process range is detected immediately.</a:t>
            </a:r>
          </a:p>
          <a:p>
            <a:pPr marL="457200" lvl="0" indent="-457200">
              <a:lnSpc>
                <a:spcPct val="110000"/>
              </a:lnSpc>
              <a:buFont typeface="+mj-lt"/>
              <a:buAutoNum type="arabicPeriod"/>
              <a:defRPr/>
            </a:pPr>
            <a:r>
              <a:rPr lang="en-US" altLang="zh-CN" sz="2200" dirty="0" smtClean="0">
                <a:latin typeface="微软雅黑"/>
                <a:ea typeface="微软雅黑"/>
              </a:rPr>
              <a:t>Where only high and low audible and visual alarms are used, they are set as pre-alarm values. Personnel respond on site once an alarm is triggered, and any excursion beyond the process range is reconciled between the operation record (OR) and the electronic data.</a:t>
            </a:r>
            <a:r>
              <a:rPr lang="en-US" altLang="zh-CN" sz="2400" dirty="0">
                <a:latin typeface="+mj-ea"/>
                <a:ea typeface="+mj-ea"/>
              </a:rPr>
              <a:t/>
            </a:r>
          </a:p>
          <a:p>
            <a:pPr marL="457200" lvl="0" indent="-457200">
              <a:lnSpc>
                <a:spcPct val="110000"/>
              </a:lnSpc>
              <a:buFont typeface="+mj-lt"/>
              <a:buAutoNum type="arabicPeriod"/>
              <a:defRPr/>
            </a:pPr>
            <a:r>
              <a:rPr lang="en-US" altLang="zh-CN" sz="2200" dirty="0" smtClean="0">
                <a:latin typeface="微软雅黑"/>
                <a:ea typeface="微软雅黑"/>
              </a:rPr>
              <a:t>The MOR already records the minimum and maximum temperature for each operation, so the risk of a missed excursion is low.</a:t>
            </a:r>
            <a:r>
              <a:rPr lang="en-US" altLang="zh-CN" sz="2400" dirty="0">
                <a:latin typeface="+mj-ea"/>
                <a:ea typeface="+mj-ea"/>
              </a:rPr>
              <a:t/>
            </a:r>
            <a:r>
              <a:rPr lang="en-US" altLang="zh-CN" sz="2400" dirty="0" smtClean="0">
                <a:latin typeface="+mj-ea"/>
                <a:ea typeface="+mj-ea"/>
              </a:rPr>
              <a:t/>
            </a:r>
          </a:p>
          <a:p>
            <a:pPr lvl="0">
              <a:lnSpc>
                <a:spcPct val="110000"/>
              </a:lnSpc>
              <a:defRPr/>
            </a:pPr>
            <a:r>
              <a:rPr sz="2200">
                <a:latin typeface="微软雅黑"/>
                <a:ea typeface="微软雅黑"/>
              </a:rPr>
              <a:t/>
            </a:r>
            <a:endParaRPr lang="en-US" altLang="zh-CN" sz="2400" dirty="0">
              <a:latin typeface="+mj-ea"/>
              <a:ea typeface="+mj-ea"/>
            </a:endParaRPr>
          </a:p>
          <a:p>
            <a:pPr lvl="0">
              <a:lnSpc>
                <a:spcPct val="110000"/>
              </a:lnSpc>
              <a:defRPr/>
            </a:pPr>
            <a:r>
              <a:rPr lang="zh-CN" altLang="en-US" sz="2200" dirty="0" smtClean="0">
                <a:latin typeface="微软雅黑"/>
                <a:ea typeface="微软雅黑"/>
              </a:rPr>
              <a:t>The software upgrade takes 3 days. We assess that the current software, together with the MOR record of the temperature minimum and maximum, meets production needs. We recommend keeping the current software and the MOR temperature records.</a:t>
            </a:r>
            <a:r>
              <a:rPr lang="en-US" altLang="zh-CN" sz="2400" dirty="0" smtClean="0">
                <a:latin typeface="+mj-ea"/>
                <a:ea typeface="+mj-ea"/>
              </a:rPr>
              <a:t/>
            </a:r>
            <a:r>
              <a:rPr lang="zh-CN" altLang="en-US" sz="2400" dirty="0" smtClean="0">
                <a:latin typeface="+mj-ea"/>
                <a:ea typeface="+mj-ea"/>
              </a:rPr>
              <a:t/>
            </a:r>
            <a:r>
              <a:rPr lang="en-US" altLang="zh-CN" sz="2400" dirty="0" smtClean="0">
                <a:latin typeface="+mj-ea"/>
                <a:ea typeface="+mj-ea"/>
              </a:rPr>
              <a:t/>
            </a:r>
            <a:r>
              <a:rPr lang="zh-CN" altLang="en-US" sz="2400" dirty="0" smtClean="0">
                <a:latin typeface="+mj-ea"/>
                <a:ea typeface="+mj-ea"/>
              </a:rPr>
              <a:t/>
            </a:r>
            <a:endParaRPr lang="en-US" altLang="zh-CN" sz="2400" dirty="0">
              <a:latin typeface="+mj-ea"/>
              <a:ea typeface="+mj-ea"/>
            </a:endParaRPr>
          </a:p>
          <a:p>
            <a:pPr marL="457200" indent="-457200">
              <a:lnSpc>
                <a:spcPct val="110000"/>
              </a:lnSpc>
              <a:buAutoNum type="arabicPeriod"/>
            </a:pPr>
            <a:r>
              <a:rPr sz="2200">
                <a:latin typeface="微软雅黑"/>
                <a:ea typeface="微软雅黑"/>
              </a:rPr>
              <a:t/>
            </a:r>
            <a:endParaRPr lang="en-US" altLang="zh-CN" sz="2400" dirty="0" smtClean="0">
              <a:latin typeface="+mj-ea"/>
              <a:ea typeface="+mj-ea"/>
            </a:endParaRPr>
          </a:p>
        </p:txBody>
      </p:sp>
      <p:sp>
        <p:nvSpPr>
          <p:cNvPr id="9" name="矩形 8"/>
          <p:cNvSpPr/>
          <p:nvPr/>
        </p:nvSpPr>
        <p:spPr>
          <a:xfrm>
            <a:off x="13646989" y="4337988"/>
            <a:ext cx="9661585" cy="2862322"/>
          </a:xfrm>
          <a:prstGeom prst="rect">
            <a:avLst/>
          </a:prstGeom>
        </p:spPr>
        <p:txBody>
          <a:bodyPr wrap="square">
            <a:noAutofit/>
          </a:bodyPr>
          <a:lstStyle/>
          <a:p>
            <a:pPr>
              <a:lnSpc>
                <a:spcPct val="110000"/>
              </a:lnSpc>
            </a:pPr>
            <a:endParaRPr lang="en-US" altLang="zh-CN" sz="2400" dirty="0" smtClean="0">
              <a:latin typeface="+mj-ea"/>
              <a:ea typeface="+mj-ea"/>
            </a:endParaRPr>
          </a:p>
        </p:txBody>
      </p:sp>
      <p:sp>
        <p:nvSpPr>
          <p:cNvPr id="12" name="文本框 11"/>
          <p:cNvSpPr txBox="1"/>
          <p:nvPr/>
        </p:nvSpPr>
        <p:spPr>
          <a:xfrm>
            <a:off x="7211683" y="4119229"/>
            <a:ext cx="2432649" cy="461665"/>
          </a:xfrm>
          <a:prstGeom prst="rect">
            <a:avLst/>
          </a:prstGeom>
          <a:noFill/>
        </p:spPr>
        <p:txBody>
          <a:bodyPr wrap="square" rtlCol="0">
            <a:noAutofit/>
          </a:bodyPr>
          <a:lstStyle/>
          <a:p>
            <a:r>
              <a:rPr lang="zh-CN" altLang="en-US" sz="2400" b="1" dirty="0" smtClean="0">
                <a:solidFill>
                  <a:srgbClr val="FF0000"/>
                </a:solidFill>
                <a:latin typeface="+mj-ea"/>
                <a:ea typeface="+mj-ea"/>
              </a:rPr>
              <a:t>Software update</a:t>
            </a:r>
            <a:endParaRPr lang="zh-CN" altLang="en-US" sz="2400" b="1" dirty="0">
              <a:solidFill>
                <a:srgbClr val="FF0000"/>
              </a:solidFill>
              <a:latin typeface="+mj-ea"/>
              <a:ea typeface="+mj-ea"/>
            </a:endParaRPr>
          </a:p>
        </p:txBody>
      </p:sp>
      <p:sp>
        <p:nvSpPr>
          <p:cNvPr id="13" name="文本框 12"/>
          <p:cNvSpPr txBox="1"/>
          <p:nvPr/>
        </p:nvSpPr>
        <p:spPr>
          <a:xfrm>
            <a:off x="1937991" y="1799012"/>
            <a:ext cx="17721609" cy="790826"/>
          </a:xfrm>
          <a:prstGeom prst="rect">
            <a:avLst/>
          </a:prstGeom>
          <a:noFill/>
        </p:spPr>
        <p:txBody>
          <a:bodyPr wrap="square" rtlCol="0">
            <a:noAutofit/>
          </a:bodyPr>
          <a:lstStyle/>
          <a:p>
            <a:r>
              <a:rPr lang="en-US" altLang="zh-CN" sz="3200" dirty="0" smtClean="0">
                <a:solidFill>
                  <a:schemeClr val="tx1"/>
                </a:solidFill>
                <a:latin typeface="+mn-lt"/>
                <a:ea typeface="+mn-ea"/>
              </a:rPr>
              <a:t>2. Add high-high and low-low jacket-temperature alarms for synthesizer SY16 to the PLC.</a:t>
            </a:r>
            <a:endParaRPr lang="zh-CN" altLang="en-US" sz="3200" dirty="0">
              <a:solidFill>
                <a:schemeClr val="tx1"/>
              </a:solidFill>
              <a:latin typeface="+mn-lt"/>
              <a:ea typeface="+mn-ea"/>
            </a:endParaRPr>
          </a:p>
        </p:txBody>
      </p:sp>
      <p:sp>
        <p:nvSpPr>
          <p:cNvPr id="14" name="矩形 13"/>
          <p:cNvSpPr/>
          <p:nvPr/>
        </p:nvSpPr>
        <p:spPr>
          <a:xfrm>
            <a:off x="13646989" y="4580894"/>
            <a:ext cx="9661585" cy="2862322"/>
          </a:xfrm>
          <a:prstGeom prst="rect">
            <a:avLst/>
          </a:prstGeom>
        </p:spPr>
        <p:txBody>
          <a:bodyPr wrap="square">
            <a:noAutofit/>
          </a:bodyPr>
          <a:lstStyle/>
          <a:p>
            <a:pPr marL="0" marR="0" lvl="0" indent="0" algn="l" defTabSz="825500" rtl="0" eaLnBrk="1" fontAlgn="base" latinLnBrk="0" hangingPunct="1">
              <a:lnSpc>
                <a:spcPct val="110000"/>
              </a:lnSpc>
              <a:spcBef>
                <a:spcPct val="0"/>
              </a:spcBef>
              <a:spcAft>
                <a:spcPct val="0"/>
              </a:spcAft>
              <a:buClrTx/>
              <a:buSzTx/>
              <a:buFontTx/>
              <a:buNone/>
              <a:tabLst/>
              <a:defRPr/>
            </a:pPr>
            <a:endParaRPr kumimoji="0" lang="en-US" altLang="zh-CN" sz="2400" b="0" i="0" u="none" strike="noStrike" kern="1200" cap="none" spc="0" normalizeH="0" baseline="0" noProof="0" dirty="0" smtClean="0">
              <a:ln>
                <a:noFill/>
              </a:ln>
              <a:solidFill>
                <a:srgbClr val="252D30"/>
              </a:solidFill>
              <a:effectLst/>
              <a:uLnTx/>
              <a:uFillTx/>
              <a:latin typeface="微软雅黑"/>
              <a:ea typeface="微软雅黑"/>
              <a:cs typeface="+mn-cs"/>
              <a:sym typeface="Arial" panose="020B0604020202020204" pitchFamily="34" charset="0"/>
            </a:endParaRPr>
          </a:p>
        </p:txBody>
      </p:sp>
    </p:spTree>
    <p:extLst>
      <p:ext uri="{BB962C8B-B14F-4D97-AF65-F5344CB8AC3E}">
        <p14:creationId xmlns:p14="http://schemas.microsoft.com/office/powerpoint/2010/main" val="1271806267"/>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B17F8C1-CFD8-1314-B9D2-44E259DAA423}"/>
              </a:ext>
            </a:extLst>
          </p:cNvPr>
          <p:cNvSpPr txBox="1"/>
          <p:nvPr/>
        </p:nvSpPr>
        <p:spPr>
          <a:xfrm>
            <a:off x="8588077" y="294769"/>
            <a:ext cx="15074411" cy="769439"/>
          </a:xfrm>
          <a:prstGeom prst="rect">
            <a:avLst/>
          </a:prstGeom>
          <a:noFill/>
          <a:ln w="12700" cap="flat">
            <a:noFill/>
            <a:miter lim="400000"/>
          </a:ln>
          <a:effectLst/>
        </p:spPr>
        <p:txBody>
          <a:bodyPr rot="0" spcFirstLastPara="1" vertOverflow="overflow" horzOverflow="overflow" vert="horz" wrap="square" lIns="45719" tIns="45719" rIns="45719" bIns="45719" numCol="1" spcCol="38100" rtlCol="0" anchor="t">
            <a:spAutoFit/>
          </a:bodyPr>
          <a:lstStyle/>
          <a:p>
            <a:pPr algn="r" fontAlgn="auto" hangingPunct="0">
              <a:spcBef>
                <a:spcPts val="0"/>
              </a:spcBef>
              <a:spcAft>
                <a:spcPts val="0"/>
              </a:spcAft>
              <a:defRPr/>
            </a:pPr>
            <a:r>
              <a:rPr lang="en-US" altLang="zh-CN" sz="4400" dirty="0">
                <a:solidFill>
                  <a:schemeClr val="accent1">
                    <a:lumMod val="50000"/>
                  </a:schemeClr>
                </a:solidFill>
              </a:rPr>
              <a:t>Spray-ball installation</a:t>
            </a:r>
            <a:endParaRPr lang="zh-CN" altLang="en-US" sz="4400" b="1" dirty="0">
              <a:solidFill>
                <a:schemeClr val="accent1">
                  <a:lumMod val="50000"/>
                </a:schemeClr>
              </a:solidFill>
              <a:latin typeface="微软雅黑" panose="020B0503020204020204" pitchFamily="34" charset="-122"/>
              <a:ea typeface="微软雅黑" panose="020B0503020204020204" pitchFamily="34" charset="-122"/>
              <a:cs typeface="Arial" panose="020B0604020202020204"/>
            </a:endParaRPr>
          </a:p>
        </p:txBody>
      </p:sp>
      <p:sp>
        <p:nvSpPr>
          <p:cNvPr id="5" name="文本框 4"/>
          <p:cNvSpPr txBox="1"/>
          <p:nvPr/>
        </p:nvSpPr>
        <p:spPr>
          <a:xfrm>
            <a:off x="1931130" y="1990988"/>
            <a:ext cx="17538584" cy="1015663"/>
          </a:xfrm>
          <a:prstGeom prst="rect">
            <a:avLst/>
          </a:prstGeom>
          <a:noFill/>
        </p:spPr>
        <p:txBody>
          <a:bodyPr wrap="none" rtlCol="0">
            <a:spAutoFit/>
          </a:bodyPr>
          <a:lstStyle/>
          <a:p>
            <a:pPr lvl="0"/>
            <a:r>
              <a:rPr lang="en-US" altLang="zh-CN" sz="3200" dirty="0" smtClean="0">
                <a:solidFill>
                  <a:schemeClr val="tx1"/>
                </a:solidFill>
                <a:latin typeface="+mn-lt"/>
                <a:ea typeface="+mn-ea"/>
              </a:rPr>
              <a:t>1. Spray-ball installation, coverage test, riboflavin cleaning, and particulate check for AT09/AT01.</a:t>
            </a:r>
            <a:endParaRPr lang="zh-CN" altLang="zh-CN" sz="3200" dirty="0">
              <a:solidFill>
                <a:schemeClr val="tx1"/>
              </a:solidFill>
              <a:latin typeface="+mn-lt"/>
              <a:ea typeface="+mn-ea"/>
            </a:endParaRPr>
          </a:p>
          <a:p>
            <a:endParaRPr lang="zh-CN" altLang="en-US" sz="2800" dirty="0"/>
          </a:p>
        </p:txBody>
      </p:sp>
      <p:sp>
        <p:nvSpPr>
          <p:cNvPr id="3" name="矩形 2"/>
          <p:cNvSpPr/>
          <p:nvPr/>
        </p:nvSpPr>
        <p:spPr>
          <a:xfrm>
            <a:off x="1575530" y="2550971"/>
            <a:ext cx="21436870" cy="5016758"/>
          </a:xfrm>
          <a:prstGeom prst="rect">
            <a:avLst/>
          </a:prstGeom>
        </p:spPr>
        <p:txBody>
          <a:bodyPr wrap="square">
            <a:spAutoFit/>
          </a:bodyPr>
          <a:lstStyle/>
          <a:p>
            <a:r>
              <a:rPr lang="en-US" altLang="zh-CN" sz="3200" dirty="0">
                <a:solidFill>
                  <a:srgbClr val="0000FF"/>
                </a:solidFill>
                <a:latin typeface="+mn-lt"/>
                <a:ea typeface="+mn-ea"/>
              </a:rPr>
              <a:t>ASYM</a:t>
            </a:r>
            <a:r>
              <a:rPr lang="en-US" altLang="zh-CN" sz="3200" dirty="0" smtClean="0">
                <a:solidFill>
                  <a:srgbClr val="0000FF"/>
                </a:solidFill>
                <a:latin typeface="+mn-lt"/>
                <a:ea typeface="+mn-ea"/>
              </a:rPr>
              <a:t>:</a:t>
            </a:r>
          </a:p>
          <a:p>
            <a:r>
              <a:rPr lang="en-US" altLang="zh-CN" sz="3200" dirty="0" smtClean="0">
                <a:solidFill>
                  <a:srgbClr val="0000FF"/>
                </a:solidFill>
                <a:latin typeface="+mn-lt"/>
                <a:ea typeface="+mn-ea"/>
              </a:rPr>
              <a:t>1</a:t>
            </a:r>
            <a:r>
              <a:rPr lang="en-US" altLang="zh-CN" sz="3200" dirty="0">
                <a:solidFill>
                  <a:srgbClr val="0000FF"/>
                </a:solidFill>
                <a:latin typeface="+mn-lt"/>
                <a:ea typeface="+mn-ea"/>
              </a:rPr>
              <a:t>. A stainless steel spray ball was used for the spray coverage test on mixing vessel AT09. Iodine is not compatible with prolonged stainless-steel contact, so this spray ball will be used only as a temporary accessory and will not remain in the vessel</a:t>
            </a:r>
            <a:r>
              <a:rPr lang="en-US" altLang="zh-CN" sz="3200" dirty="0" smtClean="0">
                <a:solidFill>
                  <a:srgbClr val="0000FF"/>
                </a:solidFill>
                <a:latin typeface="+mn-lt"/>
                <a:ea typeface="+mn-ea"/>
              </a:rPr>
              <a:t>.</a:t>
            </a:r>
          </a:p>
          <a:p>
            <a:r>
              <a:rPr lang="en-US" altLang="zh-CN" sz="3200" dirty="0" smtClean="0">
                <a:solidFill>
                  <a:srgbClr val="0000FF"/>
                </a:solidFill>
                <a:latin typeface="+mn-lt"/>
                <a:ea typeface="+mn-ea"/>
              </a:rPr>
              <a:t>2</a:t>
            </a:r>
            <a:r>
              <a:rPr lang="en-US" altLang="zh-CN" sz="3200" dirty="0">
                <a:solidFill>
                  <a:srgbClr val="0000FF"/>
                </a:solidFill>
                <a:latin typeface="+mn-lt"/>
                <a:ea typeface="+mn-ea"/>
              </a:rPr>
              <a:t>. A PTFE spray ball has been purchased for mixing vessel AT09, following Lilly's recommendation and material-compatibility assessment. Given the project timeline, we recommend a trial run and completion of the supplemental spray-coverage verification and cleaning confirmation before this vessel is used for the project</a:t>
            </a:r>
            <a:r>
              <a:rPr lang="en-US" altLang="zh-CN" sz="3200" dirty="0" smtClean="0">
                <a:solidFill>
                  <a:srgbClr val="0000FF"/>
                </a:solidFill>
                <a:latin typeface="+mn-lt"/>
                <a:ea typeface="+mn-ea"/>
              </a:rPr>
              <a:t>.</a:t>
            </a:r>
          </a:p>
          <a:p>
            <a:r>
              <a:rPr lang="en-US" altLang="zh-CN" sz="3200" dirty="0" smtClean="0">
                <a:solidFill>
                  <a:srgbClr val="0000FF"/>
                </a:solidFill>
                <a:latin typeface="+mn-lt"/>
                <a:ea typeface="+mn-ea"/>
              </a:rPr>
              <a:t>Proposed </a:t>
            </a:r>
            <a:r>
              <a:rPr lang="en-US" altLang="zh-CN" sz="3200" dirty="0">
                <a:solidFill>
                  <a:srgbClr val="0000FF"/>
                </a:solidFill>
                <a:latin typeface="+mn-lt"/>
                <a:ea typeface="+mn-ea"/>
              </a:rPr>
              <a:t>completion date: </a:t>
            </a:r>
            <a:r>
              <a:rPr lang="en-US" altLang="zh-CN" sz="3200" dirty="0" smtClean="0">
                <a:solidFill>
                  <a:srgbClr val="0000FF"/>
                </a:solidFill>
                <a:latin typeface="+mn-lt"/>
                <a:ea typeface="+mn-ea"/>
              </a:rPr>
              <a:t>10/20/2026</a:t>
            </a:r>
          </a:p>
          <a:p>
            <a:r>
              <a:rPr lang="en-US" altLang="zh-CN" sz="3200" dirty="0" smtClean="0">
                <a:solidFill>
                  <a:srgbClr val="0000FF"/>
                </a:solidFill>
                <a:latin typeface="+mn-lt"/>
                <a:ea typeface="+mn-ea"/>
              </a:rPr>
              <a:t>3</a:t>
            </a:r>
            <a:r>
              <a:rPr lang="en-US" altLang="zh-CN" sz="3200" dirty="0">
                <a:solidFill>
                  <a:srgbClr val="0000FF"/>
                </a:solidFill>
                <a:latin typeface="+mn-lt"/>
                <a:ea typeface="+mn-ea"/>
              </a:rPr>
              <a:t>. Mixing vessel AT01 is equipped with a spray ball and has completed spray coverage testing. The missing on-site identification tag has been corrected. </a:t>
            </a:r>
            <a:endParaRPr lang="zh-CN" altLang="en-US" sz="3200" dirty="0">
              <a:solidFill>
                <a:srgbClr val="0000FF"/>
              </a:solidFill>
              <a:latin typeface="+mn-lt"/>
              <a:ea typeface="+mn-ea"/>
            </a:endParaRPr>
          </a:p>
        </p:txBody>
      </p:sp>
      <p:grpSp>
        <p:nvGrpSpPr>
          <p:cNvPr id="8" name="组合 7"/>
          <p:cNvGrpSpPr/>
          <p:nvPr/>
        </p:nvGrpSpPr>
        <p:grpSpPr>
          <a:xfrm>
            <a:off x="19864644" y="9075651"/>
            <a:ext cx="3320866" cy="3945467"/>
            <a:chOff x="9436100" y="9143999"/>
            <a:chExt cx="2959100" cy="3945467"/>
          </a:xfrm>
        </p:grpSpPr>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36100" y="9143999"/>
              <a:ext cx="2959100" cy="3945467"/>
            </a:xfrm>
            <a:prstGeom prst="rect">
              <a:avLst/>
            </a:prstGeom>
          </p:spPr>
        </p:pic>
        <p:sp>
          <p:nvSpPr>
            <p:cNvPr id="7" name="文本框 6"/>
            <p:cNvSpPr txBox="1"/>
            <p:nvPr/>
          </p:nvSpPr>
          <p:spPr>
            <a:xfrm>
              <a:off x="9906000" y="12649200"/>
              <a:ext cx="2119683" cy="400110"/>
            </a:xfrm>
            <a:prstGeom prst="rect">
              <a:avLst/>
            </a:prstGeom>
            <a:noFill/>
          </p:spPr>
          <p:txBody>
            <a:bodyPr wrap="none" rtlCol="0">
              <a:spAutoFit/>
            </a:bodyPr>
            <a:lstStyle/>
            <a:p>
              <a:r>
                <a:rPr lang="en-US" altLang="zh-CN" dirty="0" smtClean="0">
                  <a:solidFill>
                    <a:srgbClr val="FF0000"/>
                  </a:solidFill>
                </a:rPr>
                <a:t>TJ4S-1200-AT01</a:t>
              </a:r>
              <a:endParaRPr lang="zh-CN" altLang="en-US" dirty="0">
                <a:solidFill>
                  <a:srgbClr val="FF0000"/>
                </a:solidFill>
              </a:endParaRPr>
            </a:p>
          </p:txBody>
        </p:sp>
      </p:grpSp>
      <p:grpSp>
        <p:nvGrpSpPr>
          <p:cNvPr id="11" name="组合 10"/>
          <p:cNvGrpSpPr/>
          <p:nvPr/>
        </p:nvGrpSpPr>
        <p:grpSpPr>
          <a:xfrm>
            <a:off x="13950273" y="9075651"/>
            <a:ext cx="5499679" cy="3811281"/>
            <a:chOff x="8302961" y="9397928"/>
            <a:chExt cx="5101553" cy="3411171"/>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2961" y="9397928"/>
              <a:ext cx="2558378" cy="3411171"/>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61339" y="9418199"/>
              <a:ext cx="2543175" cy="3390900"/>
            </a:xfrm>
            <a:prstGeom prst="rect">
              <a:avLst/>
            </a:prstGeom>
          </p:spPr>
        </p:pic>
        <p:sp>
          <p:nvSpPr>
            <p:cNvPr id="10" name="文本框 9"/>
            <p:cNvSpPr txBox="1"/>
            <p:nvPr/>
          </p:nvSpPr>
          <p:spPr>
            <a:xfrm>
              <a:off x="8639320" y="12361334"/>
              <a:ext cx="4444037" cy="400110"/>
            </a:xfrm>
            <a:prstGeom prst="rect">
              <a:avLst/>
            </a:prstGeom>
            <a:noFill/>
          </p:spPr>
          <p:txBody>
            <a:bodyPr wrap="none" rtlCol="0">
              <a:spAutoFit/>
            </a:bodyPr>
            <a:lstStyle/>
            <a:p>
              <a:r>
                <a:rPr lang="en-US" altLang="zh-CN" dirty="0">
                  <a:solidFill>
                    <a:srgbClr val="FF0000"/>
                  </a:solidFill>
                </a:rPr>
                <a:t>TJ4S-1213-AT09   Dedicated spray ball</a:t>
              </a:r>
              <a:endParaRPr lang="zh-CN" altLang="en-US" dirty="0">
                <a:solidFill>
                  <a:srgbClr val="FF0000"/>
                </a:solidFill>
              </a:endParaRPr>
            </a:p>
          </p:txBody>
        </p:sp>
      </p:grpSp>
      <p:graphicFrame>
        <p:nvGraphicFramePr>
          <p:cNvPr id="12" name="表格 11"/>
          <p:cNvGraphicFramePr>
            <a:graphicFrameLocks noGrp="1"/>
          </p:cNvGraphicFramePr>
          <p:nvPr>
            <p:extLst>
              <p:ext uri="{D42A27DB-BD31-4B8C-83A1-F6EECF244321}">
                <p14:modId xmlns:p14="http://schemas.microsoft.com/office/powerpoint/2010/main" val="1863111464"/>
              </p:ext>
            </p:extLst>
          </p:nvPr>
        </p:nvGraphicFramePr>
        <p:xfrm>
          <a:off x="1587166" y="9836728"/>
          <a:ext cx="11573024" cy="2996960"/>
        </p:xfrm>
        <a:graphic>
          <a:graphicData uri="http://schemas.openxmlformats.org/drawingml/2006/table">
            <a:tbl>
              <a:tblPr/>
              <a:tblGrid>
                <a:gridCol w="1479884">
                  <a:extLst>
                    <a:ext uri="{9D8B030D-6E8A-4147-A177-3AD203B41FA5}">
                      <a16:colId xmlns:a16="http://schemas.microsoft.com/office/drawing/2014/main" val="4231785485"/>
                    </a:ext>
                  </a:extLst>
                </a:gridCol>
                <a:gridCol w="1891048">
                  <a:extLst>
                    <a:ext uri="{9D8B030D-6E8A-4147-A177-3AD203B41FA5}">
                      <a16:colId xmlns:a16="http://schemas.microsoft.com/office/drawing/2014/main" val="1118872730"/>
                    </a:ext>
                  </a:extLst>
                </a:gridCol>
                <a:gridCol w="842991">
                  <a:extLst>
                    <a:ext uri="{9D8B030D-6E8A-4147-A177-3AD203B41FA5}">
                      <a16:colId xmlns:a16="http://schemas.microsoft.com/office/drawing/2014/main" val="4186127771"/>
                    </a:ext>
                  </a:extLst>
                </a:gridCol>
                <a:gridCol w="2523761">
                  <a:extLst>
                    <a:ext uri="{9D8B030D-6E8A-4147-A177-3AD203B41FA5}">
                      <a16:colId xmlns:a16="http://schemas.microsoft.com/office/drawing/2014/main" val="1760775270"/>
                    </a:ext>
                  </a:extLst>
                </a:gridCol>
                <a:gridCol w="1676400">
                  <a:extLst>
                    <a:ext uri="{9D8B030D-6E8A-4147-A177-3AD203B41FA5}">
                      <a16:colId xmlns:a16="http://schemas.microsoft.com/office/drawing/2014/main" val="3188875527"/>
                    </a:ext>
                  </a:extLst>
                </a:gridCol>
                <a:gridCol w="1657350">
                  <a:extLst>
                    <a:ext uri="{9D8B030D-6E8A-4147-A177-3AD203B41FA5}">
                      <a16:colId xmlns:a16="http://schemas.microsoft.com/office/drawing/2014/main" val="4178731468"/>
                    </a:ext>
                  </a:extLst>
                </a:gridCol>
                <a:gridCol w="704850">
                  <a:extLst>
                    <a:ext uri="{9D8B030D-6E8A-4147-A177-3AD203B41FA5}">
                      <a16:colId xmlns:a16="http://schemas.microsoft.com/office/drawing/2014/main" val="4290337702"/>
                    </a:ext>
                  </a:extLst>
                </a:gridCol>
                <a:gridCol w="796740">
                  <a:extLst>
                    <a:ext uri="{9D8B030D-6E8A-4147-A177-3AD203B41FA5}">
                      <a16:colId xmlns:a16="http://schemas.microsoft.com/office/drawing/2014/main" val="3178622526"/>
                    </a:ext>
                  </a:extLst>
                </a:gridCol>
              </a:tblGrid>
              <a:tr h="749240">
                <a:tc gridSpan="8">
                  <a:txBody>
                    <a:bodyPr/>
                    <a:lstStyle/>
                    <a:p>
                      <a:pPr algn="ctr" fontAlgn="ctr"/>
                      <a:r>
                        <a:rPr lang="zh-CN" altLang="en-US" sz="2400" b="1" i="0" u="none" strike="noStrike" dirty="0">
                          <a:solidFill>
                            <a:srgbClr val="FFFFFF"/>
                          </a:solidFill>
                          <a:effectLst/>
                          <a:latin typeface="微软雅黑" panose="020B0503020204020204" pitchFamily="34" charset="-122"/>
                          <a:ea typeface="微软雅黑" panose="020B0503020204020204" pitchFamily="34" charset="-122"/>
                        </a:rPr>
                        <a:t>Qualification options and charging schedule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45286841"/>
                  </a:ext>
                </a:extLst>
              </a:tr>
              <a:tr h="749240">
                <a:tc>
                  <a:txBody>
                    <a:bodyPr/>
                    <a:lstStyle/>
                    <a:p>
                      <a:pPr algn="ctr" fontAlgn="ctr"/>
                      <a:r>
                        <a:rPr lang="zh-CN" altLang="en-US" sz="2400" b="1" i="0" u="none" strike="noStrike">
                          <a:solidFill>
                            <a:srgbClr val="FFFFFF"/>
                          </a:solidFill>
                          <a:effectLst/>
                          <a:latin typeface="微软雅黑" panose="020B0503020204020204" pitchFamily="34" charset="-122"/>
                          <a:ea typeface="微软雅黑" panose="020B0503020204020204" pitchFamily="34" charset="-122"/>
                        </a:rPr>
                        <a:t>Option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dirty="0">
                          <a:solidFill>
                            <a:srgbClr val="FFFFFF"/>
                          </a:solidFill>
                          <a:effectLst/>
                          <a:latin typeface="微软雅黑" panose="020B0503020204020204" pitchFamily="34" charset="-122"/>
                          <a:ea typeface="微软雅黑" panose="020B0503020204020204" pitchFamily="34" charset="-122"/>
                        </a:rPr>
                        <a:t>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dirty="0">
                          <a:solidFill>
                            <a:srgbClr val="FFFFFF"/>
                          </a:solidFill>
                          <a:effectLst/>
                          <a:latin typeface="微软雅黑" panose="020B0503020204020204" pitchFamily="34" charset="-122"/>
                          <a:ea typeface="微软雅黑" panose="020B0503020204020204" pitchFamily="34" charset="-122"/>
                        </a:rPr>
                        <a:t>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dirty="0">
                          <a:solidFill>
                            <a:srgbClr val="FFFFFF"/>
                          </a:solidFill>
                          <a:effectLst/>
                          <a:latin typeface="微软雅黑" panose="020B0503020204020204" pitchFamily="34" charset="-122"/>
                          <a:ea typeface="微软雅黑" panose="020B0503020204020204" pitchFamily="34" charset="-122"/>
                        </a:rPr>
                        <a:t>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736269041"/>
                  </a:ext>
                </a:extLst>
              </a:tr>
              <a:tr h="749240">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Option </a:t>
                      </a:r>
                      <a:r>
                        <a:rPr lang="en-US" altLang="zh-CN" sz="2400" b="0" i="0" u="none" strike="noStrike" dirty="0" smtClean="0">
                          <a:solidFill>
                            <a:srgbClr val="000000"/>
                          </a:solidFill>
                          <a:effectLst/>
                          <a:latin typeface="微软雅黑" panose="020B0503020204020204" pitchFamily="34" charset="-122"/>
                          <a:ea typeface="微软雅黑" panose="020B0503020204020204" pitchFamily="34" charset="-122"/>
                        </a:rPr>
                        <a:t>1</a:t>
                      </a:r>
                      <a:endParaRPr lang="zh-CN" alt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Coverage test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Iodine trial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sz="2400" b="0" i="0" u="none" strike="noStrike" dirty="0" err="1">
                          <a:solidFill>
                            <a:srgbClr val="000000"/>
                          </a:solidFill>
                          <a:effectLst/>
                          <a:latin typeface="微软雅黑" panose="020B0503020204020204" pitchFamily="34" charset="-122"/>
                          <a:ea typeface="微软雅黑" panose="020B0503020204020204" pitchFamily="34" charset="-122"/>
                        </a:rPr>
                        <a:t>CMa</a:t>
                      </a:r>
                      <a:endParaRPr 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dirty="0">
                          <a:solidFill>
                            <a:srgbClr val="0070C0"/>
                          </a:solidFill>
                          <a:effectLst/>
                          <a:latin typeface="微软雅黑" panose="020B0503020204020204" pitchFamily="34" charset="-122"/>
                          <a:ea typeface="微软雅黑" panose="020B0503020204020204" pitchFamily="34" charset="-122"/>
                        </a:rPr>
                        <a:t>Charge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6423112"/>
                  </a:ext>
                </a:extLst>
              </a:tr>
              <a:tr h="749240">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Option </a:t>
                      </a:r>
                      <a:r>
                        <a:rPr lang="en-US" altLang="zh-CN" sz="2400" b="0" i="0" u="none" strike="noStrike" dirty="0" smtClean="0">
                          <a:solidFill>
                            <a:srgbClr val="000000"/>
                          </a:solidFill>
                          <a:effectLst/>
                          <a:latin typeface="微软雅黑" panose="020B0503020204020204" pitchFamily="34" charset="-122"/>
                          <a:ea typeface="微软雅黑" panose="020B0503020204020204" pitchFamily="34" charset="-122"/>
                        </a:rPr>
                        <a:t>2</a:t>
                      </a:r>
                      <a:endParaRPr lang="zh-CN" alt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Iodine trial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marL="0" marR="0" indent="0" algn="ctr" defTabSz="1828800" rtl="0" eaLnBrk="1" fontAlgn="ctr" latinLnBrk="0" hangingPunct="1">
                        <a:lnSpc>
                          <a:spcPct val="100000"/>
                        </a:lnSpc>
                        <a:spcBef>
                          <a:spcPts val="0"/>
                        </a:spcBef>
                        <a:spcAft>
                          <a:spcPts val="0"/>
                        </a:spcAft>
                        <a:buClrTx/>
                        <a:buSzTx/>
                        <a:buFontTx/>
                        <a:buNone/>
                        <a:tabLst/>
                        <a:defRPr/>
                      </a:pPr>
                      <a:r>
                        <a:rPr lang="en-US" sz="1200" b="0" i="0" u="none" strike="noStrike" kern="1200" dirty="0" err="1" smtClean="0">
                          <a:solidFill>
                            <a:srgbClr val="000000"/>
                          </a:solidFill>
                          <a:effectLst/>
                          <a:latin typeface="微软雅黑" panose="020B0503020204020204" pitchFamily="34" charset="-122"/>
                          <a:ea typeface="微软雅黑" panose="020B0503020204020204" pitchFamily="34" charset="-122"/>
                          <a:cs typeface="+mn-cs"/>
                        </a:rPr>
                        <a:t>CMa / Dispense</a:t>
                      </a:r>
                      <a:r>
                        <a:rPr lang="en-US" altLang="zh-CN" sz="2400" b="0" i="0" u="none" strike="noStrike" kern="1200" dirty="0" err="1" smtClean="0">
                          <a:solidFill>
                            <a:srgbClr val="000000"/>
                          </a:solidFill>
                          <a:effectLst/>
                          <a:latin typeface="微软雅黑" panose="020B0503020204020204" pitchFamily="34" charset="-122"/>
                          <a:ea typeface="微软雅黑" panose="020B0503020204020204" pitchFamily="34" charset="-122"/>
                          <a:cs typeface="+mn-cs"/>
                        </a:rPr>
                        <a:t/>
                      </a:r>
                      <a:r>
                        <a:rPr lang="en-US" sz="2400" b="0" i="0" u="none" strike="noStrike" kern="1200" dirty="0" err="1" smtClean="0">
                          <a:solidFill>
                            <a:srgbClr val="000000"/>
                          </a:solidFill>
                          <a:effectLst/>
                          <a:latin typeface="微软雅黑" panose="020B0503020204020204" pitchFamily="34" charset="-122"/>
                          <a:ea typeface="微软雅黑" panose="020B0503020204020204" pitchFamily="34" charset="-122"/>
                          <a:cs typeface="+mn-cs"/>
                        </a:rPr>
                        <a:t/>
                      </a:r>
                      <a:r>
                        <a:rPr lang="en-US" altLang="zh-CN" sz="2400" b="0" i="0" u="none" strike="noStrike" kern="1200" dirty="0" smtClean="0">
                          <a:solidFill>
                            <a:srgbClr val="000000"/>
                          </a:solidFill>
                          <a:effectLst/>
                          <a:latin typeface="微软雅黑" panose="020B0503020204020204" pitchFamily="34" charset="-122"/>
                          <a:ea typeface="微软雅黑" panose="020B0503020204020204" pitchFamily="34" charset="-122"/>
                          <a:cs typeface="+mn-cs"/>
                        </a:rPr>
                        <a:t/>
                      </a:r>
                      <a:endParaRPr lang="zh-CN" altLang="en-US" sz="2400" b="0" i="0" u="none" strike="noStrike" kern="1200" dirty="0" smtClean="0">
                        <a:solidFill>
                          <a:srgbClr val="0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1828800" rtl="0" eaLnBrk="1" fontAlgn="ctr" latinLnBrk="0" hangingPunct="1">
                        <a:lnSpc>
                          <a:spcPct val="100000"/>
                        </a:lnSpc>
                        <a:spcBef>
                          <a:spcPts val="0"/>
                        </a:spcBef>
                        <a:spcAft>
                          <a:spcPts val="0"/>
                        </a:spcAft>
                        <a:buClrTx/>
                        <a:buSzTx/>
                        <a:buFontTx/>
                        <a:buNone/>
                        <a:tabLst/>
                        <a:defRPr/>
                      </a:pPr>
                      <a:r>
                        <a:rPr lang="zh-CN" altLang="en-US" sz="2400" b="1" i="0" u="none" strike="noStrike" kern="1200" dirty="0" smtClean="0">
                          <a:solidFill>
                            <a:srgbClr val="0070C0"/>
                          </a:solidFill>
                          <a:effectLst/>
                          <a:latin typeface="微软雅黑" panose="020B0503020204020204" pitchFamily="34" charset="-122"/>
                          <a:ea typeface="微软雅黑" panose="020B0503020204020204" pitchFamily="34" charset="-122"/>
                          <a:cs typeface="+mn-cs"/>
                        </a:rPr>
                        <a:t>Charge</a:t>
                      </a:r>
                      <a:endParaRPr lang="zh-CN" altLang="en-US" sz="2400" b="1" i="0" u="none" strike="noStrike" kern="1200" dirty="0">
                        <a:solidFill>
                          <a:srgbClr val="0070C0"/>
                        </a:solidFill>
                        <a:effectLst/>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9985861"/>
                  </a:ext>
                </a:extLst>
              </a:tr>
            </a:tbl>
          </a:graphicData>
        </a:graphic>
      </p:graphicFrame>
      <p:sp>
        <p:nvSpPr>
          <p:cNvPr id="13" name="矩形 12"/>
          <p:cNvSpPr/>
          <p:nvPr/>
        </p:nvSpPr>
        <p:spPr>
          <a:xfrm>
            <a:off x="1587166" y="7860024"/>
            <a:ext cx="17862786" cy="461665"/>
          </a:xfrm>
          <a:prstGeom prst="rect">
            <a:avLst/>
          </a:prstGeom>
        </p:spPr>
        <p:txBody>
          <a:bodyPr wrap="square">
            <a:noAutofit/>
          </a:bodyPr>
          <a:lstStyle/>
          <a:p>
            <a:pPr lvl="0"/>
            <a:r>
              <a:rPr lang="zh-CN" altLang="en-US" sz="2200" noProof="0" dirty="0" smtClean="0">
                <a:solidFill>
                  <a:srgbClr val="C00000"/>
                </a:solidFill>
                <a:latin typeface="微软雅黑"/>
                <a:ea typeface="微软雅黑"/>
              </a:rPr>
              <a:t>Fixing the spray ball in place would add 2 days for verification and cleaning. We recommend keeping the current rinse method.</a:t>
            </a:r>
            <a:r>
              <a:rPr lang="en-US" altLang="zh-CN" sz="2400" noProof="0" dirty="0" smtClean="0">
                <a:solidFill>
                  <a:srgbClr val="FF0000"/>
                </a:solidFill>
                <a:latin typeface="微软雅黑"/>
                <a:ea typeface="微软雅黑"/>
              </a:rPr>
              <a:t/>
            </a:r>
            <a:r>
              <a:rPr lang="zh-CN" altLang="en-US" sz="2400" noProof="0" dirty="0" smtClean="0">
                <a:solidFill>
                  <a:srgbClr val="FF0000"/>
                </a:solidFill>
                <a:latin typeface="微软雅黑"/>
                <a:ea typeface="微软雅黑"/>
              </a:rPr>
              <a:t/>
            </a:r>
            <a:r>
              <a:rPr lang="zh-CN" altLang="en-US" sz="2400" dirty="0" smtClean="0">
                <a:solidFill>
                  <a:srgbClr val="FF0000"/>
                </a:solidFill>
                <a:latin typeface="微软雅黑"/>
                <a:ea typeface="微软雅黑"/>
              </a:rPr>
              <a:t/>
            </a:r>
            <a:r>
              <a:rPr lang="zh-CN" altLang="en-US" sz="2400" dirty="0">
                <a:solidFill>
                  <a:srgbClr val="FF0000"/>
                </a:solidFill>
                <a:latin typeface="微软雅黑"/>
                <a:ea typeface="微软雅黑"/>
              </a:rPr>
              <a:t/>
            </a:r>
            <a:r>
              <a:rPr lang="zh-CN" altLang="en-US" sz="2400" dirty="0" smtClean="0">
                <a:solidFill>
                  <a:srgbClr val="FF0000"/>
                </a:solidFill>
                <a:latin typeface="微软雅黑"/>
                <a:ea typeface="微软雅黑"/>
              </a:rPr>
              <a:t/>
            </a:r>
            <a:r>
              <a:rPr lang="zh-CN" altLang="en-US" sz="2400" dirty="0">
                <a:solidFill>
                  <a:srgbClr val="FF0000"/>
                </a:solidFill>
                <a:latin typeface="微软雅黑"/>
                <a:ea typeface="微软雅黑"/>
              </a:rPr>
              <a:t/>
            </a:r>
            <a:r>
              <a:rPr lang="zh-CN" altLang="en-US" sz="2400" dirty="0" smtClean="0">
                <a:solidFill>
                  <a:srgbClr val="FF0000"/>
                </a:solidFill>
                <a:latin typeface="微软雅黑"/>
                <a:ea typeface="微软雅黑"/>
              </a:rPr>
              <a:t/>
            </a:r>
            <a:endParaRPr kumimoji="0" lang="zh-CN" altLang="en-US" sz="2400" b="0" i="0" u="none" strike="noStrike" kern="1200" cap="none" spc="0" normalizeH="0" baseline="0" noProof="0" dirty="0">
              <a:ln>
                <a:noFill/>
              </a:ln>
              <a:solidFill>
                <a:srgbClr val="FF0000"/>
              </a:solidFill>
              <a:effectLst/>
              <a:uLnTx/>
              <a:uFillTx/>
              <a:latin typeface="微软雅黑"/>
              <a:ea typeface="微软雅黑"/>
              <a:cs typeface="+mn-cs"/>
              <a:sym typeface="Arial" panose="020B0604020202020204" pitchFamily="34" charset="0"/>
            </a:endParaRPr>
          </a:p>
        </p:txBody>
      </p:sp>
    </p:spTree>
    <p:extLst>
      <p:ext uri="{BB962C8B-B14F-4D97-AF65-F5344CB8AC3E}">
        <p14:creationId xmlns:p14="http://schemas.microsoft.com/office/powerpoint/2010/main" val="2291473441"/>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extLst>
              <p:ext uri="{D42A27DB-BD31-4B8C-83A1-F6EECF244321}">
                <p14:modId xmlns:p14="http://schemas.microsoft.com/office/powerpoint/2010/main" val="2375014645"/>
              </p:ext>
            </p:extLst>
          </p:nvPr>
        </p:nvGraphicFramePr>
        <p:xfrm>
          <a:off x="996954" y="2142628"/>
          <a:ext cx="21704292" cy="8752184"/>
        </p:xfrm>
        <a:graphic>
          <a:graphicData uri="http://schemas.openxmlformats.org/drawingml/2006/table">
            <a:tbl>
              <a:tblPr/>
              <a:tblGrid>
                <a:gridCol w="1142864">
                  <a:extLst>
                    <a:ext uri="{9D8B030D-6E8A-4147-A177-3AD203B41FA5}">
                      <a16:colId xmlns:a16="http://schemas.microsoft.com/office/drawing/2014/main" val="717466770"/>
                    </a:ext>
                  </a:extLst>
                </a:gridCol>
                <a:gridCol w="1041725">
                  <a:extLst>
                    <a:ext uri="{9D8B030D-6E8A-4147-A177-3AD203B41FA5}">
                      <a16:colId xmlns:a16="http://schemas.microsoft.com/office/drawing/2014/main" val="1343322533"/>
                    </a:ext>
                  </a:extLst>
                </a:gridCol>
                <a:gridCol w="1436165">
                  <a:extLst>
                    <a:ext uri="{9D8B030D-6E8A-4147-A177-3AD203B41FA5}">
                      <a16:colId xmlns:a16="http://schemas.microsoft.com/office/drawing/2014/main" val="898495563"/>
                    </a:ext>
                  </a:extLst>
                </a:gridCol>
                <a:gridCol w="1041725">
                  <a:extLst>
                    <a:ext uri="{9D8B030D-6E8A-4147-A177-3AD203B41FA5}">
                      <a16:colId xmlns:a16="http://schemas.microsoft.com/office/drawing/2014/main" val="958120810"/>
                    </a:ext>
                  </a:extLst>
                </a:gridCol>
                <a:gridCol w="1041725">
                  <a:extLst>
                    <a:ext uri="{9D8B030D-6E8A-4147-A177-3AD203B41FA5}">
                      <a16:colId xmlns:a16="http://schemas.microsoft.com/office/drawing/2014/main" val="3518844892"/>
                    </a:ext>
                  </a:extLst>
                </a:gridCol>
                <a:gridCol w="1041725">
                  <a:extLst>
                    <a:ext uri="{9D8B030D-6E8A-4147-A177-3AD203B41FA5}">
                      <a16:colId xmlns:a16="http://schemas.microsoft.com/office/drawing/2014/main" val="1650108727"/>
                    </a:ext>
                  </a:extLst>
                </a:gridCol>
                <a:gridCol w="692798">
                  <a:extLst>
                    <a:ext uri="{9D8B030D-6E8A-4147-A177-3AD203B41FA5}">
                      <a16:colId xmlns:a16="http://schemas.microsoft.com/office/drawing/2014/main" val="3286119082"/>
                    </a:ext>
                  </a:extLst>
                </a:gridCol>
                <a:gridCol w="692798">
                  <a:extLst>
                    <a:ext uri="{9D8B030D-6E8A-4147-A177-3AD203B41FA5}">
                      <a16:colId xmlns:a16="http://schemas.microsoft.com/office/drawing/2014/main" val="1763014718"/>
                    </a:ext>
                  </a:extLst>
                </a:gridCol>
                <a:gridCol w="1041725">
                  <a:extLst>
                    <a:ext uri="{9D8B030D-6E8A-4147-A177-3AD203B41FA5}">
                      <a16:colId xmlns:a16="http://schemas.microsoft.com/office/drawing/2014/main" val="228039242"/>
                    </a:ext>
                  </a:extLst>
                </a:gridCol>
                <a:gridCol w="1041725">
                  <a:extLst>
                    <a:ext uri="{9D8B030D-6E8A-4147-A177-3AD203B41FA5}">
                      <a16:colId xmlns:a16="http://schemas.microsoft.com/office/drawing/2014/main" val="3489964421"/>
                    </a:ext>
                  </a:extLst>
                </a:gridCol>
                <a:gridCol w="1041725">
                  <a:extLst>
                    <a:ext uri="{9D8B030D-6E8A-4147-A177-3AD203B41FA5}">
                      <a16:colId xmlns:a16="http://schemas.microsoft.com/office/drawing/2014/main" val="2563475757"/>
                    </a:ext>
                  </a:extLst>
                </a:gridCol>
                <a:gridCol w="1041725">
                  <a:extLst>
                    <a:ext uri="{9D8B030D-6E8A-4147-A177-3AD203B41FA5}">
                      <a16:colId xmlns:a16="http://schemas.microsoft.com/office/drawing/2014/main" val="1022585228"/>
                    </a:ext>
                  </a:extLst>
                </a:gridCol>
                <a:gridCol w="1041725">
                  <a:extLst>
                    <a:ext uri="{9D8B030D-6E8A-4147-A177-3AD203B41FA5}">
                      <a16:colId xmlns:a16="http://schemas.microsoft.com/office/drawing/2014/main" val="1935868355"/>
                    </a:ext>
                  </a:extLst>
                </a:gridCol>
                <a:gridCol w="1072067">
                  <a:extLst>
                    <a:ext uri="{9D8B030D-6E8A-4147-A177-3AD203B41FA5}">
                      <a16:colId xmlns:a16="http://schemas.microsoft.com/office/drawing/2014/main" val="4127185096"/>
                    </a:ext>
                  </a:extLst>
                </a:gridCol>
                <a:gridCol w="1041725">
                  <a:extLst>
                    <a:ext uri="{9D8B030D-6E8A-4147-A177-3AD203B41FA5}">
                      <a16:colId xmlns:a16="http://schemas.microsoft.com/office/drawing/2014/main" val="3364685431"/>
                    </a:ext>
                  </a:extLst>
                </a:gridCol>
                <a:gridCol w="1041725">
                  <a:extLst>
                    <a:ext uri="{9D8B030D-6E8A-4147-A177-3AD203B41FA5}">
                      <a16:colId xmlns:a16="http://schemas.microsoft.com/office/drawing/2014/main" val="4257973951"/>
                    </a:ext>
                  </a:extLst>
                </a:gridCol>
                <a:gridCol w="1041725">
                  <a:extLst>
                    <a:ext uri="{9D8B030D-6E8A-4147-A177-3AD203B41FA5}">
                      <a16:colId xmlns:a16="http://schemas.microsoft.com/office/drawing/2014/main" val="1546486719"/>
                    </a:ext>
                  </a:extLst>
                </a:gridCol>
                <a:gridCol w="1041725">
                  <a:extLst>
                    <a:ext uri="{9D8B030D-6E8A-4147-A177-3AD203B41FA5}">
                      <a16:colId xmlns:a16="http://schemas.microsoft.com/office/drawing/2014/main" val="2952244908"/>
                    </a:ext>
                  </a:extLst>
                </a:gridCol>
                <a:gridCol w="1041725">
                  <a:extLst>
                    <a:ext uri="{9D8B030D-6E8A-4147-A177-3AD203B41FA5}">
                      <a16:colId xmlns:a16="http://schemas.microsoft.com/office/drawing/2014/main" val="3426705362"/>
                    </a:ext>
                  </a:extLst>
                </a:gridCol>
                <a:gridCol w="1041725">
                  <a:extLst>
                    <a:ext uri="{9D8B030D-6E8A-4147-A177-3AD203B41FA5}">
                      <a16:colId xmlns:a16="http://schemas.microsoft.com/office/drawing/2014/main" val="4074037450"/>
                    </a:ext>
                  </a:extLst>
                </a:gridCol>
                <a:gridCol w="1041725">
                  <a:extLst>
                    <a:ext uri="{9D8B030D-6E8A-4147-A177-3AD203B41FA5}">
                      <a16:colId xmlns:a16="http://schemas.microsoft.com/office/drawing/2014/main" val="512373855"/>
                    </a:ext>
                  </a:extLst>
                </a:gridCol>
              </a:tblGrid>
              <a:tr h="328259">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Step#</a:t>
                      </a:r>
                    </a:p>
                  </a:txBody>
                  <a:tcPr marL="4899" marR="4899" marT="4899"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1</a:t>
                      </a:r>
                    </a:p>
                  </a:txBody>
                  <a:tcPr marL="4899" marR="4899" marT="4899"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Batch No.</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Batch start</a:t>
                      </a:r>
                      <a:br>
                        <a:rPr lang="en-US" sz="1050" b="1" i="0" u="none" strike="noStrike">
                          <a:solidFill>
                            <a:srgbClr val="000000"/>
                          </a:solidFill>
                          <a:effectLst/>
                          <a:latin typeface="等线" panose="02010600030101010101" pitchFamily="2" charset="-122"/>
                          <a:ea typeface="等线" panose="02010600030101010101" pitchFamily="2" charset="-122"/>
                        </a:rPr>
                      </a:b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2026/10/22 16:00</a:t>
                      </a:r>
                    </a:p>
                  </a:txBody>
                  <a:tcPr marL="4899" marR="4899" marT="4899"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Batch cycle (d)</a:t>
                      </a:r>
                    </a:p>
                  </a:txBody>
                  <a:tcPr marL="4899" marR="4899" marT="4899"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12.7 d</a:t>
                      </a:r>
                    </a:p>
                  </a:txBody>
                  <a:tcPr marL="4899" marR="4899" marT="4899"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Completed</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Ongoing</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7CAAC"/>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804789736"/>
                  </a:ext>
                </a:extLst>
              </a:tr>
              <a:tr h="284165">
                <a:tc rowSpan="13">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Material dispensing: a portion of Oxyma is dispensed first, followed by PyBOP and the amino acid. The remaining Oxyma is then dispensed so charging can proceed quickly. From Batch 2, the order will be adjusted as appropriate.</a:t>
                      </a:r>
                      <a:br>
                        <a:rPr lang="en-US" sz="1050" b="0" i="0" u="none" strike="noStrike">
                          <a:solidFill>
                            <a:srgbClr val="000000"/>
                          </a:solidFill>
                          <a:effectLst/>
                          <a:latin typeface="等线" panose="02010600030101010101" pitchFamily="2" charset="-122"/>
                          <a:ea typeface="等线" panose="02010600030101010101" pitchFamily="2" charset="-122"/>
                        </a:rPr>
                      </a:br>
                      <a:r>
                        <a:rPr lang="zh-CN" altLang="en-US" sz="1050" b="0" i="0" u="none" strike="noStrike">
                          <a:solidFill>
                            <a:srgbClr val="000000"/>
                          </a:solidFill>
                          <a:effectLst/>
                          <a:latin typeface="等线" panose="02010600030101010101" pitchFamily="2" charset="-122"/>
                          <a:ea typeface="等线" panose="02010600030101010101" pitchFamily="2" charset="-122"/>
                        </a:rPr>
                        <a:t/>
                      </a:r>
                      <a:br>
                        <a:rPr lang="zh-CN" altLang="en-US" sz="1050" b="0" i="0" u="none" strike="noStrike">
                          <a:solidFill>
                            <a:srgbClr val="000000"/>
                          </a:solidFill>
                          <a:effectLst/>
                          <a:latin typeface="等线" panose="02010600030101010101" pitchFamily="2" charset="-122"/>
                          <a:ea typeface="等线" panose="02010600030101010101" pitchFamily="2" charset="-122"/>
                        </a:rPr>
                      </a:br>
                      <a:r>
                        <a:rPr lang="en-US" altLang="zh-CN" sz="1050" b="0" i="0" u="none" strike="noStrike">
                          <a:solidFill>
                            <a:srgbClr val="000000"/>
                          </a:solidFill>
                          <a:effectLst/>
                          <a:latin typeface="等线" panose="02010600030101010101" pitchFamily="2" charset="-122"/>
                          <a:ea typeface="等线" panose="02010600030101010101" pitchFamily="2" charset="-122"/>
                        </a:rPr>
                        <a:t/>
                      </a:r>
                      <a:r>
                        <a:rPr lang="en-US" sz="1050" b="0" i="0" u="none" strike="noStrike">
                          <a:solidFill>
                            <a:srgbClr val="000000"/>
                          </a:solidFill>
                          <a:effectLst/>
                          <a:latin typeface="等线" panose="02010600030101010101" pitchFamily="2" charset="-122"/>
                          <a:ea typeface="等线" panose="02010600030101010101" pitchFamily="2" charset="-122"/>
                        </a:rPr>
                        <a:t/>
                      </a:r>
                      <a:r>
                        <a:rPr lang="zh-CN" altLang="en-US" sz="1050" b="0" i="0" u="none" strike="noStrike">
                          <a:solidFill>
                            <a:srgbClr val="000000"/>
                          </a:solidFill>
                          <a:effectLst/>
                          <a:latin typeface="等线" panose="02010600030101010101" pitchFamily="2" charset="-122"/>
                          <a:ea typeface="等线" panose="02010600030101010101" pitchFamily="2" charset="-122"/>
                        </a:rPr>
                        <a:t/>
                      </a:r>
                      <a:r>
                        <a:rPr lang="en-US" sz="1050" b="0" i="0" u="none" strike="noStrike">
                          <a:solidFill>
                            <a:srgbClr val="000000"/>
                          </a:solidFill>
                          <a:effectLst/>
                          <a:latin typeface="等线" panose="02010600030101010101" pitchFamily="2" charset="-122"/>
                          <a:ea typeface="等线" panose="02010600030101010101" pitchFamily="2" charset="-122"/>
                        </a:rPr>
                        <a:t/>
                      </a:r>
                      <a:r>
                        <a:rPr lang="zh-CN" altLang="en-US" sz="1050" b="0" i="0" u="none" strike="noStrike">
                          <a:solidFill>
                            <a:srgbClr val="000000"/>
                          </a:solidFill>
                          <a:effectLst/>
                          <a:latin typeface="等线" panose="02010600030101010101" pitchFamily="2" charset="-122"/>
                          <a:ea typeface="等线" panose="02010600030101010101" pitchFamily="2" charset="-122"/>
                        </a:rPr>
                        <a:t/>
                      </a:r>
                      <a:r>
                        <a:rPr lang="en-US" sz="1050" b="0" i="0" u="none" strike="noStrike">
                          <a:solidFill>
                            <a:srgbClr val="000000"/>
                          </a:solidFill>
                          <a:effectLst/>
                          <a:latin typeface="等线" panose="02010600030101010101" pitchFamily="2" charset="-122"/>
                          <a:ea typeface="等线" panose="02010600030101010101" pitchFamily="2" charset="-122"/>
                        </a:rPr>
                        <a:t/>
                      </a:r>
                      <a:r>
                        <a:rPr lang="zh-CN" altLang="en-US" sz="1050" b="0" i="0" u="none" strike="noStrike">
                          <a:solidFill>
                            <a:srgbClr val="000000"/>
                          </a:solidFill>
                          <a:effectLst/>
                          <a:latin typeface="等线" panose="02010600030101010101" pitchFamily="2" charset="-122"/>
                          <a:ea typeface="等线" panose="02010600030101010101" pitchFamily="2" charset="-122"/>
                        </a:rPr>
                        <a:t/>
                      </a:r>
                      <a:r>
                        <a:rPr lang="en-US" sz="1050" b="0" i="0" u="none" strike="noStrike">
                          <a:solidFill>
                            <a:srgbClr val="000000"/>
                          </a:solidFill>
                          <a:effectLst/>
                          <a:latin typeface="等线" panose="02010600030101010101" pitchFamily="2" charset="-122"/>
                          <a:ea typeface="等线" panose="02010600030101010101" pitchFamily="2" charset="-122"/>
                        </a:rPr>
                        <a:t/>
                      </a:r>
                      <a:r>
                        <a:rPr lang="zh-CN" altLang="en-US" sz="1050" b="0" i="0" u="none" strike="noStrike">
                          <a:solidFill>
                            <a:srgbClr val="000000"/>
                          </a:solidFill>
                          <a:effectLst/>
                          <a:latin typeface="等线" panose="02010600030101010101" pitchFamily="2" charset="-122"/>
                          <a:ea typeface="等线" panose="02010600030101010101" pitchFamily="2" charset="-122"/>
                        </a:rPr>
                        <a:t/>
                      </a:r>
                      <a:r>
                        <a:rPr lang="en-US" altLang="zh-CN" sz="1050" b="0" i="0" u="none" strike="noStrike">
                          <a:solidFill>
                            <a:srgbClr val="000000"/>
                          </a:solidFill>
                          <a:effectLst/>
                          <a:latin typeface="等线" panose="02010600030101010101" pitchFamily="2" charset="-122"/>
                          <a:ea typeface="等线" panose="02010600030101010101" pitchFamily="2" charset="-122"/>
                        </a:rPr>
                        <a:t/>
                      </a:r>
                      <a:r>
                        <a:rPr lang="zh-CN" altLang="en-US" sz="1050" b="0" i="0" u="none" strike="noStrike">
                          <a:solidFill>
                            <a:srgbClr val="000000"/>
                          </a:solidFill>
                          <a:effectLst/>
                          <a:latin typeface="等线" panose="02010600030101010101" pitchFamily="2" charset="-122"/>
                          <a:ea typeface="等线" panose="02010600030101010101" pitchFamily="2" charset="-122"/>
                        </a:rPr>
                        <a:t/>
                      </a:r>
                      <a:r>
                        <a:rPr lang="en-US" altLang="zh-CN"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No.</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AAs</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Unit operation time (h)</a:t>
                      </a:r>
                      <a:br>
                        <a:rPr lang="en-US" sz="900" b="1" i="0" u="none" strike="noStrike">
                          <a:solidFill>
                            <a:srgbClr val="000000"/>
                          </a:solidFill>
                          <a:effectLst/>
                          <a:latin typeface="等线" panose="02010600030101010101" pitchFamily="2" charset="-122"/>
                          <a:ea typeface="等线" panose="02010600030101010101" pitchFamily="2" charset="-122"/>
                        </a:rPr>
                      </a:br>
                      <a:r>
                        <a:rPr lang="zh-CN" altLang="en-US" sz="900" b="1" i="0" u="none" strike="noStrike">
                          <a:solidFill>
                            <a:srgbClr val="000000"/>
                          </a:solidFill>
                          <a:effectLst/>
                          <a:latin typeface="等线" panose="02010600030101010101" pitchFamily="2" charset="-122"/>
                          <a:ea typeface="等线" panose="02010600030101010101" pitchFamily="2" charset="-122"/>
                        </a:rPr>
                        <a:t/>
                      </a:r>
                      <a:r>
                        <a:rPr lang="en-US" altLang="zh-CN" sz="900" b="1" i="0" u="none" strike="noStrike">
                          <a:solidFill>
                            <a:srgbClr val="000000"/>
                          </a:solidFill>
                          <a:effectLst/>
                          <a:latin typeface="等线" panose="02010600030101010101" pitchFamily="2" charset="-122"/>
                          <a:ea typeface="等线" panose="02010600030101010101" pitchFamily="2" charset="-122"/>
                        </a:rPr>
                        <a:t/>
                      </a:r>
                      <a:r>
                        <a:rPr lang="en-US" sz="90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Dispensing</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Unit operation time (h)</a:t>
                      </a:r>
                      <a:br>
                        <a:rPr lang="en-US" sz="900" b="1" i="0" u="none" strike="noStrike">
                          <a:solidFill>
                            <a:srgbClr val="000000"/>
                          </a:solidFill>
                          <a:effectLst/>
                          <a:latin typeface="等线" panose="02010600030101010101" pitchFamily="2" charset="-122"/>
                          <a:ea typeface="等线" panose="02010600030101010101" pitchFamily="2" charset="-122"/>
                        </a:rPr>
                      </a:br>
                      <a:r>
                        <a:rPr lang="zh-CN" altLang="en-US" sz="900" b="1" i="0" u="none" strike="noStrike">
                          <a:solidFill>
                            <a:srgbClr val="000000"/>
                          </a:solidFill>
                          <a:effectLst/>
                          <a:latin typeface="等线" panose="02010600030101010101" pitchFamily="2" charset="-122"/>
                          <a:ea typeface="等线" panose="02010600030101010101" pitchFamily="2" charset="-122"/>
                        </a:rPr>
                        <a:t/>
                      </a:r>
                      <a:r>
                        <a:rPr lang="en-US" altLang="zh-CN" sz="900" b="1" i="0" u="none" strike="noStrike">
                          <a:solidFill>
                            <a:srgbClr val="000000"/>
                          </a:solidFill>
                          <a:effectLst/>
                          <a:latin typeface="等线" panose="02010600030101010101" pitchFamily="2" charset="-122"/>
                          <a:ea typeface="等线" panose="02010600030101010101" pitchFamily="2" charset="-122"/>
                        </a:rPr>
                        <a:t/>
                      </a:r>
                      <a:r>
                        <a:rPr lang="en-US" sz="90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Dispensing</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Unit operation time (h)</a:t>
                      </a:r>
                      <a:br>
                        <a:rPr lang="en-US" sz="900" b="1" i="0" u="none" strike="noStrike">
                          <a:solidFill>
                            <a:srgbClr val="000000"/>
                          </a:solidFill>
                          <a:effectLst/>
                          <a:latin typeface="等线" panose="02010600030101010101" pitchFamily="2" charset="-122"/>
                          <a:ea typeface="等线" panose="02010600030101010101" pitchFamily="2" charset="-122"/>
                        </a:rPr>
                      </a:br>
                      <a:r>
                        <a:rPr lang="zh-CN" altLang="en-US" sz="900" b="1" i="0" u="none" strike="noStrike">
                          <a:solidFill>
                            <a:srgbClr val="000000"/>
                          </a:solidFill>
                          <a:effectLst/>
                          <a:latin typeface="等线" panose="02010600030101010101" pitchFamily="2" charset="-122"/>
                          <a:ea typeface="等线" panose="02010600030101010101" pitchFamily="2" charset="-122"/>
                        </a:rPr>
                        <a:t/>
                      </a:r>
                      <a:r>
                        <a:rPr lang="en-US" altLang="zh-CN" sz="900" b="1" i="0" u="none" strike="noStrike">
                          <a:solidFill>
                            <a:srgbClr val="000000"/>
                          </a:solidFill>
                          <a:effectLst/>
                          <a:latin typeface="等线" panose="02010600030101010101" pitchFamily="2" charset="-122"/>
                          <a:ea typeface="等线" panose="02010600030101010101" pitchFamily="2" charset="-122"/>
                        </a:rPr>
                        <a:t/>
                      </a:r>
                      <a:r>
                        <a:rPr lang="en-US" sz="90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63573402"/>
                  </a:ext>
                </a:extLst>
              </a:tr>
              <a:tr h="137183">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1</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 2-Chlorotrityl Chloride Resin</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2026/10/22 16:00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2026/10/22 20:00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3466587087"/>
                  </a:ext>
                </a:extLst>
              </a:tr>
              <a:tr h="137183">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Fmoc-Gly-OH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492600349"/>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 Thr(tBu)-OH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2026/10/22 22:00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PyBOP</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22:00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832073389"/>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Fmoc-L-Ala-OH·H</a:t>
                      </a:r>
                      <a:r>
                        <a:rPr lang="en-US" sz="1050" b="0" i="0" u="none" strike="noStrike" baseline="-25000">
                          <a:solidFill>
                            <a:srgbClr val="000000"/>
                          </a:solidFill>
                          <a:effectLst/>
                          <a:latin typeface="等线" panose="02010600030101010101" pitchFamily="2" charset="-122"/>
                          <a:ea typeface="等线" panose="02010600030101010101" pitchFamily="2" charset="-122"/>
                        </a:rPr>
                        <a:t>2</a:t>
                      </a:r>
                      <a:r>
                        <a:rPr lang="en-US" sz="1050" b="0" i="0" u="none" strike="noStrike">
                          <a:solidFill>
                            <a:srgbClr val="000000"/>
                          </a:solidFill>
                          <a:effectLst/>
                          <a:latin typeface="等线" panose="02010600030101010101" pitchFamily="2" charset="-122"/>
                          <a:ea typeface="等线" panose="02010600030101010101" pitchFamily="2" charset="-122"/>
                        </a:rPr>
                        <a:t>O</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057194537"/>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 Cys(Trt)-OH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695346609"/>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6</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 Thr(tBu)-OH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10:00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12:00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4251112626"/>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7</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Fmoc-L-Ala-OH·H</a:t>
                      </a:r>
                      <a:r>
                        <a:rPr lang="en-US" sz="1050" b="0" i="0" u="none" strike="noStrike" baseline="-25000">
                          <a:solidFill>
                            <a:srgbClr val="000000"/>
                          </a:solidFill>
                          <a:effectLst/>
                          <a:latin typeface="等线" panose="02010600030101010101" pitchFamily="2" charset="-122"/>
                          <a:ea typeface="等线" panose="02010600030101010101" pitchFamily="2" charset="-122"/>
                        </a:rPr>
                        <a:t>2</a:t>
                      </a:r>
                      <a:r>
                        <a:rPr lang="en-US" sz="1050" b="0" i="0" u="none" strike="noStrike">
                          <a:solidFill>
                            <a:srgbClr val="000000"/>
                          </a:solidFill>
                          <a:effectLst/>
                          <a:latin typeface="等线" panose="02010600030101010101" pitchFamily="2" charset="-122"/>
                          <a:ea typeface="等线" panose="02010600030101010101" pitchFamily="2" charset="-122"/>
                        </a:rPr>
                        <a:t>O</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16:00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3343083953"/>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8</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 Thr(tBu)-OH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22:00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505196137"/>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9</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Fmoc-L-Asn(Trt)-OH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20:00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184746541"/>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10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Fmoc-L- Cys(Trt)-OH</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429943740"/>
                  </a:ext>
                </a:extLst>
              </a:tr>
              <a:tr h="263587">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11</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Boc-L-Glu-OtBu</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Oxyma</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20:00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22:00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PyBOP</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2026/10/23 22:00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060056250"/>
                  </a:ext>
                </a:extLst>
              </a:tr>
              <a:tr h="137183">
                <a:tc v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12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sz="1050" b="0" i="0" u="none" strike="noStrike">
                          <a:solidFill>
                            <a:srgbClr val="000000"/>
                          </a:solidFill>
                          <a:effectLst/>
                          <a:latin typeface="等线" panose="02010600030101010101" pitchFamily="2" charset="-122"/>
                          <a:ea typeface="等线" panose="02010600030101010101" pitchFamily="2" charset="-122"/>
                        </a:rPr>
                        <a:t>Iodine</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2026/10/27 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2026/10/27 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a:noFill/>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634702898"/>
                  </a:ext>
                </a:extLst>
              </a:tr>
              <a:tr h="137183">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ctr"/>
                      <a:r>
                        <a:rPr lang="zh-CN" altLang="en-US" sz="1050" b="0" i="0" u="none" strike="noStrike">
                          <a:solidFill>
                            <a:srgbClr val="000000"/>
                          </a:solidFill>
                          <a:effectLst/>
                          <a:latin typeface="Calibri" panose="020F0502020204030204" pitchFamily="34" charset="0"/>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913292223"/>
                  </a:ext>
                </a:extLst>
              </a:tr>
              <a:tr h="137183">
                <a:tc rowSpan="6">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1. Fmoc-Gly-OH coupling cycle</a:t>
                      </a:r>
                      <a:r>
                        <a:rPr lang="zh-CN" altLang="en-US" sz="1050" b="0" i="0" u="none" strike="noStrike">
                          <a:solidFill>
                            <a:srgbClr val="000000"/>
                          </a:solidFill>
                          <a:effectLst/>
                          <a:latin typeface="等线" panose="02010600030101010101" pitchFamily="2" charset="-122"/>
                          <a:ea typeface="等线" panose="02010600030101010101" pitchFamily="2" charset="-122"/>
                        </a:rPr>
                        <a:t/>
                      </a:r>
                      <a:r>
                        <a:rPr lang="en-US" altLang="zh-CN" sz="1050" b="0" i="0" u="none" strike="noStrike">
                          <a:solidFill>
                            <a:srgbClr val="000000"/>
                          </a:solidFill>
                          <a:effectLst/>
                          <a:latin typeface="等线" panose="02010600030101010101" pitchFamily="2" charset="-122"/>
                          <a:ea typeface="等线" panose="02010600030101010101" pitchFamily="2" charset="-122"/>
                        </a:rPr>
                        <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a:noFill/>
                    </a:lnB>
                  </a:tcPr>
                </a:tc>
                <a:tc gridSpan="20">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Gly</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741788619"/>
                  </a:ext>
                </a:extLst>
              </a:tr>
              <a:tr h="137183">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Unit operation</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Pre-treatment</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Charge resin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Swelling &amp; wash</a:t>
                      </a:r>
                      <a:r>
                        <a:rPr lang="zh-CN" altLang="en-US" sz="1050" b="1" i="0" u="none" strike="noStrike">
                          <a:solidFill>
                            <a:srgbClr val="000000"/>
                          </a:solidFill>
                          <a:effectLst/>
                          <a:latin typeface="等线" panose="02010600030101010101" pitchFamily="2" charset="-122"/>
                          <a:ea typeface="等线" panose="02010600030101010101" pitchFamily="2" charset="-122"/>
                        </a:rPr>
                        <a:t/>
                      </a:r>
                      <a:r>
                        <a:rPr lang="en-US" altLang="zh-CN" sz="1050" b="1" i="0" u="none" strike="noStrike">
                          <a:solidFill>
                            <a:srgbClr val="000000"/>
                          </a:solidFill>
                          <a:effectLst/>
                          <a:latin typeface="等线" panose="02010600030101010101" pitchFamily="2" charset="-122"/>
                          <a:ea typeface="等线" panose="02010600030101010101" pitchFamily="2" charset="-122"/>
                        </a:rPr>
                        <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Charge amino acid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Activation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Coupling</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DMF wash</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Capping</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DMF wash</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extLst>
                  <a:ext uri="{0D108BD9-81ED-4DB2-BD59-A6C34878D82A}">
                    <a16:rowId xmlns:a16="http://schemas.microsoft.com/office/drawing/2014/main" val="940090965"/>
                  </a:ext>
                </a:extLst>
              </a:tr>
              <a:tr h="137183">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Time</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extLst>
                  <a:ext uri="{0D108BD9-81ED-4DB2-BD59-A6C34878D82A}">
                    <a16:rowId xmlns:a16="http://schemas.microsoft.com/office/drawing/2014/main" val="1558876665"/>
                  </a:ext>
                </a:extLst>
              </a:tr>
              <a:tr h="263587">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Synthesizer</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19:00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19:30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23:30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23:30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2:00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5:00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5:00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7:30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4263170083"/>
                  </a:ext>
                </a:extLst>
              </a:tr>
              <a:tr h="137183">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Activation reactor</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16:00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2026/10/24 19:30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753691276"/>
                  </a:ext>
                </a:extLst>
              </a:tr>
              <a:tr h="137183">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Unit operation time (h)</a:t>
                      </a:r>
                      <a:r>
                        <a:rPr lang="zh-CN" altLang="en-US" sz="1050" b="0" i="0" u="none" strike="noStrike">
                          <a:solidFill>
                            <a:srgbClr val="000000"/>
                          </a:solidFill>
                          <a:effectLst/>
                          <a:latin typeface="等线" panose="02010600030101010101" pitchFamily="2" charset="-122"/>
                          <a:ea typeface="等线" panose="02010600030101010101" pitchFamily="2" charset="-122"/>
                        </a:rPr>
                        <a:t/>
                      </a:r>
                      <a:r>
                        <a:rPr lang="en-US" altLang="zh-CN" sz="1050" b="0" i="0" u="none" strike="noStrike">
                          <a:solidFill>
                            <a:srgbClr val="000000"/>
                          </a:solidFill>
                          <a:effectLst/>
                          <a:latin typeface="等线" panose="02010600030101010101" pitchFamily="2" charset="-122"/>
                          <a:ea typeface="等线" panose="02010600030101010101" pitchFamily="2" charset="-122"/>
                        </a:rPr>
                        <a:t/>
                      </a:r>
                      <a:r>
                        <a:rPr 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6</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1.5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4075490011"/>
                  </a:ext>
                </a:extLst>
              </a:tr>
              <a:tr h="137183">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w="6350" cap="flat" cmpd="sng" algn="ctr">
                      <a:solidFill>
                        <a:srgbClr val="000000"/>
                      </a:solidFill>
                      <a:prstDash val="dot"/>
                      <a:round/>
                      <a:headEnd type="none" w="med" len="med"/>
                      <a:tailEnd type="none" w="med" len="med"/>
                    </a:lnR>
                    <a:lnT>
                      <a:noFill/>
                    </a:lnT>
                    <a:lnB>
                      <a:noFill/>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w="6350" cap="flat" cmpd="sng" algn="ctr">
                      <a:solidFill>
                        <a:srgbClr val="000000"/>
                      </a:solidFill>
                      <a:prstDash val="dot"/>
                      <a:round/>
                      <a:headEnd type="none" w="med" len="med"/>
                      <a:tailEnd type="none" w="med" len="med"/>
                    </a:lnT>
                    <a:lnB>
                      <a:noFill/>
                    </a:lnB>
                  </a:tcPr>
                </a:tc>
                <a:extLst>
                  <a:ext uri="{0D108BD9-81ED-4DB2-BD59-A6C34878D82A}">
                    <a16:rowId xmlns:a16="http://schemas.microsoft.com/office/drawing/2014/main" val="3469250253"/>
                  </a:ext>
                </a:extLst>
              </a:tr>
              <a:tr h="137183">
                <a:tc rowSpan="6">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2. Fmoc-L-Thr(tBu)-OH coupling cycle</a:t>
                      </a:r>
                      <a:r>
                        <a:rPr lang="zh-CN" altLang="en-US" sz="1050" b="0" i="0" u="none" strike="noStrike">
                          <a:solidFill>
                            <a:srgbClr val="000000"/>
                          </a:solidFill>
                          <a:effectLst/>
                          <a:latin typeface="等线" panose="02010600030101010101" pitchFamily="2" charset="-122"/>
                          <a:ea typeface="等线" panose="02010600030101010101" pitchFamily="2" charset="-122"/>
                        </a:rPr>
                        <a:t/>
                      </a:r>
                      <a:r>
                        <a:rPr lang="en-US" altLang="zh-CN" sz="1050" b="0" i="0" u="none" strike="noStrike">
                          <a:solidFill>
                            <a:srgbClr val="000000"/>
                          </a:solidFill>
                          <a:effectLst/>
                          <a:latin typeface="等线" panose="02010600030101010101" pitchFamily="2" charset="-122"/>
                          <a:ea typeface="等线" panose="02010600030101010101" pitchFamily="2" charset="-122"/>
                        </a:rPr>
                        <a:t/>
                      </a:r>
                      <a:r>
                        <a:rPr lang="zh-CN" altLang="en-US" sz="1050" b="0" i="0" u="none" strike="noStrike">
                          <a:solidFill>
                            <a:srgbClr val="000000"/>
                          </a:solidFill>
                          <a:effectLst/>
                          <a:latin typeface="等线" panose="02010600030101010101" pitchFamily="2" charset="-122"/>
                          <a:ea typeface="等线" panose="02010600030101010101" pitchFamily="2" charset="-122"/>
                        </a:rPr>
                        <a:t/>
                      </a:r>
                      <a:r>
                        <a:rPr lang="en-US" altLang="zh-CN" sz="1050" b="0" i="0" u="none" strike="noStrike">
                          <a:solidFill>
                            <a:srgbClr val="000000"/>
                          </a:solidFill>
                          <a:effectLst/>
                          <a:latin typeface="等线" panose="02010600030101010101" pitchFamily="2" charset="-122"/>
                          <a:ea typeface="等线" panose="02010600030101010101" pitchFamily="2" charset="-122"/>
                        </a:rPr>
                        <a:t/>
                      </a:r>
                      <a:r>
                        <a:rPr lang="en-US" sz="1050" b="0" i="0" u="none" strike="noStrike">
                          <a:solidFill>
                            <a:srgbClr val="000000"/>
                          </a:solidFill>
                          <a:effectLst/>
                          <a:latin typeface="等线" panose="02010600030101010101" pitchFamily="2" charset="-122"/>
                          <a:ea typeface="等线" panose="02010600030101010101" pitchFamily="2" charset="-122"/>
                        </a:rPr>
                        <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a:noFill/>
                    </a:lnL>
                    <a:lnR w="6350" cap="flat" cmpd="sng" algn="ctr">
                      <a:solidFill>
                        <a:srgbClr val="000000"/>
                      </a:solidFill>
                      <a:prstDash val="dot"/>
                      <a:round/>
                      <a:headEnd type="none" w="med" len="med"/>
                      <a:tailEnd type="none" w="med" len="med"/>
                    </a:lnR>
                    <a:lnT>
                      <a:noFill/>
                    </a:lnT>
                    <a:lnB>
                      <a:noFill/>
                    </a:lnB>
                  </a:tcPr>
                </a:tc>
                <a:tc gridSpan="16">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Thr</a:t>
                      </a: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807892286"/>
                  </a:ext>
                </a:extLst>
              </a:tr>
              <a:tr h="269467">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Unit operation</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Fmoc removal</a:t>
                      </a:r>
                      <a:r>
                        <a:rPr lang="zh-CN" altLang="en-US" sz="1050" b="1" i="0" u="none" strike="noStrike">
                          <a:solidFill>
                            <a:srgbClr val="000000"/>
                          </a:solidFill>
                          <a:effectLst/>
                          <a:latin typeface="等线" panose="02010600030101010101" pitchFamily="2" charset="-122"/>
                          <a:ea typeface="等线" panose="02010600030101010101" pitchFamily="2" charset="-122"/>
                        </a:rPr>
                        <a:t/>
                      </a:r>
                      <a:r>
                        <a:rPr 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IPAC wash</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DMF wash</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Charge AA &amp; Oxyma</a:t>
                      </a:r>
                      <a:br>
                        <a:rPr lang="en-US" sz="1050" b="1" i="0" u="none" strike="noStrike">
                          <a:solidFill>
                            <a:srgbClr val="000000"/>
                          </a:solidFill>
                          <a:effectLst/>
                          <a:latin typeface="等线" panose="02010600030101010101" pitchFamily="2" charset="-122"/>
                          <a:ea typeface="等线" panose="02010600030101010101" pitchFamily="2" charset="-122"/>
                        </a:rPr>
                      </a:br>
                      <a:r>
                        <a:rPr lang="zh-CN" altLang="en-US" sz="1050" b="1" i="0" u="none" strike="noStrike">
                          <a:solidFill>
                            <a:srgbClr val="000000"/>
                          </a:solidFill>
                          <a:effectLst/>
                          <a:latin typeface="等线" panose="02010600030101010101" pitchFamily="2" charset="-122"/>
                          <a:ea typeface="等线" panose="02010600030101010101" pitchFamily="2" charset="-122"/>
                        </a:rPr>
                        <a:t/>
                      </a:r>
                      <a:r>
                        <a:rPr lang="en-US" sz="1050" b="1" i="0" u="none" strike="noStrike">
                          <a:solidFill>
                            <a:srgbClr val="000000"/>
                          </a:solidFill>
                          <a:effectLst/>
                          <a:latin typeface="等线" panose="02010600030101010101" pitchFamily="2" charset="-122"/>
                          <a:ea typeface="等线" panose="02010600030101010101" pitchFamily="2" charset="-122"/>
                        </a:rPr>
                        <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Activation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Coupling</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DMF wash</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974135626"/>
                  </a:ext>
                </a:extLst>
              </a:tr>
              <a:tr h="137183">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Time</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055268491"/>
                  </a:ext>
                </a:extLst>
              </a:tr>
              <a:tr h="263587">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Synthesizer</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7:30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11:00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11:00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14:30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14:30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16:30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18:30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22:30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22:30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a:noFill/>
                    </a:lnT>
                    <a:lnB>
                      <a:noFill/>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a:noFill/>
                    </a:lnT>
                    <a:lnB>
                      <a:noFill/>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a:noFill/>
                    </a:lnT>
                    <a:lnB>
                      <a:noFill/>
                    </a:lnB>
                    <a:solidFill>
                      <a:srgbClr val="FFFFFF"/>
                    </a:solidFill>
                  </a:tcPr>
                </a:tc>
                <a:extLst>
                  <a:ext uri="{0D108BD9-81ED-4DB2-BD59-A6C34878D82A}">
                    <a16:rowId xmlns:a16="http://schemas.microsoft.com/office/drawing/2014/main" val="1052754783"/>
                  </a:ext>
                </a:extLst>
              </a:tr>
              <a:tr h="137183">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Activation reactor</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11:00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14:00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16:30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2026/10/25 18:30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052074382"/>
                  </a:ext>
                </a:extLst>
              </a:tr>
              <a:tr h="137183">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Unit operation time (h)</a:t>
                      </a:r>
                      <a:r>
                        <a:rPr lang="zh-CN" altLang="en-US" sz="1050" b="0" i="0" u="none" strike="noStrike">
                          <a:solidFill>
                            <a:srgbClr val="000000"/>
                          </a:solidFill>
                          <a:effectLst/>
                          <a:latin typeface="等线" panose="02010600030101010101" pitchFamily="2" charset="-122"/>
                          <a:ea typeface="等线" panose="02010600030101010101" pitchFamily="2" charset="-122"/>
                        </a:rPr>
                        <a:t/>
                      </a:r>
                      <a:r>
                        <a:rPr lang="en-US" altLang="zh-CN" sz="1050" b="0" i="0" u="none" strike="noStrike">
                          <a:solidFill>
                            <a:srgbClr val="000000"/>
                          </a:solidFill>
                          <a:effectLst/>
                          <a:latin typeface="等线" panose="02010600030101010101" pitchFamily="2" charset="-122"/>
                          <a:ea typeface="等线" panose="02010600030101010101" pitchFamily="2" charset="-122"/>
                        </a:rPr>
                        <a:t/>
                      </a:r>
                      <a:r>
                        <a:rPr 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155040505"/>
                  </a:ext>
                </a:extLst>
              </a:tr>
              <a:tr h="137183">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w="6350" cap="flat" cmpd="sng" algn="ctr">
                      <a:solidFill>
                        <a:srgbClr val="000000"/>
                      </a:solidFill>
                      <a:prstDash val="dot"/>
                      <a:round/>
                      <a:headEnd type="none" w="med" len="med"/>
                      <a:tailEnd type="none" w="med" len="med"/>
                    </a:lnR>
                    <a:lnT>
                      <a:noFill/>
                    </a:lnT>
                    <a:lnB>
                      <a:noFill/>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3752393126"/>
                  </a:ext>
                </a:extLst>
              </a:tr>
              <a:tr h="137183">
                <a:tc rowSpan="6">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3. Fmoc-L-Ala-OH·H2O coupling cycle</a:t>
                      </a:r>
                      <a:r>
                        <a:rPr lang="en-US" sz="1050" b="0" i="0" u="none" strike="noStrike" baseline="-25000">
                          <a:solidFill>
                            <a:srgbClr val="000000"/>
                          </a:solidFill>
                          <a:effectLst/>
                          <a:latin typeface="等线" panose="02010600030101010101" pitchFamily="2" charset="-122"/>
                          <a:ea typeface="等线" panose="02010600030101010101" pitchFamily="2" charset="-122"/>
                        </a:rPr>
                        <a:t/>
                      </a:r>
                      <a:r>
                        <a:rPr lang="en-US" sz="1050" b="0" i="0" u="none" strike="noStrike">
                          <a:solidFill>
                            <a:srgbClr val="000000"/>
                          </a:solidFill>
                          <a:effectLst/>
                          <a:latin typeface="等线" panose="02010600030101010101" pitchFamily="2" charset="-122"/>
                          <a:ea typeface="等线" panose="02010600030101010101" pitchFamily="2" charset="-122"/>
                        </a:rPr>
                        <a:t/>
                      </a:r>
                      <a:r>
                        <a:rPr lang="zh-CN" altLang="en-US" sz="1050" b="0" i="0" u="none" strike="noStrike">
                          <a:solidFill>
                            <a:srgbClr val="000000"/>
                          </a:solidFill>
                          <a:effectLst/>
                          <a:latin typeface="等线" panose="02010600030101010101" pitchFamily="2" charset="-122"/>
                          <a:ea typeface="等线" panose="02010600030101010101" pitchFamily="2" charset="-122"/>
                        </a:rPr>
                        <a:t/>
                      </a:r>
                      <a:r>
                        <a:rPr lang="en-US" altLang="zh-CN" sz="1050" b="0" i="0" u="none" strike="noStrike">
                          <a:solidFill>
                            <a:srgbClr val="000000"/>
                          </a:solidFill>
                          <a:effectLst/>
                          <a:latin typeface="等线" panose="02010600030101010101" pitchFamily="2" charset="-122"/>
                          <a:ea typeface="等线" panose="02010600030101010101" pitchFamily="2" charset="-122"/>
                        </a:rPr>
                        <a:t/>
                      </a:r>
                      <a:r>
                        <a:rPr lang="en-US" sz="1050" b="0" i="0" u="none" strike="noStrike">
                          <a:solidFill>
                            <a:srgbClr val="000000"/>
                          </a:solidFill>
                          <a:effectLst/>
                          <a:latin typeface="等线" panose="02010600030101010101" pitchFamily="2" charset="-122"/>
                          <a:ea typeface="等线" panose="02010600030101010101" pitchFamily="2" charset="-122"/>
                        </a:rPr>
                        <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a:noFill/>
                    </a:lnL>
                    <a:lnR w="6350" cap="flat" cmpd="sng" algn="ctr">
                      <a:solidFill>
                        <a:srgbClr val="000000"/>
                      </a:solidFill>
                      <a:prstDash val="dot"/>
                      <a:round/>
                      <a:headEnd type="none" w="med" len="med"/>
                      <a:tailEnd type="none" w="med" len="med"/>
                    </a:lnR>
                    <a:lnT>
                      <a:noFill/>
                    </a:lnT>
                    <a:lnB>
                      <a:noFill/>
                    </a:lnB>
                  </a:tcPr>
                </a:tc>
                <a:tc gridSpan="16">
                  <a:txBody>
                    <a:bodyPr/>
                    <a:lstStyle/>
                    <a:p>
                      <a:pPr algn="ctr" fontAlgn="ctr"/>
                      <a:r>
                        <a:rPr lang="en-US" sz="1050" b="1" i="0" u="none" strike="noStrike">
                          <a:solidFill>
                            <a:srgbClr val="000000"/>
                          </a:solidFill>
                          <a:effectLst/>
                          <a:latin typeface="等线" panose="02010600030101010101" pitchFamily="2" charset="-122"/>
                          <a:ea typeface="等线" panose="02010600030101010101" pitchFamily="2" charset="-122"/>
                        </a:rPr>
                        <a:t>Ala</a:t>
                      </a: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415915910"/>
                  </a:ext>
                </a:extLst>
              </a:tr>
              <a:tr h="303762">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Unit operation</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Fmoc removal</a:t>
                      </a:r>
                      <a:r>
                        <a:rPr lang="zh-CN" altLang="en-US" sz="1050" b="1" i="0" u="none" strike="noStrike">
                          <a:solidFill>
                            <a:srgbClr val="000000"/>
                          </a:solidFill>
                          <a:effectLst/>
                          <a:latin typeface="等线" panose="02010600030101010101" pitchFamily="2" charset="-122"/>
                          <a:ea typeface="等线" panose="02010600030101010101" pitchFamily="2" charset="-122"/>
                        </a:rPr>
                        <a:t/>
                      </a:r>
                      <a:r>
                        <a:rPr 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IPAC wash</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DMF wash</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Charge AA &amp; Oxyma</a:t>
                      </a:r>
                      <a:br>
                        <a:rPr lang="en-US" sz="1050" b="1" i="0" u="none" strike="noStrike">
                          <a:solidFill>
                            <a:srgbClr val="000000"/>
                          </a:solidFill>
                          <a:effectLst/>
                          <a:latin typeface="等线" panose="02010600030101010101" pitchFamily="2" charset="-122"/>
                          <a:ea typeface="等线" panose="02010600030101010101" pitchFamily="2" charset="-122"/>
                        </a:rPr>
                      </a:br>
                      <a:r>
                        <a:rPr lang="zh-CN" altLang="en-US" sz="1050" b="1" i="0" u="none" strike="noStrike">
                          <a:solidFill>
                            <a:srgbClr val="000000"/>
                          </a:solidFill>
                          <a:effectLst/>
                          <a:latin typeface="等线" panose="02010600030101010101" pitchFamily="2" charset="-122"/>
                          <a:ea typeface="等线" panose="02010600030101010101" pitchFamily="2" charset="-122"/>
                        </a:rPr>
                        <a:t/>
                      </a:r>
                      <a:r>
                        <a:rPr lang="en-US" sz="1050" b="1" i="0" u="none" strike="noStrike">
                          <a:solidFill>
                            <a:srgbClr val="000000"/>
                          </a:solidFill>
                          <a:effectLst/>
                          <a:latin typeface="等线" panose="02010600030101010101" pitchFamily="2" charset="-122"/>
                          <a:ea typeface="等线" panose="02010600030101010101" pitchFamily="2" charset="-122"/>
                        </a:rPr>
                        <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Activation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Coupling</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gridSpan="2">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DMF wash</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hMerge="1">
                  <a:txBody>
                    <a:bodyPr/>
                    <a:lstStyle/>
                    <a:p>
                      <a:endParaRPr lang="zh-CN" altLang="en-US"/>
                    </a:p>
                  </a:txBody>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3316954825"/>
                  </a:ext>
                </a:extLst>
              </a:tr>
              <a:tr h="137183">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Time</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Begin</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r>
                        <a:rPr lang="en-US" sz="1000" b="1" i="0" u="none" strike="noStrike">
                          <a:solidFill>
                            <a:srgbClr val="000000"/>
                          </a:solidFill>
                          <a:effectLst/>
                          <a:latin typeface="微软雅黑" panose="02010600030101010101" pitchFamily="2" charset="-122"/>
                          <a:ea typeface="微软雅黑" panose="02010600030101010101" pitchFamily="2" charset="-122"/>
                        </a:rPr>
                        <a:t>End</a:t>
                      </a:r>
                      <a:r>
                        <a:rPr lang="zh-CN" altLang="en-US" sz="1050" b="1"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EEAF6"/>
                    </a:solidFill>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163157485"/>
                  </a:ext>
                </a:extLst>
              </a:tr>
              <a:tr h="263587">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Synthesizer</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endParaRPr lang="zh-CN" altLang="en-US"/>
                    </a:p>
                  </a:txBody>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4:30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4:30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11:30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15:30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15:30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18:00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a:noFill/>
                    </a:lnT>
                    <a:lnB>
                      <a:noFill/>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a:noFill/>
                    </a:lnT>
                    <a:lnB>
                      <a:noFill/>
                    </a:lnB>
                    <a:solidFill>
                      <a:srgbClr val="FFFFFF"/>
                    </a:solidFill>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a:noFill/>
                    </a:lnT>
                    <a:lnB>
                      <a:noFill/>
                    </a:lnB>
                    <a:solidFill>
                      <a:srgbClr val="FFFFFF"/>
                    </a:solidFill>
                  </a:tcPr>
                </a:tc>
                <a:extLst>
                  <a:ext uri="{0D108BD9-81ED-4DB2-BD59-A6C34878D82A}">
                    <a16:rowId xmlns:a16="http://schemas.microsoft.com/office/drawing/2014/main" val="802625811"/>
                  </a:ext>
                </a:extLst>
              </a:tr>
              <a:tr h="137183">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Activation reactor</a:t>
                      </a:r>
                      <a:r>
                        <a:rPr lang="zh-CN" alt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4:30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6:30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10:00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2026/10/26 11:30</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3209172126"/>
                  </a:ext>
                </a:extLst>
              </a:tr>
              <a:tr h="137183">
                <a:tc vMerge="1">
                  <a:txBody>
                    <a:bodyPr/>
                    <a:lstStyle/>
                    <a:p>
                      <a:endParaRPr lang="zh-CN" altLang="en-US"/>
                    </a:p>
                  </a:txBody>
                  <a:tcPr/>
                </a:tc>
                <a:tc gridSpan="2">
                  <a:txBody>
                    <a:bodyPr/>
                    <a:lstStyle/>
                    <a:p>
                      <a:pPr algn="ctr" fontAlgn="ctr"/>
                      <a:r>
                        <a:rPr lang="en-US" sz="1000" b="0" i="0" u="none" strike="noStrike">
                          <a:solidFill>
                            <a:srgbClr val="000000"/>
                          </a:solidFill>
                          <a:effectLst/>
                          <a:latin typeface="微软雅黑" panose="02010600030101010101" pitchFamily="2" charset="-122"/>
                          <a:ea typeface="微软雅黑" panose="02010600030101010101" pitchFamily="2" charset="-122"/>
                        </a:rPr>
                        <a:t>Unit operation time (h)</a:t>
                      </a:r>
                      <a:r>
                        <a:rPr lang="zh-CN" altLang="en-US" sz="1050" b="0" i="0" u="none" strike="noStrike">
                          <a:solidFill>
                            <a:srgbClr val="000000"/>
                          </a:solidFill>
                          <a:effectLst/>
                          <a:latin typeface="等线" panose="02010600030101010101" pitchFamily="2" charset="-122"/>
                          <a:ea typeface="等线" panose="02010600030101010101" pitchFamily="2" charset="-122"/>
                        </a:rPr>
                        <a:t/>
                      </a:r>
                      <a:r>
                        <a:rPr lang="en-US" altLang="zh-CN" sz="1050" b="0" i="0" u="none" strike="noStrike">
                          <a:solidFill>
                            <a:srgbClr val="000000"/>
                          </a:solidFill>
                          <a:effectLst/>
                          <a:latin typeface="等线" panose="02010600030101010101" pitchFamily="2" charset="-122"/>
                          <a:ea typeface="等线" panose="02010600030101010101" pitchFamily="2" charset="-122"/>
                        </a:rPr>
                        <a:t/>
                      </a:r>
                      <a:r>
                        <a:rPr lang="en-US" sz="1050" b="0" i="0" u="none" strike="noStrike">
                          <a:solidFill>
                            <a:srgbClr val="000000"/>
                          </a:solidFill>
                          <a:effectLst/>
                          <a:latin typeface="等线" panose="02010600030101010101" pitchFamily="2" charset="-122"/>
                          <a:ea typeface="等线" panose="02010600030101010101" pitchFamily="2" charset="-122"/>
                        </a:rPr>
                        <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3.5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1.5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4</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gridSpan="2">
                  <a:txBody>
                    <a:bodyPr/>
                    <a:lstStyle/>
                    <a:p>
                      <a:pPr algn="ctr" fontAlgn="ctr"/>
                      <a:r>
                        <a:rPr lang="en-US" altLang="zh-CN" sz="1050" b="0" i="0" u="none" strike="noStrike">
                          <a:solidFill>
                            <a:srgbClr val="000000"/>
                          </a:solidFill>
                          <a:effectLst/>
                          <a:latin typeface="等线" panose="02010600030101010101" pitchFamily="2" charset="-122"/>
                          <a:ea typeface="等线" panose="02010600030101010101" pitchFamily="2" charset="-122"/>
                        </a:rPr>
                        <a:t>2.5</a:t>
                      </a:r>
                    </a:p>
                  </a:txBody>
                  <a:tcPr marL="4899" marR="4899" marT="4899"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zh-CN" altLang="en-US"/>
                    </a:p>
                  </a:txBody>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w="6350" cap="flat" cmpd="sng" algn="ctr">
                      <a:solidFill>
                        <a:srgbClr val="000000"/>
                      </a:solidFill>
                      <a:prstDash val="dot"/>
                      <a:round/>
                      <a:headEnd type="none" w="med" len="med"/>
                      <a:tailEnd type="none" w="med" len="med"/>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1644896246"/>
                  </a:ext>
                </a:extLst>
              </a:tr>
              <a:tr h="137183">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w="6350" cap="flat" cmpd="sng" algn="ctr">
                      <a:solidFill>
                        <a:srgbClr val="000000"/>
                      </a:solidFill>
                      <a:prstDash val="dot"/>
                      <a:round/>
                      <a:headEnd type="none" w="med" len="med"/>
                      <a:tailEnd type="none" w="med" len="med"/>
                    </a:lnR>
                    <a:lnT>
                      <a:noFill/>
                    </a:lnT>
                    <a:lnB>
                      <a:noFill/>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050" b="0" i="0" u="none" strike="noStrike">
                          <a:solidFill>
                            <a:srgbClr val="000000"/>
                          </a:solidFill>
                          <a:effectLst/>
                          <a:latin typeface="等线" panose="02010600030101010101" pitchFamily="2" charset="-122"/>
                          <a:ea typeface="等线" panose="02010600030101010101" pitchFamily="2" charset="-122"/>
                        </a:rPr>
                        <a:t>　</a:t>
                      </a:r>
                    </a:p>
                  </a:txBody>
                  <a:tcPr marL="4899" marR="4899" marT="4899"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tc>
                  <a:txBody>
                    <a:bodyPr/>
                    <a:lstStyle/>
                    <a:p>
                      <a:pPr algn="ctr" fontAlgn="ctr"/>
                      <a:endParaRPr lang="zh-CN" altLang="en-US" sz="1050" b="0" i="0" u="none" strike="noStrike" dirty="0">
                        <a:solidFill>
                          <a:srgbClr val="000000"/>
                        </a:solidFill>
                        <a:effectLst/>
                        <a:latin typeface="等线" panose="02010600030101010101" pitchFamily="2" charset="-122"/>
                        <a:ea typeface="等线" panose="02010600030101010101" pitchFamily="2" charset="-122"/>
                      </a:endParaRPr>
                    </a:p>
                  </a:txBody>
                  <a:tcPr marL="4899" marR="4899" marT="4899" marB="0" anchor="ctr">
                    <a:lnL>
                      <a:noFill/>
                    </a:lnL>
                    <a:lnR>
                      <a:noFill/>
                    </a:lnR>
                    <a:lnT>
                      <a:noFill/>
                    </a:lnT>
                    <a:lnB>
                      <a:noFill/>
                    </a:lnB>
                  </a:tcPr>
                </a:tc>
                <a:extLst>
                  <a:ext uri="{0D108BD9-81ED-4DB2-BD59-A6C34878D82A}">
                    <a16:rowId xmlns:a16="http://schemas.microsoft.com/office/drawing/2014/main" val="2278434117"/>
                  </a:ext>
                </a:extLst>
              </a:tr>
            </a:tbl>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863258640"/>
              </p:ext>
            </p:extLst>
          </p:nvPr>
        </p:nvGraphicFramePr>
        <p:xfrm>
          <a:off x="21786846" y="11258550"/>
          <a:ext cx="1911354" cy="2176820"/>
        </p:xfrm>
        <a:graphic>
          <a:graphicData uri="http://schemas.openxmlformats.org/presentationml/2006/ole">
            <mc:AlternateContent xmlns:mc="http://schemas.openxmlformats.org/markup-compatibility/2006">
              <mc:Choice xmlns:v="urn:schemas-microsoft-com:vml" Requires="v">
                <p:oleObj spid="_x0000_s1028" name="工作表" showAsIcon="1" r:id="rId3" imgW="914400" imgH="787320" progId="Excel.Sheet.12">
                  <p:embed/>
                </p:oleObj>
              </mc:Choice>
              <mc:Fallback>
                <p:oleObj name="工作表" showAsIcon="1" r:id="rId3" imgW="914400" imgH="787320" progId="Excel.Sheet.12">
                  <p:embed/>
                  <p:pic>
                    <p:nvPicPr>
                      <p:cNvPr id="0" name=""/>
                      <p:cNvPicPr/>
                      <p:nvPr/>
                    </p:nvPicPr>
                    <p:blipFill>
                      <a:blip r:embed="rId4"/>
                      <a:stretch>
                        <a:fillRect/>
                      </a:stretch>
                    </p:blipFill>
                    <p:spPr>
                      <a:xfrm>
                        <a:off x="21786846" y="11258550"/>
                        <a:ext cx="1911354" cy="2176820"/>
                      </a:xfrm>
                      <a:prstGeom prst="rect">
                        <a:avLst/>
                      </a:prstGeom>
                    </p:spPr>
                  </p:pic>
                </p:oleObj>
              </mc:Fallback>
            </mc:AlternateContent>
          </a:graphicData>
        </a:graphic>
      </p:graphicFrame>
    </p:spTree>
    <p:extLst>
      <p:ext uri="{BB962C8B-B14F-4D97-AF65-F5344CB8AC3E}">
        <p14:creationId xmlns:p14="http://schemas.microsoft.com/office/powerpoint/2010/main" val="837952273"/>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69465" y="9925838"/>
            <a:ext cx="14323152" cy="584775"/>
          </a:xfrm>
          <a:prstGeom prst="rect">
            <a:avLst/>
          </a:prstGeom>
          <a:noFill/>
        </p:spPr>
        <p:txBody>
          <a:bodyPr wrap="none" rtlCol="0">
            <a:spAutoFit/>
          </a:bodyPr>
          <a:lstStyle/>
          <a:p>
            <a:pPr lvl="0">
              <a:spcAft>
                <a:spcPts val="0"/>
              </a:spcAft>
              <a:buSzPts val="1000"/>
              <a:tabLst>
                <a:tab pos="457200" algn="l"/>
              </a:tabLst>
            </a:pPr>
            <a:r>
              <a:rPr lang="en-US" altLang="zh-CN" sz="2800" dirty="0" smtClean="0">
                <a:solidFill>
                  <a:schemeClr val="tx1"/>
                </a:solidFill>
                <a:latin typeface="微软雅黑"/>
                <a:ea typeface="微软雅黑"/>
              </a:rPr>
              <a:t>5. Removal of dead legs from the unused branches of the iodine-solution transfer line.</a:t>
            </a:r>
            <a:endParaRPr lang="zh-CN" altLang="zh-CN" sz="3200" dirty="0">
              <a:solidFill>
                <a:schemeClr val="tx1"/>
              </a:solidFill>
              <a:latin typeface="+mn-lt"/>
              <a:ea typeface="+mn-ea"/>
            </a:endParaRPr>
          </a:p>
        </p:txBody>
      </p:sp>
      <p:sp>
        <p:nvSpPr>
          <p:cNvPr id="4" name="矩形 3"/>
          <p:cNvSpPr/>
          <p:nvPr/>
        </p:nvSpPr>
        <p:spPr>
          <a:xfrm>
            <a:off x="1526615" y="10898213"/>
            <a:ext cx="16742335" cy="1077218"/>
          </a:xfrm>
          <a:prstGeom prst="rect">
            <a:avLst/>
          </a:prstGeom>
        </p:spPr>
        <p:txBody>
          <a:bodyPr wrap="square">
            <a:spAutoFit/>
          </a:bodyPr>
          <a:lstStyle/>
          <a:p>
            <a:r>
              <a:rPr lang="en-US" altLang="zh-CN" sz="2600" dirty="0">
                <a:solidFill>
                  <a:srgbClr val="0000FF"/>
                </a:solidFill>
                <a:latin typeface="微软雅黑"/>
                <a:ea typeface="微软雅黑"/>
              </a:rPr>
              <a:t>ASYM: Completed. The redundant valve was removed, and a PTFE blind flange was installed and identified.</a:t>
            </a:r>
            <a:endParaRPr lang="zh-CN" altLang="en-US" sz="3200" dirty="0">
              <a:solidFill>
                <a:srgbClr val="0000FF"/>
              </a:solidFill>
              <a:latin typeface="+mn-lt"/>
              <a:ea typeface="+mn-ea"/>
            </a:endParaRPr>
          </a:p>
        </p:txBody>
      </p:sp>
      <p:grpSp>
        <p:nvGrpSpPr>
          <p:cNvPr id="5" name="组合 4"/>
          <p:cNvGrpSpPr/>
          <p:nvPr/>
        </p:nvGrpSpPr>
        <p:grpSpPr>
          <a:xfrm>
            <a:off x="19030950" y="8934451"/>
            <a:ext cx="4381500" cy="3657600"/>
            <a:chOff x="12896850" y="4438650"/>
            <a:chExt cx="10344150" cy="7758113"/>
          </a:xfrm>
        </p:grpSpPr>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896850" y="4438650"/>
              <a:ext cx="10344150" cy="7758113"/>
            </a:xfrm>
            <a:prstGeom prst="rect">
              <a:avLst/>
            </a:prstGeom>
          </p:spPr>
        </p:pic>
        <p:sp>
          <p:nvSpPr>
            <p:cNvPr id="7" name="矩形 6"/>
            <p:cNvSpPr/>
            <p:nvPr/>
          </p:nvSpPr>
          <p:spPr>
            <a:xfrm>
              <a:off x="14801850" y="8610600"/>
              <a:ext cx="1943100" cy="131445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a:extLst>
              <a:ext uri="{FF2B5EF4-FFF2-40B4-BE49-F238E27FC236}">
                <a16:creationId xmlns:a16="http://schemas.microsoft.com/office/drawing/2014/main" id="{5B17F8C1-CFD8-1314-B9D2-44E259DAA423}"/>
              </a:ext>
            </a:extLst>
          </p:cNvPr>
          <p:cNvSpPr txBox="1"/>
          <p:nvPr/>
        </p:nvSpPr>
        <p:spPr>
          <a:xfrm>
            <a:off x="8588077" y="294769"/>
            <a:ext cx="15074411" cy="769439"/>
          </a:xfrm>
          <a:prstGeom prst="rect">
            <a:avLst/>
          </a:prstGeom>
          <a:noFill/>
          <a:ln w="12700" cap="flat">
            <a:noFill/>
            <a:miter lim="400000"/>
          </a:ln>
          <a:effectLst/>
        </p:spPr>
        <p:txBody>
          <a:bodyPr rot="0" spcFirstLastPara="1" vertOverflow="overflow" horzOverflow="overflow" vert="horz" wrap="square" lIns="45719" tIns="45719" rIns="45719" bIns="45719" numCol="1" spcCol="38100" rtlCol="0" anchor="t">
            <a:spAutoFit/>
          </a:bodyPr>
          <a:lstStyle/>
          <a:p>
            <a:pPr algn="r" fontAlgn="auto" hangingPunct="0">
              <a:spcBef>
                <a:spcPts val="0"/>
              </a:spcBef>
              <a:spcAft>
                <a:spcPts val="0"/>
              </a:spcAft>
              <a:defRPr/>
            </a:pPr>
            <a:r>
              <a:rPr lang="zh-CN" altLang="en-US" sz="4400" dirty="0" smtClean="0">
                <a:solidFill>
                  <a:schemeClr val="accent1">
                    <a:lumMod val="50000"/>
                  </a:schemeClr>
                </a:solidFill>
              </a:rPr>
              <a:t>Piping correction</a:t>
            </a:r>
            <a:endParaRPr lang="zh-CN" altLang="en-US" sz="4400" b="1" dirty="0">
              <a:solidFill>
                <a:schemeClr val="accent1">
                  <a:lumMod val="50000"/>
                </a:schemeClr>
              </a:solidFill>
              <a:latin typeface="微软雅黑" panose="020B0503020204020204" pitchFamily="34" charset="-122"/>
              <a:ea typeface="微软雅黑" panose="020B0503020204020204" pitchFamily="34" charset="-122"/>
              <a:cs typeface="Arial" panose="020B0604020202020204"/>
            </a:endParaRPr>
          </a:p>
        </p:txBody>
      </p:sp>
      <p:sp>
        <p:nvSpPr>
          <p:cNvPr id="9" name="文本框 8"/>
          <p:cNvSpPr txBox="1"/>
          <p:nvPr/>
        </p:nvSpPr>
        <p:spPr>
          <a:xfrm>
            <a:off x="1469466" y="6091388"/>
            <a:ext cx="16968107" cy="1015663"/>
          </a:xfrm>
          <a:prstGeom prst="rect">
            <a:avLst/>
          </a:prstGeom>
          <a:noFill/>
        </p:spPr>
        <p:txBody>
          <a:bodyPr wrap="none" rtlCol="0">
            <a:spAutoFit/>
          </a:bodyPr>
          <a:lstStyle/>
          <a:p>
            <a:pPr lvl="0">
              <a:spcAft>
                <a:spcPts val="0"/>
              </a:spcAft>
              <a:buSzPts val="1000"/>
              <a:tabLst>
                <a:tab pos="457200" algn="l"/>
              </a:tabLst>
            </a:pPr>
            <a:r>
              <a:rPr lang="en-US" altLang="zh-CN" sz="3200" dirty="0">
                <a:solidFill>
                  <a:schemeClr val="tx1"/>
                </a:solidFill>
                <a:latin typeface="+mn-lt"/>
                <a:ea typeface="+mn-ea"/>
              </a:rPr>
              <a:t>4</a:t>
            </a:r>
            <a:r>
              <a:rPr lang="en-US" altLang="zh-CN" sz="3200" dirty="0" smtClean="0">
                <a:solidFill>
                  <a:schemeClr val="tx1"/>
                </a:solidFill>
                <a:latin typeface="+mn-lt"/>
                <a:ea typeface="+mn-ea"/>
              </a:rPr>
              <a:t>. </a:t>
            </a:r>
            <a:r>
              <a:rPr lang="en-US" altLang="zh-CN" sz="3200" dirty="0">
                <a:solidFill>
                  <a:schemeClr val="tx1"/>
                </a:solidFill>
                <a:latin typeface="+mn-lt"/>
                <a:ea typeface="+mn-ea"/>
              </a:rPr>
              <a:t>Post-oxidation DMF cooling-time qualification in the activation tank, during the solvent run.</a:t>
            </a:r>
            <a:endParaRPr lang="zh-CN" altLang="zh-CN" sz="3200" dirty="0">
              <a:solidFill>
                <a:schemeClr val="tx1"/>
              </a:solidFill>
              <a:latin typeface="+mn-lt"/>
              <a:ea typeface="+mn-ea"/>
            </a:endParaRPr>
          </a:p>
          <a:p>
            <a:endParaRPr lang="zh-CN" altLang="en-US" sz="2800" dirty="0"/>
          </a:p>
        </p:txBody>
      </p:sp>
      <p:sp>
        <p:nvSpPr>
          <p:cNvPr id="10" name="矩形 9"/>
          <p:cNvSpPr/>
          <p:nvPr/>
        </p:nvSpPr>
        <p:spPr>
          <a:xfrm>
            <a:off x="1469465" y="7182079"/>
            <a:ext cx="20707349" cy="1569660"/>
          </a:xfrm>
          <a:prstGeom prst="rect">
            <a:avLst/>
          </a:prstGeom>
        </p:spPr>
        <p:txBody>
          <a:bodyPr wrap="square">
            <a:spAutoFit/>
          </a:bodyPr>
          <a:lstStyle/>
          <a:p>
            <a:pPr>
              <a:lnSpc>
                <a:spcPct val="150000"/>
              </a:lnSpc>
            </a:pPr>
            <a:r>
              <a:rPr lang="en-US" altLang="zh-CN" sz="3200" dirty="0">
                <a:solidFill>
                  <a:srgbClr val="0000FF"/>
                </a:solidFill>
              </a:rPr>
              <a:t>ASYM: The post-oxidation DMF cooling-time test in the activation tank will be performed during the solvent run.</a:t>
            </a:r>
          </a:p>
          <a:p>
            <a:pPr>
              <a:lnSpc>
                <a:spcPct val="150000"/>
              </a:lnSpc>
            </a:pPr>
            <a:r>
              <a:rPr lang="zh-CN" altLang="en-US" sz="3200" dirty="0">
                <a:solidFill>
                  <a:srgbClr val="0000FF"/>
                </a:solidFill>
              </a:rPr>
              <a:t>Proposed completion date: 10/22/2026</a:t>
            </a:r>
          </a:p>
        </p:txBody>
      </p:sp>
      <p:sp>
        <p:nvSpPr>
          <p:cNvPr id="11" name="文本框 10"/>
          <p:cNvSpPr txBox="1"/>
          <p:nvPr/>
        </p:nvSpPr>
        <p:spPr>
          <a:xfrm>
            <a:off x="1526615" y="2001606"/>
            <a:ext cx="14931410" cy="1015663"/>
          </a:xfrm>
          <a:prstGeom prst="rect">
            <a:avLst/>
          </a:prstGeom>
          <a:noFill/>
        </p:spPr>
        <p:txBody>
          <a:bodyPr wrap="square" rtlCol="0">
            <a:spAutoFit/>
          </a:bodyPr>
          <a:lstStyle/>
          <a:p>
            <a:r>
              <a:rPr lang="en-US" altLang="zh-CN" sz="2800" dirty="0" smtClean="0">
                <a:solidFill>
                  <a:schemeClr val="tx1"/>
                </a:solidFill>
                <a:latin typeface="微软雅黑"/>
                <a:ea typeface="微软雅黑"/>
              </a:rPr>
              <a:t>3. Qualification of the iodine-solution nitrogen transfer time before the solvent run.</a:t>
            </a:r>
            <a:endParaRPr lang="zh-CN" altLang="zh-CN" sz="3200" dirty="0">
              <a:solidFill>
                <a:schemeClr val="tx1"/>
              </a:solidFill>
              <a:latin typeface="+mn-lt"/>
              <a:ea typeface="+mn-ea"/>
            </a:endParaRPr>
          </a:p>
          <a:p>
            <a:endParaRPr lang="zh-CN" altLang="en-US" sz="2800" dirty="0"/>
          </a:p>
        </p:txBody>
      </p:sp>
      <p:sp>
        <p:nvSpPr>
          <p:cNvPr id="12" name="矩形 11"/>
          <p:cNvSpPr/>
          <p:nvPr/>
        </p:nvSpPr>
        <p:spPr>
          <a:xfrm>
            <a:off x="1526615" y="3382724"/>
            <a:ext cx="19583400" cy="1569660"/>
          </a:xfrm>
          <a:prstGeom prst="rect">
            <a:avLst/>
          </a:prstGeom>
        </p:spPr>
        <p:txBody>
          <a:bodyPr wrap="square">
            <a:spAutoFit/>
          </a:bodyPr>
          <a:lstStyle/>
          <a:p>
            <a:r>
              <a:rPr lang="en-US" altLang="zh-CN" sz="3200" dirty="0">
                <a:solidFill>
                  <a:srgbClr val="0000FF"/>
                </a:solidFill>
              </a:rPr>
              <a:t>ASYM: Nitrogen transfer of the iodine solution to the synthesizer will be performed during the solvent run.</a:t>
            </a:r>
          </a:p>
          <a:p>
            <a:endParaRPr lang="zh-CN" altLang="en-US" sz="3200" dirty="0">
              <a:solidFill>
                <a:srgbClr val="0000FF"/>
              </a:solidFill>
            </a:endParaRPr>
          </a:p>
          <a:p>
            <a:r>
              <a:rPr lang="zh-CN" altLang="en-US" sz="3200" dirty="0">
                <a:solidFill>
                  <a:srgbClr val="0000FF"/>
                </a:solidFill>
              </a:rPr>
              <a:t>Proposed completion date: 10/22/2026</a:t>
            </a:r>
          </a:p>
        </p:txBody>
      </p:sp>
    </p:spTree>
    <p:extLst>
      <p:ext uri="{BB962C8B-B14F-4D97-AF65-F5344CB8AC3E}">
        <p14:creationId xmlns:p14="http://schemas.microsoft.com/office/powerpoint/2010/main" val="2776570391"/>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23493" y="2094272"/>
            <a:ext cx="23160507" cy="1077218"/>
          </a:xfrm>
          <a:prstGeom prst="rect">
            <a:avLst/>
          </a:prstGeom>
          <a:noFill/>
        </p:spPr>
        <p:txBody>
          <a:bodyPr wrap="square" rtlCol="0">
            <a:noAutofit/>
          </a:bodyPr>
          <a:lstStyle/>
          <a:p>
            <a:pPr lvl="0">
              <a:spcAft>
                <a:spcPts val="0"/>
              </a:spcAft>
              <a:buSzPts val="1000"/>
              <a:tabLst>
                <a:tab pos="457200" algn="l"/>
              </a:tabLst>
            </a:pPr>
            <a:r>
              <a:rPr lang="en-US" altLang="zh-CN" sz="2800" dirty="0">
                <a:solidFill>
                  <a:schemeClr val="tx1"/>
                </a:solidFill>
                <a:latin typeface="微软雅黑"/>
                <a:ea typeface="微软雅黑"/>
              </a:rPr>
              <a:t>6. Pre-production acceptance of equipment-train rinse and swab cleanliness, or an equivalent criterion stated in the contamination control strategy.</a:t>
            </a:r>
            <a:endParaRPr lang="zh-CN" altLang="zh-CN" sz="3200" dirty="0">
              <a:solidFill>
                <a:schemeClr val="tx1"/>
              </a:solidFill>
              <a:latin typeface="+mn-lt"/>
              <a:ea typeface="+mn-ea"/>
            </a:endParaRPr>
          </a:p>
          <a:p>
            <a:endParaRPr lang="zh-CN" altLang="en-US" sz="3200" dirty="0">
              <a:solidFill>
                <a:schemeClr val="tx1"/>
              </a:solidFill>
              <a:latin typeface="+mn-lt"/>
              <a:ea typeface="+mn-ea"/>
            </a:endParaRPr>
          </a:p>
        </p:txBody>
      </p:sp>
      <p:sp>
        <p:nvSpPr>
          <p:cNvPr id="4" name="矩形 3"/>
          <p:cNvSpPr/>
          <p:nvPr/>
        </p:nvSpPr>
        <p:spPr>
          <a:xfrm>
            <a:off x="1223493" y="3152745"/>
            <a:ext cx="16644300" cy="2308324"/>
          </a:xfrm>
          <a:prstGeom prst="rect">
            <a:avLst/>
          </a:prstGeom>
        </p:spPr>
        <p:txBody>
          <a:bodyPr wrap="square">
            <a:noAutofit/>
          </a:bodyPr>
          <a:lstStyle/>
          <a:p>
            <a:pPr>
              <a:lnSpc>
                <a:spcPct val="150000"/>
              </a:lnSpc>
            </a:pPr>
            <a:r>
              <a:rPr lang="en-US" altLang="zh-CN" sz="2800" dirty="0" smtClean="0" b="1">
                <a:solidFill>
                  <a:srgbClr val="0000FF"/>
                </a:solidFill>
                <a:latin typeface="微软雅黑"/>
                <a:ea typeface="微软雅黑"/>
              </a:rPr>
              <a:t>ASYM:</a:t>
            </a:r>
          </a:p>
          <a:p>
            <a:pPr>
              <a:lnSpc>
                <a:spcPct val="150000"/>
              </a:lnSpc>
            </a:pPr>
            <a:r>
              <a:rPr lang="en-US" altLang="zh-CN" sz="2600" dirty="0" smtClean="0">
                <a:solidFill>
                  <a:srgbClr val="0000FF"/>
                </a:solidFill>
                <a:latin typeface="微软雅黑"/>
                <a:ea typeface="微软雅黑"/>
              </a:rPr>
              <a:t>1. Cleaning of the equipment train after passivation is complete, and TOC testing is complete.</a:t>
            </a:r>
          </a:p>
          <a:p>
            <a:pPr>
              <a:lnSpc>
                <a:spcPct val="150000"/>
              </a:lnSpc>
            </a:pPr>
            <a:r>
              <a:rPr lang="en-US" altLang="zh-CN" sz="2600" dirty="0" smtClean="0">
                <a:solidFill>
                  <a:srgbClr val="0000FF"/>
                </a:solidFill>
                <a:latin typeface="微软雅黑"/>
                <a:ea typeface="微软雅黑"/>
              </a:rPr>
              <a:t>2. Elemental iodine is used during the solvent run. After the run, the equipment train will be cleaned, and test strips will be used to confirm removal of iodine residue.</a:t>
            </a:r>
            <a:endParaRPr lang="zh-CN" altLang="en-US" sz="3200" dirty="0">
              <a:solidFill>
                <a:srgbClr val="0000FF"/>
              </a:solidFill>
            </a:endParaRPr>
          </a:p>
        </p:txBody>
      </p:sp>
    </p:spTree>
    <p:extLst>
      <p:ext uri="{BB962C8B-B14F-4D97-AF65-F5344CB8AC3E}">
        <p14:creationId xmlns:p14="http://schemas.microsoft.com/office/powerpoint/2010/main" val="852993388"/>
      </p:ext>
    </p:extLst>
  </p:cSld>
  <p:clrMapOvr>
    <a:masterClrMapping/>
  </p:clrMapOvr>
  <p:transition spd="med"/>
</p:sld>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0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1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7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8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9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White">
  <a:themeElements>
    <a:clrScheme name="White">
      <a:dk1>
        <a:srgbClr val="000000"/>
      </a:dk1>
      <a:lt1>
        <a:srgbClr val="FFFFFF"/>
      </a:lt1>
      <a:dk2>
        <a:srgbClr val="A7A7A7"/>
      </a:dk2>
      <a:lt2>
        <a:srgbClr val="535353"/>
      </a:lt2>
      <a:accent1>
        <a:srgbClr val="0077BF"/>
      </a:accent1>
      <a:accent2>
        <a:srgbClr val="D0CDD0"/>
      </a:accent2>
      <a:accent3>
        <a:srgbClr val="BDBEBD"/>
      </a:accent3>
      <a:accent4>
        <a:srgbClr val="ACAAAD"/>
      </a:accent4>
      <a:accent5>
        <a:srgbClr val="9B999C"/>
      </a:accent5>
      <a:accent6>
        <a:srgbClr val="545554"/>
      </a:accent6>
      <a:hlink>
        <a:srgbClr val="0000FF"/>
      </a:hlink>
      <a:folHlink>
        <a:srgbClr val="FF00FF"/>
      </a:folHlink>
    </a:clrScheme>
    <a:fontScheme name="White">
      <a:majorFont>
        <a:latin typeface="Helvetica"/>
        <a:ea typeface="Helvetica"/>
        <a:cs typeface="Helvetica"/>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alpha val="60000"/>
          </a:schemeClr>
        </a:solidFill>
        <a:ln w="12700" cap="flat">
          <a:noFill/>
          <a:miter lim="400000"/>
        </a:ln>
      </a:spPr>
      <a:bodyPr rot="0" spcFirstLastPara="1" vertOverflow="overflow" horzOverflow="overflow" vert="horz" wrap="square" lIns="38100" tIns="38100" rIns="38100" bIns="381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52D30"/>
            </a:solidFill>
            <a:effectLst/>
            <a:uFillTx/>
            <a:latin typeface="Arial" panose="020B0604020202020204"/>
            <a:ea typeface="Arial" panose="020B0604020202020204"/>
            <a:cs typeface="Arial" panose="020B0604020202020204"/>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13014</TotalTime>
  <Words>1342</Words>
  <Application>Microsoft Office PowerPoint</Application>
  <PresentationFormat>自定义</PresentationFormat>
  <Paragraphs>546</Paragraphs>
  <Slides>6</Slides>
  <Notes>1</Notes>
  <HiddenSlides>0</HiddenSlides>
  <MMClips>0</MMClips>
  <ScaleCrop>false</ScaleCrop>
  <HeadingPairs>
    <vt:vector size="8" baseType="variant">
      <vt:variant>
        <vt:lpstr>已用的字体</vt:lpstr>
      </vt:variant>
      <vt:variant>
        <vt:i4>7</vt:i4>
      </vt:variant>
      <vt:variant>
        <vt:lpstr>主题</vt:lpstr>
      </vt:variant>
      <vt:variant>
        <vt:i4>14</vt:i4>
      </vt:variant>
      <vt:variant>
        <vt:lpstr>嵌入 OLE 服务器</vt:lpstr>
      </vt:variant>
      <vt:variant>
        <vt:i4>1</vt:i4>
      </vt:variant>
      <vt:variant>
        <vt:lpstr>幻灯片标题</vt:lpstr>
      </vt:variant>
      <vt:variant>
        <vt:i4>6</vt:i4>
      </vt:variant>
    </vt:vector>
  </HeadingPairs>
  <TitlesOfParts>
    <vt:vector size="28" baseType="lpstr">
      <vt:lpstr>Helvetica Light</vt:lpstr>
      <vt:lpstr>Helvetica Neue</vt:lpstr>
      <vt:lpstr>Open Sans</vt:lpstr>
      <vt:lpstr>等线</vt:lpstr>
      <vt:lpstr>微软雅黑</vt:lpstr>
      <vt:lpstr>Arial</vt:lpstr>
      <vt:lpstr>Calibri</vt:lpstr>
      <vt:lpstr>webwppDefTheme</vt:lpstr>
      <vt:lpstr>1_webwppDefTheme</vt:lpstr>
      <vt:lpstr>2_webwppDefTheme</vt:lpstr>
      <vt:lpstr>3_webwppDefTheme</vt:lpstr>
      <vt:lpstr>4_webwppDefTheme</vt:lpstr>
      <vt:lpstr>5_webwppDefTheme</vt:lpstr>
      <vt:lpstr>6_webwppDefTheme</vt:lpstr>
      <vt:lpstr>10_webwppDefTheme</vt:lpstr>
      <vt:lpstr>11_webwppDefTheme</vt:lpstr>
      <vt:lpstr>7_webwppDefTheme</vt:lpstr>
      <vt:lpstr>8_webwppDefTheme</vt:lpstr>
      <vt:lpstr>9_webwppDefTheme</vt:lpstr>
      <vt:lpstr>12_webwppDefTheme</vt:lpstr>
      <vt:lpstr>13_webwppDefTheme</vt:lpstr>
      <vt:lpstr>Microsoft Excel 工作表</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dc:title>
  <dc:creator>Zechen Wei14669</dc:creator>
  <cp:lastModifiedBy>Zhongyao Zhang</cp:lastModifiedBy>
  <cp:revision>410</cp:revision>
  <dcterms:created xsi:type="dcterms:W3CDTF">2025-10-27T09:32:28Z</dcterms:created>
  <dcterms:modified xsi:type="dcterms:W3CDTF">2026-10-19T06:55:00Z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ICV">
    <vt:lpwstr/>
  </property>
</Properties>
</file>