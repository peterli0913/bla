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7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8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9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10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11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12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3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4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15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6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7.xml" ContentType="application/vnd.openxmlformats-officedocument.theme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18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2"/>
    <p:sldMasterId id="2147483672" r:id="rId3"/>
    <p:sldMasterId id="2147483683" r:id="rId4"/>
    <p:sldMasterId id="2147483694" r:id="rId5"/>
    <p:sldMasterId id="2147483705" r:id="rId6"/>
    <p:sldMasterId id="2147483717" r:id="rId7"/>
    <p:sldMasterId id="2147483728" r:id="rId8"/>
    <p:sldMasterId id="2147483739" r:id="rId9"/>
    <p:sldMasterId id="2147483750" r:id="rId10"/>
    <p:sldMasterId id="2147483761" r:id="rId11"/>
    <p:sldMasterId id="2147483772" r:id="rId12"/>
    <p:sldMasterId id="2147483784" r:id="rId13"/>
    <p:sldMasterId id="2147483796" r:id="rId14"/>
    <p:sldMasterId id="2147483808" r:id="rId15"/>
    <p:sldMasterId id="2147483820" r:id="rId16"/>
    <p:sldMasterId id="2147483832" r:id="rId17"/>
    <p:sldMasterId id="2147483844" r:id="rId18"/>
    <p:sldMasterId id="2147483855" r:id="rId19"/>
  </p:sldMasterIdLst>
  <p:notesMasterIdLst>
    <p:notesMasterId r:id="rId21"/>
  </p:notesMasterIdLst>
  <p:sldIdLst>
    <p:sldId id="3679" r:id="rId20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959" userDrawn="1">
          <p15:clr>
            <a:srgbClr val="A4A3A4"/>
          </p15:clr>
        </p15:guide>
        <p15:guide id="2" orient="horz" pos="8062" userDrawn="1">
          <p15:clr>
            <a:srgbClr val="A4A3A4"/>
          </p15:clr>
        </p15:guide>
        <p15:guide id="3" orient="horz" pos="691" userDrawn="1">
          <p15:clr>
            <a:srgbClr val="A4A3A4"/>
          </p15:clr>
        </p15:guide>
        <p15:guide id="4" orient="horz" pos="38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2" name="Qi Wang3700" initials="QW" lastIdx="4" clrIdx="1">
    <p:extLst>
      <p:ext uri="{19B8F6BF-5375-455C-9EA6-DF929625EA0E}">
        <p15:presenceInfo xmlns:p15="http://schemas.microsoft.com/office/powerpoint/2012/main" userId="S-1-5-21-3608144515-3230653892-152868943-129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2CDFD"/>
    <a:srgbClr val="2F5A9E"/>
    <a:srgbClr val="386DB4"/>
    <a:srgbClr val="49A0D4"/>
    <a:srgbClr val="3C6CB3"/>
    <a:srgbClr val="6FB5AB"/>
    <a:srgbClr val="789E45"/>
    <a:srgbClr val="CACC87"/>
    <a:srgbClr val="E95E5C"/>
    <a:srgbClr val="82C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99" autoAdjust="0"/>
  </p:normalViewPr>
  <p:slideViewPr>
    <p:cSldViewPr snapToGrid="0" snapToObjects="1" showGuides="1">
      <p:cViewPr varScale="1">
        <p:scale>
          <a:sx n="31" d="100"/>
          <a:sy n="31" d="100"/>
        </p:scale>
        <p:origin x="744" y="76"/>
      </p:cViewPr>
      <p:guideLst>
        <p:guide pos="14959"/>
        <p:guide orient="horz" pos="8062"/>
        <p:guide orient="horz" pos="691"/>
        <p:guide orient="horz" pos="386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6" y="1310004"/>
            <a:ext cx="17397096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8708"/>
            <a:ext cx="243840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90" y="12948708"/>
            <a:ext cx="1662112" cy="5693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1" y="608331"/>
            <a:ext cx="5297806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9765" y="4617765"/>
            <a:ext cx="21704474" cy="1798334"/>
          </a:xfrm>
        </p:spPr>
        <p:txBody>
          <a:bodyPr rIns="25400" anchor="t"/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4FD400-94D0-4ED6-A93C-2AA40A9E242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3CC825-4656-41F6-80A0-7E51930C27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162450"/>
            <a:ext cx="21704474" cy="1296000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33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BEC6C6-CFC1-4311-8680-D8482A992C9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80210" y="1455420"/>
            <a:ext cx="7863840" cy="2230120"/>
          </a:xfrm>
        </p:spPr>
        <p:txBody>
          <a:bodyPr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3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83D53C-7B98-40C6-BDD8-A8CE1D0D47B0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339850" y="11210293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3"/>
            <a:ext cx="21704300" cy="911225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DE270C-350D-4C0E-9AA1-D96931F46A5C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3" y="0"/>
            <a:ext cx="24392890" cy="1373632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DE95A2-CF63-4AAD-9B3D-C96FA9AF783D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072DD-68B9-4B53-BD4B-86545AD4649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247185"/>
            <a:ext cx="21704474" cy="1798334"/>
          </a:xfrm>
        </p:spPr>
        <p:txBody>
          <a:bodyPr rIns="25400"/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3235F8-AC07-453E-8759-D74DE3E6FDD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9842164" y="13154026"/>
            <a:ext cx="5068888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45720" tIns="45720" rIns="45720" bIns="45720" spcCol="3810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6540501" y="1830388"/>
            <a:ext cx="17129126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967" y="13192129"/>
            <a:ext cx="1465262" cy="323850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52319E4B-6ED2-4FA3-91E3-3367D62E902F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938005-03C5-4A75-AE7D-2E7992612E2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3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4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85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6.xml"/><Relationship Id="rId2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theme" Target="../theme/theme19.xml"/><Relationship Id="rId5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895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777" y="12700003"/>
            <a:ext cx="7918450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 dirty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 smtClean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3C2648-72DC-43D6-B661-2D93F402C08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850" y="1162050"/>
            <a:ext cx="21704300" cy="1296988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01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</p:sldLayoutIdLst>
  <p:hf hdr="0" ftr="0" dt="0"/>
  <p:txStyles>
    <p:titleStyle>
      <a:lvl1pPr algn="l" defTabSz="1828800" rtl="0" fontAlgn="base">
        <a:spcBef>
          <a:spcPct val="0"/>
        </a:spcBef>
        <a:spcAft>
          <a:spcPct val="0"/>
        </a:spcAft>
        <a:defRPr sz="5600" b="1" kern="1200" spc="200">
          <a:solidFill>
            <a:schemeClr val="tx1"/>
          </a:solidFill>
          <a:latin typeface="+mn-ea"/>
          <a:ea typeface="+mn-ea"/>
          <a:cs typeface="+mj-cs"/>
        </a:defRPr>
      </a:lvl1pPr>
      <a:lvl2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572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1pPr>
      <a:lvl2pPr marL="13716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2pPr>
      <a:lvl3pPr marL="22860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3pPr>
      <a:lvl4pPr marL="32004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4pPr>
      <a:lvl5pPr marL="41148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1</a:t>
            </a:fld>
            <a:r>
              <a:rPr lang="en-US" altLang="zh-CN" smtClean="0"/>
              <a:t>-</a:t>
            </a:r>
            <a:endParaRPr lang="zh-CN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355880" y="981729"/>
            <a:ext cx="1642872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0" algn="r" eaLnBrk="0" hangingPunct="0"/>
            <a:r>
              <a:rPr lang="en-US" altLang="zh-CN" sz="4800" b="1" dirty="0" smtClean="0">
                <a:solidFill>
                  <a:srgbClr val="2F5A9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139788step3</a:t>
            </a:r>
            <a:r>
              <a:rPr lang="zh-CN" altLang="en-US" sz="4800" b="1" dirty="0" smtClean="0">
                <a:solidFill>
                  <a:srgbClr val="2F5A9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管路死角、残留改造时间节点</a:t>
            </a:r>
            <a:endParaRPr lang="en-US" sz="4800" b="1" dirty="0">
              <a:solidFill>
                <a:srgbClr val="2F5A9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921306"/>
              </p:ext>
            </p:extLst>
          </p:nvPr>
        </p:nvGraphicFramePr>
        <p:xfrm>
          <a:off x="768926" y="1859677"/>
          <a:ext cx="22735308" cy="7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72">
                  <a:extLst>
                    <a:ext uri="{9D8B030D-6E8A-4147-A177-3AD203B41FA5}">
                      <a16:colId xmlns:a16="http://schemas.microsoft.com/office/drawing/2014/main" val="1285415062"/>
                    </a:ext>
                  </a:extLst>
                </a:gridCol>
                <a:gridCol w="4415411">
                  <a:extLst>
                    <a:ext uri="{9D8B030D-6E8A-4147-A177-3AD203B41FA5}">
                      <a16:colId xmlns:a16="http://schemas.microsoft.com/office/drawing/2014/main" val="1642629067"/>
                    </a:ext>
                  </a:extLst>
                </a:gridCol>
                <a:gridCol w="5403271">
                  <a:extLst>
                    <a:ext uri="{9D8B030D-6E8A-4147-A177-3AD203B41FA5}">
                      <a16:colId xmlns:a16="http://schemas.microsoft.com/office/drawing/2014/main" val="560007812"/>
                    </a:ext>
                  </a:extLst>
                </a:gridCol>
                <a:gridCol w="5960034">
                  <a:extLst>
                    <a:ext uri="{9D8B030D-6E8A-4147-A177-3AD203B41FA5}">
                      <a16:colId xmlns:a16="http://schemas.microsoft.com/office/drawing/2014/main" val="3500021275"/>
                    </a:ext>
                  </a:extLst>
                </a:gridCol>
                <a:gridCol w="3412568">
                  <a:extLst>
                    <a:ext uri="{9D8B030D-6E8A-4147-A177-3AD203B41FA5}">
                      <a16:colId xmlns:a16="http://schemas.microsoft.com/office/drawing/2014/main" val="1260324615"/>
                    </a:ext>
                  </a:extLst>
                </a:gridCol>
                <a:gridCol w="1995052">
                  <a:extLst>
                    <a:ext uri="{9D8B030D-6E8A-4147-A177-3AD203B41FA5}">
                      <a16:colId xmlns:a16="http://schemas.microsoft.com/office/drawing/2014/main" val="2700250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方案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方案描述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潜在风险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缓解计划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缓解后风险等级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截止日期</a:t>
                      </a:r>
                      <a:endParaRPr lang="zh-CN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4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1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 smtClean="0"/>
                        <a:t>1.</a:t>
                      </a:r>
                      <a:r>
                        <a:rPr lang="zh-CN" altLang="en-US" sz="2800" dirty="0" smtClean="0"/>
                        <a:t>管路</a:t>
                      </a:r>
                      <a:r>
                        <a:rPr lang="zh-CN" altLang="en-US" sz="2800" dirty="0" smtClean="0"/>
                        <a:t>中存在不满足</a:t>
                      </a:r>
                      <a:r>
                        <a:rPr lang="en-US" altLang="zh-CN" sz="2800" dirty="0" smtClean="0"/>
                        <a:t>2D/3D</a:t>
                      </a:r>
                      <a:r>
                        <a:rPr lang="zh-CN" altLang="en-US" sz="2800" dirty="0" smtClean="0"/>
                        <a:t>死角控制</a:t>
                      </a:r>
                      <a:r>
                        <a:rPr lang="zh-CN" altLang="en-US" sz="2800" dirty="0" smtClean="0"/>
                        <a:t>要求</a:t>
                      </a:r>
                      <a:endParaRPr lang="en-US" altLang="zh-CN" sz="2800" dirty="0" smtClean="0"/>
                    </a:p>
                    <a:p>
                      <a:pPr algn="l"/>
                      <a:r>
                        <a:rPr lang="en-US" altLang="zh-CN" sz="2800" dirty="0" smtClean="0"/>
                        <a:t>2.</a:t>
                      </a:r>
                      <a:r>
                        <a:rPr lang="zh-CN" altLang="en-US" sz="2800" dirty="0" smtClean="0"/>
                        <a:t>存在</a:t>
                      </a:r>
                      <a:r>
                        <a:rPr lang="zh-CN" altLang="en-US" sz="2800" dirty="0" smtClean="0"/>
                        <a:t>隔膜阀不满足自排尽</a:t>
                      </a:r>
                      <a:r>
                        <a:rPr lang="zh-CN" altLang="en-US" sz="2800" dirty="0" smtClean="0"/>
                        <a:t>要求；</a:t>
                      </a:r>
                      <a:endParaRPr lang="en-US" altLang="zh-CN" sz="2800" dirty="0" smtClean="0"/>
                    </a:p>
                    <a:p>
                      <a:pPr algn="l"/>
                      <a:r>
                        <a:rPr lang="en-US" altLang="zh-CN" sz="2800" dirty="0" smtClean="0"/>
                        <a:t>3.</a:t>
                      </a:r>
                      <a:r>
                        <a:rPr lang="zh-CN" altLang="en-US" sz="2800" dirty="0" smtClean="0"/>
                        <a:t>部分</a:t>
                      </a:r>
                      <a:r>
                        <a:rPr lang="zh-CN" altLang="en-US" sz="2800" dirty="0" smtClean="0"/>
                        <a:t>管路非</a:t>
                      </a:r>
                      <a:r>
                        <a:rPr lang="en-US" altLang="zh-CN" sz="2800" dirty="0" smtClean="0"/>
                        <a:t>BPE</a:t>
                      </a:r>
                      <a:r>
                        <a:rPr lang="zh-CN" altLang="en-US" sz="2800" dirty="0" smtClean="0"/>
                        <a:t>管路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管路残留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滞留导致物料变质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滋生微生物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交叉污染。</a:t>
                      </a:r>
                      <a:endParaRPr lang="en-US" altLang="zh-CN" sz="2800" dirty="0" smtClean="0"/>
                    </a:p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未定义每次管路使用完毕的淌洗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排空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吹扫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拆卸的要求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体系转移结束后，增加工艺溶剂淌洗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清洗的操作，有微生物负载研究数值支持。</a:t>
                      </a:r>
                      <a:endParaRPr lang="en-US" altLang="zh-CN" sz="2800" dirty="0" smtClean="0"/>
                    </a:p>
                    <a:p>
                      <a:pPr marL="514350" marR="0" indent="-51435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2800" dirty="0" smtClean="0"/>
                        <a:t>完善对应操作、清洗流程，规定好对应的淌洗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排空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吹扫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拆卸的要求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低</a:t>
                      </a:r>
                      <a:endParaRPr lang="en-US" altLang="zh-CN" sz="2800" dirty="0" smtClean="0"/>
                    </a:p>
                    <a:p>
                      <a:pPr algn="ctr"/>
                      <a:r>
                        <a:rPr lang="zh-CN" altLang="en-US" sz="2400" i="1" dirty="0" smtClean="0"/>
                        <a:t>（在强化控制程序之后）</a:t>
                      </a:r>
                      <a:endParaRPr lang="zh-CN" altLang="en-US" sz="2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11/05/2026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98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2</a:t>
                      </a:r>
                      <a:endParaRPr lang="zh-CN" altLang="en-US" sz="2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管路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储罐进行重新改造，使用</a:t>
                      </a:r>
                      <a:r>
                        <a:rPr lang="en-US" altLang="zh-CN" sz="2800" dirty="0" smtClean="0"/>
                        <a:t>T</a:t>
                      </a:r>
                      <a:r>
                        <a:rPr lang="zh-CN" altLang="en-US" sz="2800" dirty="0" smtClean="0"/>
                        <a:t>型阀、</a:t>
                      </a:r>
                      <a:r>
                        <a:rPr lang="en-US" altLang="zh-CN" sz="2800" dirty="0" smtClean="0"/>
                        <a:t>3D</a:t>
                      </a:r>
                      <a:r>
                        <a:rPr lang="zh-CN" altLang="en-US" sz="2800" dirty="0" smtClean="0"/>
                        <a:t>短径三通，控制死角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坡度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</a:t>
                      </a:r>
                      <a:r>
                        <a:rPr lang="zh-CN" altLang="en-US" sz="2800" dirty="0" smtClean="0"/>
                        <a:t>尽，预留</a:t>
                      </a:r>
                      <a:r>
                        <a:rPr lang="en-US" altLang="zh-CN" sz="2800" dirty="0" smtClean="0"/>
                        <a:t>CIP</a:t>
                      </a:r>
                      <a:r>
                        <a:rPr lang="zh-CN" altLang="en-US" sz="2800" dirty="0" smtClean="0"/>
                        <a:t>接入阀门。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属于新的变更管理，担心对产品质量造成影响；</a:t>
                      </a:r>
                      <a:endParaRPr lang="en-US" altLang="zh-CN" sz="2800" dirty="0" smtClean="0"/>
                    </a:p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使用前使用后的操作不够充分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对改造后的管路进行验证</a:t>
                      </a:r>
                      <a:endParaRPr lang="en-US" altLang="zh-CN" sz="2800" dirty="0" smtClean="0"/>
                    </a:p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明确操作、清洗流程，更新对应表格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低</a:t>
                      </a:r>
                      <a:endParaRPr lang="en-US" altLang="zh-CN" sz="2800" dirty="0" smtClean="0"/>
                    </a:p>
                    <a:p>
                      <a:pPr algn="ctr"/>
                      <a:r>
                        <a:rPr lang="zh-CN" altLang="en-US" sz="2400" i="1" dirty="0" smtClean="0"/>
                        <a:t>（配合改造后的硬件及执行流程）</a:t>
                      </a:r>
                      <a:endParaRPr lang="zh-CN" altLang="en-US" sz="24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/>
                        <a:t>02/06/2027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95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3</a:t>
                      </a:r>
                      <a:endParaRPr lang="zh-CN" altLang="en-US" sz="2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2</a:t>
                      </a:r>
                      <a:r>
                        <a:rPr lang="zh-CN" altLang="en-US" sz="2800" dirty="0" smtClean="0"/>
                        <a:t>的基础上，配置</a:t>
                      </a:r>
                      <a:r>
                        <a:rPr lang="en-US" altLang="zh-CN" sz="2800" dirty="0" smtClean="0"/>
                        <a:t>CIP</a:t>
                      </a:r>
                      <a:r>
                        <a:rPr lang="zh-CN" altLang="en-US" sz="2800" dirty="0" smtClean="0"/>
                        <a:t>，满足在线清洗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设计不充分</a:t>
                      </a:r>
                      <a:endParaRPr lang="en-US" altLang="zh-CN" sz="2800" dirty="0" smtClean="0"/>
                    </a:p>
                    <a:p>
                      <a:pPr marL="742950" indent="-742950" algn="l">
                        <a:buFont typeface="+mj-lt"/>
                        <a:buAutoNum type="arabicPeriod"/>
                      </a:pPr>
                      <a:r>
                        <a:rPr lang="en-US" altLang="zh-CN" sz="2800" dirty="0" smtClean="0"/>
                        <a:t>CIP</a:t>
                      </a:r>
                      <a:r>
                        <a:rPr lang="zh-CN" altLang="en-US" sz="2800" dirty="0" smtClean="0"/>
                        <a:t>清洗程序控制流程不充分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设备进行整体验证；</a:t>
                      </a:r>
                      <a:endParaRPr lang="en-US" altLang="zh-CN" sz="2800" dirty="0" smtClean="0"/>
                    </a:p>
                    <a:p>
                      <a:pPr marL="514350" marR="0" indent="-51435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CN" altLang="en-US" sz="2800" dirty="0" smtClean="0"/>
                        <a:t>实现坡度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排空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消除死角；</a:t>
                      </a:r>
                      <a:endParaRPr lang="en-US" altLang="zh-CN" sz="2800" dirty="0" smtClean="0"/>
                    </a:p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实现使用前的冲洗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清洁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消毒</a:t>
                      </a:r>
                      <a:r>
                        <a:rPr lang="en-US" altLang="zh-CN" sz="2800" dirty="0" smtClean="0"/>
                        <a:t>/</a:t>
                      </a:r>
                      <a:r>
                        <a:rPr lang="zh-CN" altLang="en-US" sz="2800" dirty="0" smtClean="0"/>
                        <a:t>吹扫等功能，完全实现在线清洗</a:t>
                      </a:r>
                      <a:endParaRPr lang="en-US" altLang="zh-CN" sz="2800" dirty="0" smtClean="0"/>
                    </a:p>
                    <a:p>
                      <a:pPr marL="514350" indent="-514350" algn="l">
                        <a:buFont typeface="+mj-lt"/>
                        <a:buAutoNum type="arabicPeriod"/>
                      </a:pPr>
                      <a:r>
                        <a:rPr lang="zh-CN" altLang="en-US" sz="2800" dirty="0" smtClean="0"/>
                        <a:t>更新</a:t>
                      </a:r>
                      <a:r>
                        <a:rPr lang="en-US" altLang="zh-CN" sz="2800" dirty="0" smtClean="0"/>
                        <a:t>SOP</a:t>
                      </a:r>
                      <a:r>
                        <a:rPr lang="zh-CN" altLang="en-US" sz="2800" dirty="0" smtClean="0"/>
                        <a:t>，将相关要求纳入日常使用规范。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低</a:t>
                      </a:r>
                      <a:endParaRPr lang="en-US" altLang="zh-CN" sz="2800" dirty="0" smtClean="0"/>
                    </a:p>
                    <a:p>
                      <a:pPr algn="ctr"/>
                      <a:r>
                        <a:rPr lang="zh-CN" altLang="en-US" sz="2400" i="1" dirty="0" smtClean="0"/>
                        <a:t>（配合改进后的管道硬件及</a:t>
                      </a:r>
                      <a:r>
                        <a:rPr lang="en-US" altLang="zh-CN" sz="2400" i="1" dirty="0" smtClean="0"/>
                        <a:t>CIP</a:t>
                      </a:r>
                      <a:r>
                        <a:rPr lang="zh-CN" altLang="en-US" sz="2400" i="1" dirty="0" smtClean="0"/>
                        <a:t>清洗流程）</a:t>
                      </a:r>
                      <a:endParaRPr lang="en-US" altLang="zh-CN" sz="2400" i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/>
                        <a:t>方案</a:t>
                      </a:r>
                      <a:r>
                        <a:rPr lang="en-US" altLang="zh-CN" sz="2800" dirty="0" smtClean="0"/>
                        <a:t>2</a:t>
                      </a:r>
                      <a:r>
                        <a:rPr lang="zh-CN" altLang="en-US" sz="2800" dirty="0" smtClean="0"/>
                        <a:t>后</a:t>
                      </a:r>
                      <a:r>
                        <a:rPr lang="en-US" altLang="zh-CN" sz="2800" dirty="0" smtClean="0"/>
                        <a:t>5</a:t>
                      </a:r>
                      <a:r>
                        <a:rPr lang="zh-CN" altLang="en-US" sz="2800" dirty="0" smtClean="0"/>
                        <a:t>个月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96362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921345"/>
              </p:ext>
            </p:extLst>
          </p:nvPr>
        </p:nvGraphicFramePr>
        <p:xfrm>
          <a:off x="4008581" y="9963369"/>
          <a:ext cx="1625599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187522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455796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19193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120845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400052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68496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工艺步骤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使用场景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Demo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Pre-PPQ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PPQ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商业化</a:t>
                      </a:r>
                      <a:endParaRPr lang="zh-CN" altLang="en-US" sz="2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578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制备配液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628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制备纯化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379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超滤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28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沉淀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工艺物料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方案</a:t>
                      </a:r>
                      <a:r>
                        <a:rPr lang="en-US" altLang="zh-C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7483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355</Words>
  <Application>Microsoft Office PowerPoint</Application>
  <PresentationFormat>自定义</PresentationFormat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1</vt:i4>
      </vt:variant>
    </vt:vector>
  </HeadingPairs>
  <TitlesOfParts>
    <vt:vector size="25" baseType="lpstr">
      <vt:lpstr>Helvetica Light</vt:lpstr>
      <vt:lpstr>Helvetica Neue</vt:lpstr>
      <vt:lpstr>微软雅黑</vt:lpstr>
      <vt:lpstr>Arial</vt:lpstr>
      <vt:lpstr>Times New Roman</vt:lpstr>
      <vt:lpstr>webwppDefTheme</vt:lpstr>
      <vt:lpstr>1_webwppDefTheme</vt:lpstr>
      <vt:lpstr>2_webwppDefTheme</vt:lpstr>
      <vt:lpstr>3_webwppDefTheme</vt:lpstr>
      <vt:lpstr>4_webwppDefTheme</vt:lpstr>
      <vt:lpstr>27_webwppDefTheme</vt:lpstr>
      <vt:lpstr>21_webwppDefTheme</vt:lpstr>
      <vt:lpstr>24_webwppDefTheme</vt:lpstr>
      <vt:lpstr>22_webwppDefTheme</vt:lpstr>
      <vt:lpstr>23_webwppDefTheme</vt:lpstr>
      <vt:lpstr>5_webwppDefTheme</vt:lpstr>
      <vt:lpstr>6_webwppDefTheme</vt:lpstr>
      <vt:lpstr>7_webwppDefTheme</vt:lpstr>
      <vt:lpstr>8_webwppDefTheme</vt:lpstr>
      <vt:lpstr>9_webwppDefTheme</vt:lpstr>
      <vt:lpstr>10_webwppDefTheme</vt:lpstr>
      <vt:lpstr>11_webwppDefTheme</vt:lpstr>
      <vt:lpstr>12_webwppDefTheme</vt:lpstr>
      <vt:lpstr>13_webwppDefTheme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Xingtao Fan</cp:lastModifiedBy>
  <cp:revision>1283</cp:revision>
  <cp:lastPrinted>2020-08-24T06:52:00Z</cp:lastPrinted>
  <dcterms:created xsi:type="dcterms:W3CDTF">2020-08-24T06:52:00Z</dcterms:created>
  <dcterms:modified xsi:type="dcterms:W3CDTF">2026-10-27T01:19:04Z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6CE3AC170A46476F9F966556CB5A9253</vt:lpwstr>
  </property>
</Properties>
</file>