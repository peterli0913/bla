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3"/>
  </p:notesMasterIdLst>
  <p:sldIdLst>
    <p:sldId id="3518" r:id="rId2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2" orient="horz" pos="806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2" name="Yanan Liu" initials="Y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A6DB4"/>
    <a:srgbClr val="DEEBF7"/>
    <a:srgbClr val="BFBFBF"/>
    <a:srgbClr val="D2DEEF"/>
    <a:srgbClr val="CC00CC"/>
    <a:srgbClr val="111111"/>
    <a:srgbClr val="5B9BD5"/>
    <a:srgbClr val="F3F6FB"/>
    <a:srgbClr val="E95E5C"/>
    <a:srgbClr val="AD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4" autoAdjust="0"/>
    <p:restoredTop sz="95799" autoAdjust="0"/>
  </p:normalViewPr>
  <p:slideViewPr>
    <p:cSldViewPr snapToGrid="0" snapToObjects="1">
      <p:cViewPr varScale="1">
        <p:scale>
          <a:sx n="59" d="100"/>
          <a:sy n="59" d="100"/>
        </p:scale>
        <p:origin x="12" y="224"/>
      </p:cViewPr>
      <p:guideLst>
        <p:guide orient="horz" pos="8062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anose="020005030000000200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7914" y="937634"/>
            <a:ext cx="14566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TJ4S-1200-AT01 / TJ4S-1213-AT09 Riboflavin Coverage Test</a:t>
            </a:r>
            <a:r>
              <a:rPr lang="zh-CN" altLang="en-US" sz="4400" b="1" dirty="0" smtClean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/>
            </a:r>
            <a:r>
              <a:rPr lang="zh-CN" altLang="en-US" sz="4400" b="1" dirty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/>
            </a:r>
            <a:endParaRPr lang="zh-CN" altLang="en-US" sz="4400" b="1" dirty="0"/>
          </a:p>
        </p:txBody>
      </p:sp>
      <p:sp>
        <p:nvSpPr>
          <p:cNvPr id="8" name="Rectangle 6"/>
          <p:cNvSpPr/>
          <p:nvPr/>
        </p:nvSpPr>
        <p:spPr>
          <a:xfrm>
            <a:off x="973182" y="3410078"/>
            <a:ext cx="384048" cy="384048"/>
          </a:xfrm>
          <a:prstGeom prst="rect">
            <a:avLst/>
          </a:prstGeom>
          <a:solidFill>
            <a:srgbClr val="1E276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36576" rIns="0" bIns="36576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638081" y="3410078"/>
            <a:ext cx="5806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Prepare a 0.1–0.2% riboflavin solution.</a:t>
            </a: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/>
            </a:r>
            <a:r>
              <a:rPr sz="2400" dirty="0" err="1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/>
            </a: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/>
            </a:r>
          </a:p>
        </p:txBody>
      </p:sp>
      <p:sp>
        <p:nvSpPr>
          <p:cNvPr id="10" name="Rectangle 8"/>
          <p:cNvSpPr/>
          <p:nvPr/>
        </p:nvSpPr>
        <p:spPr>
          <a:xfrm>
            <a:off x="973182" y="4401113"/>
            <a:ext cx="384048" cy="384048"/>
          </a:xfrm>
          <a:prstGeom prst="rect">
            <a:avLst/>
          </a:prstGeom>
          <a:solidFill>
            <a:srgbClr val="1E276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36576" rIns="0" bIns="36576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519208" y="4314028"/>
            <a:ext cx="1678490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Spray the inner surfaces with a riboflavin spray bottle. Under a UV lamp, confirm full coverage with no shadow areas, and that the solution wets the surface as a mist.</a:t>
            </a: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/>
            </a:r>
          </a:p>
        </p:txBody>
      </p:sp>
      <p:sp>
        <p:nvSpPr>
          <p:cNvPr id="12" name="Rectangle 10"/>
          <p:cNvSpPr/>
          <p:nvPr/>
        </p:nvSpPr>
        <p:spPr>
          <a:xfrm>
            <a:off x="973181" y="5739977"/>
            <a:ext cx="384049" cy="384048"/>
          </a:xfrm>
          <a:prstGeom prst="rect">
            <a:avLst/>
          </a:prstGeom>
          <a:solidFill>
            <a:srgbClr val="1E276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36576" rIns="0" bIns="36576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1540110" y="5703401"/>
            <a:ext cx="165952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After spraying, confirm the coverage under a UV lamp and photograph it with an explosion-proof phone. Include the inner wall, top head, manway, lid, spray ball, impeller, shaft, bottom, and thermowell. Attach the photos to the qualification file.</a:t>
            </a:r>
          </a:p>
        </p:txBody>
      </p:sp>
      <p:sp>
        <p:nvSpPr>
          <p:cNvPr id="32" name="Rectangle 12"/>
          <p:cNvSpPr/>
          <p:nvPr/>
        </p:nvSpPr>
        <p:spPr>
          <a:xfrm>
            <a:off x="18621330" y="4785251"/>
            <a:ext cx="5164183" cy="3576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>
              <a:latin typeface="+mj-ea"/>
              <a:ea typeface="+mj-ea"/>
            </a:endParaRPr>
          </a:p>
        </p:txBody>
      </p:sp>
      <p:sp>
        <p:nvSpPr>
          <p:cNvPr id="33" name="TextBox 13"/>
          <p:cNvSpPr txBox="1"/>
          <p:nvPr/>
        </p:nvSpPr>
        <p:spPr>
          <a:xfrm>
            <a:off x="18913939" y="5013851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+mj-ea"/>
                <a:ea typeface="+mj-ea"/>
              </a:rPr>
              <a:t>Step 3 · Photo locations</a:t>
            </a:r>
          </a:p>
        </p:txBody>
      </p:sp>
      <p:sp>
        <p:nvSpPr>
          <p:cNvPr id="34" name="Rectangle 15"/>
          <p:cNvSpPr/>
          <p:nvPr/>
        </p:nvSpPr>
        <p:spPr>
          <a:xfrm>
            <a:off x="18913939" y="5580779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+mj-ea"/>
                <a:ea typeface="+mj-ea"/>
              </a:rPr>
              <a:t>Inner wall</a:t>
            </a:r>
          </a:p>
        </p:txBody>
      </p:sp>
      <p:sp>
        <p:nvSpPr>
          <p:cNvPr id="35" name="Rectangle 16"/>
          <p:cNvSpPr/>
          <p:nvPr/>
        </p:nvSpPr>
        <p:spPr>
          <a:xfrm>
            <a:off x="20478871" y="5587328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dirty="0" err="1">
                <a:solidFill>
                  <a:srgbClr val="1E2761"/>
                </a:solidFill>
                <a:latin typeface="+mj-ea"/>
                <a:ea typeface="+mj-ea"/>
              </a:rPr>
              <a:t>Top head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36" name="Rectangle 17"/>
          <p:cNvSpPr/>
          <p:nvPr/>
        </p:nvSpPr>
        <p:spPr>
          <a:xfrm>
            <a:off x="22132192" y="5569636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dirty="0" err="1">
                <a:solidFill>
                  <a:srgbClr val="1E2761"/>
                </a:solidFill>
                <a:latin typeface="+mj-ea"/>
                <a:ea typeface="+mj-ea"/>
              </a:rPr>
              <a:t>Manway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18913939" y="6239147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+mj-ea"/>
                <a:ea typeface="+mj-ea"/>
              </a:rPr>
              <a:t>Lid</a:t>
            </a:r>
          </a:p>
        </p:txBody>
      </p:sp>
      <p:sp>
        <p:nvSpPr>
          <p:cNvPr id="38" name="Rectangle 19"/>
          <p:cNvSpPr/>
          <p:nvPr/>
        </p:nvSpPr>
        <p:spPr>
          <a:xfrm>
            <a:off x="20465810" y="6239147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+mj-ea"/>
                <a:ea typeface="+mj-ea"/>
              </a:rPr>
              <a:t>Spray ball</a:t>
            </a:r>
          </a:p>
        </p:txBody>
      </p:sp>
      <p:sp>
        <p:nvSpPr>
          <p:cNvPr id="39" name="Rectangle 20"/>
          <p:cNvSpPr/>
          <p:nvPr/>
        </p:nvSpPr>
        <p:spPr>
          <a:xfrm>
            <a:off x="22132192" y="6195112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dirty="0" err="1">
                <a:solidFill>
                  <a:srgbClr val="1E2761"/>
                </a:solidFill>
                <a:latin typeface="+mj-ea"/>
                <a:ea typeface="+mj-ea"/>
              </a:rPr>
              <a:t>Impeller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40" name="Rectangle 21"/>
          <p:cNvSpPr/>
          <p:nvPr/>
        </p:nvSpPr>
        <p:spPr>
          <a:xfrm>
            <a:off x="18913939" y="6897515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+mj-ea"/>
                <a:ea typeface="+mj-ea"/>
              </a:rPr>
              <a:t>Shaft</a:t>
            </a:r>
          </a:p>
        </p:txBody>
      </p:sp>
      <p:sp>
        <p:nvSpPr>
          <p:cNvPr id="41" name="Rectangle 22"/>
          <p:cNvSpPr/>
          <p:nvPr/>
        </p:nvSpPr>
        <p:spPr>
          <a:xfrm>
            <a:off x="20478871" y="6866086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+mj-ea"/>
                <a:ea typeface="+mj-ea"/>
              </a:rPr>
              <a:t>Bottom</a:t>
            </a:r>
          </a:p>
        </p:txBody>
      </p:sp>
      <p:sp>
        <p:nvSpPr>
          <p:cNvPr id="42" name="Rectangle 23"/>
          <p:cNvSpPr/>
          <p:nvPr/>
        </p:nvSpPr>
        <p:spPr>
          <a:xfrm>
            <a:off x="21894013" y="6866086"/>
            <a:ext cx="1555350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dirty="0" err="1">
                <a:solidFill>
                  <a:srgbClr val="1E2761"/>
                </a:solidFill>
                <a:latin typeface="+mj-ea"/>
                <a:ea typeface="+mj-ea"/>
              </a:rPr>
              <a:t>Thermowell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43" name="TextBox 24"/>
          <p:cNvSpPr txBox="1"/>
          <p:nvPr/>
        </p:nvSpPr>
        <p:spPr>
          <a:xfrm>
            <a:off x="18913939" y="7789998"/>
            <a:ext cx="405514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 err="1">
                <a:solidFill>
                  <a:srgbClr val="6B7280"/>
                </a:solidFill>
                <a:latin typeface="Microsoft YaHei"/>
              </a:rPr>
              <a:t>File every location photo in the qualification record.</a:t>
            </a:r>
            <a:endParaRPr sz="2400" dirty="0">
              <a:solidFill>
                <a:srgbClr val="6B7280"/>
              </a:solidFill>
              <a:latin typeface="Microsoft YaHei"/>
            </a:endParaRPr>
          </a:p>
        </p:txBody>
      </p:sp>
      <p:sp>
        <p:nvSpPr>
          <p:cNvPr id="44" name="Rectangle 6"/>
          <p:cNvSpPr/>
          <p:nvPr/>
        </p:nvSpPr>
        <p:spPr>
          <a:xfrm>
            <a:off x="973181" y="7470599"/>
            <a:ext cx="384048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5" name="TextBox 7"/>
          <p:cNvSpPr txBox="1"/>
          <p:nvPr/>
        </p:nvSpPr>
        <p:spPr>
          <a:xfrm>
            <a:off x="1540109" y="7462106"/>
            <a:ext cx="94544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dirty="0" err="1">
                <a:solidFill>
                  <a:srgbClr val="111827"/>
                </a:solidFill>
                <a:latin typeface="Microsoft YaHei"/>
              </a:rPr>
              <a:t>Rinse with purified water. Record rinse time, pressure, and volume.</a:t>
            </a:r>
            <a:r>
              <a:rPr sz="2400" dirty="0">
                <a:solidFill>
                  <a:srgbClr val="111827"/>
                </a:solidFill>
                <a:latin typeface="Microsoft YaHei"/>
              </a:rPr>
              <a:t/>
            </a:r>
          </a:p>
        </p:txBody>
      </p:sp>
      <p:sp>
        <p:nvSpPr>
          <p:cNvPr id="46" name="Rectangle 8"/>
          <p:cNvSpPr/>
          <p:nvPr/>
        </p:nvSpPr>
        <p:spPr>
          <a:xfrm>
            <a:off x="1080297" y="9750935"/>
            <a:ext cx="384048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9"/>
          <p:cNvSpPr txBox="1"/>
          <p:nvPr/>
        </p:nvSpPr>
        <p:spPr>
          <a:xfrm>
            <a:off x="1638080" y="9714359"/>
            <a:ext cx="2157310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dirty="0" err="1">
                <a:solidFill>
                  <a:srgbClr val="111827"/>
                </a:solidFill>
                <a:latin typeface="Microsoft YaHei"/>
              </a:rPr>
              <a:t>After the rinse, inspect under a UV lamp. Record any riboflavin residue and where it remains. If none remains, photograph the same locations as in Step 3 and file the photos.</a:t>
            </a:r>
            <a:r>
              <a:rPr sz="2400" dirty="0">
                <a:solidFill>
                  <a:srgbClr val="111827"/>
                </a:solidFill>
                <a:latin typeface="Microsoft YaHei"/>
              </a:rPr>
              <a:t/>
            </a:r>
            <a:r>
              <a:rPr sz="2400" dirty="0" err="1">
                <a:solidFill>
                  <a:srgbClr val="111827"/>
                </a:solidFill>
                <a:latin typeface="Microsoft YaHei"/>
              </a:rPr>
              <a:t/>
            </a:r>
            <a:r>
              <a:rPr sz="2400" dirty="0" smtClean="0">
                <a:solidFill>
                  <a:srgbClr val="111827"/>
                </a:solidFill>
                <a:latin typeface="Microsoft YaHei"/>
              </a:rPr>
              <a:t/>
            </a:r>
            <a:r>
              <a:rPr lang="zh-CN" altLang="en-US" sz="2400" dirty="0" smtClean="0">
                <a:solidFill>
                  <a:srgbClr val="111827"/>
                </a:solidFill>
                <a:latin typeface="Microsoft YaHei"/>
              </a:rPr>
              <a:t/>
            </a:r>
            <a:endParaRPr sz="240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8" name="TextBox 10"/>
          <p:cNvSpPr txBox="1"/>
          <p:nvPr/>
        </p:nvSpPr>
        <p:spPr>
          <a:xfrm>
            <a:off x="11106590" y="7373435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 err="1">
                <a:solidFill>
                  <a:srgbClr val="1E2761"/>
                </a:solidFill>
                <a:latin typeface="+mj-ea"/>
                <a:ea typeface="+mj-ea"/>
              </a:rPr>
              <a:t>Step 4 · Three parameters to record</a:t>
            </a:r>
            <a:r>
              <a:rPr sz="2400" b="1" dirty="0">
                <a:solidFill>
                  <a:srgbClr val="1E2761"/>
                </a:solidFill>
                <a:latin typeface="+mj-ea"/>
                <a:ea typeface="+mj-ea"/>
              </a:rPr>
              <a:t/>
            </a:r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/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11090366" y="7810008"/>
            <a:ext cx="4114800" cy="12801"/>
          </a:xfrm>
          <a:prstGeom prst="rect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>
              <a:latin typeface="+mj-ea"/>
              <a:ea typeface="+mj-ea"/>
            </a:endParaRPr>
          </a:p>
        </p:txBody>
      </p:sp>
      <p:sp>
        <p:nvSpPr>
          <p:cNvPr id="50" name="Rectangle 12"/>
          <p:cNvSpPr/>
          <p:nvPr/>
        </p:nvSpPr>
        <p:spPr>
          <a:xfrm>
            <a:off x="11090365" y="7983744"/>
            <a:ext cx="152617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 err="1" smtClean="0">
                <a:solidFill>
                  <a:srgbClr val="1E2761"/>
                </a:solidFill>
                <a:latin typeface="+mj-ea"/>
                <a:ea typeface="+mj-ea"/>
              </a:rPr>
              <a:t>Rinse time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51" name="Rectangle 13"/>
          <p:cNvSpPr/>
          <p:nvPr/>
        </p:nvSpPr>
        <p:spPr>
          <a:xfrm>
            <a:off x="12872036" y="7974664"/>
            <a:ext cx="15875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 err="1" smtClean="0">
                <a:solidFill>
                  <a:srgbClr val="1E2761"/>
                </a:solidFill>
                <a:latin typeface="+mj-ea"/>
                <a:ea typeface="+mj-ea"/>
              </a:rPr>
              <a:t>Rinse pressure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52" name="Rectangle 14"/>
          <p:cNvSpPr/>
          <p:nvPr/>
        </p:nvSpPr>
        <p:spPr>
          <a:xfrm>
            <a:off x="14715102" y="7974664"/>
            <a:ext cx="154118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 err="1" smtClean="0">
                <a:solidFill>
                  <a:srgbClr val="1E2761"/>
                </a:solidFill>
                <a:latin typeface="+mj-ea"/>
                <a:ea typeface="+mj-ea"/>
              </a:rPr>
              <a:t>Rinse volume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092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97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Helvetica Neue</vt:lpstr>
      <vt:lpstr>Microsoft YaHei</vt:lpstr>
      <vt:lpstr>Microsoft YaHei</vt:lpstr>
      <vt:lpstr>Arial</vt:lpstr>
      <vt:lpstr>Impact</vt:lpstr>
      <vt:lpstr>webwppDefTheme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Yanan Liu</cp:lastModifiedBy>
  <cp:revision>62</cp:revision>
  <cp:lastPrinted>2026-03-02T02:19:42Z</cp:lastPrinted>
  <dcterms:created xsi:type="dcterms:W3CDTF">2026-03-02T02:19:42Z</dcterms:created>
  <dcterms:modified xsi:type="dcterms:W3CDTF">2026-10-19T05:05:25Z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6CE3AC170A46476F9F966556CB5A9253</vt:lpwstr>
  </property>
</Properties>
</file>