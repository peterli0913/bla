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5" r:id="rId3"/>
    <p:sldId id="286" r:id="rId4"/>
    <p:sldId id="300" r:id="rId5"/>
    <p:sldId id="304" r:id="rId6"/>
    <p:sldId id="305" r:id="rId7"/>
    <p:sldId id="303" r:id="rId8"/>
    <p:sldId id="302" r:id="rId9"/>
    <p:sldId id="30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xuan Bu17334" initials="Q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DE29-530B-4A92-B559-3A8E328F45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AFF6D-188D-41AE-B623-A5FDCCC46D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5.emf"/><Relationship Id="rId4" Type="http://schemas.openxmlformats.org/officeDocument/2006/relationships/slideLayout" Target="../slideLayouts/slideLayout1.xml"/><Relationship Id="rId5" Type="http://schemas.openxmlformats.org/officeDocument/2006/relationships/vmlDrawing" Target="../drawings/vmlDrawing1.v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oleObject" Target="../embeddings/oleObject2.bin"/><Relationship Id="rId3" Type="http://schemas.openxmlformats.org/officeDocument/2006/relationships/image" Target="../media/image6.emf"/><Relationship Id="rId4" Type="http://schemas.openxmlformats.org/officeDocument/2006/relationships/slideLayout" Target="../slideLayouts/slideLayout1.xml"/><Relationship Id="rId5" Type="http://schemas.openxmlformats.org/officeDocument/2006/relationships/vmlDrawing" Target="../drawings/vmlDrawing2.v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jpe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jpeg"/><Relationship Id="rId1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34.jpeg"/><Relationship Id="rId3" Type="http://schemas.openxmlformats.org/officeDocument/2006/relationships/image" Target="../media/image35.jpeg"/><Relationship Id="rId4" Type="http://schemas.openxmlformats.org/officeDocument/2006/relationships/image" Target="../media/image36.jpeg"/><Relationship Id="rId5" Type="http://schemas.openxmlformats.org/officeDocument/2006/relationships/image" Target="../media/image37.jpeg"/><Relationship Id="rId6" Type="http://schemas.openxmlformats.org/officeDocument/2006/relationships/image" Target="../media/image38.jpeg"/><Relationship Id="rId7" Type="http://schemas.openxmlformats.org/officeDocument/2006/relationships/image" Target="../media/image39.jpeg"/><Relationship Id="rId8" Type="http://schemas.openxmlformats.org/officeDocument/2006/relationships/image" Target="../media/image40.jpeg"/><Relationship Id="rId9" Type="http://schemas.openxmlformats.org/officeDocument/2006/relationships/image" Target="../media/image41.png"/><Relationship Id="rId10" Type="http://schemas.openxmlformats.org/officeDocument/2006/relationships/image" Target="../media/image42.jpeg"/><Relationship Id="rId11" Type="http://schemas.openxmlformats.org/officeDocument/2006/relationships/image" Target="../media/image43.jpeg"/><Relationship Id="rId12" Type="http://schemas.openxmlformats.org/officeDocument/2006/relationships/image" Target="../media/image44.jpeg"/><Relationship Id="rId13" Type="http://schemas.openxmlformats.org/officeDocument/2006/relationships/image" Target="../media/image45.png"/><Relationship Id="rId14" Type="http://schemas.openxmlformats.org/officeDocument/2006/relationships/image" Target="../media/image46.jpeg"/><Relationship Id="rId15" Type="http://schemas.openxmlformats.org/officeDocument/2006/relationships/image" Target="../media/image47.jpeg"/><Relationship Id="rId1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3467" y="128233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6" name="图片 11" descr="333"/>
          <p:cNvPicPr>
            <a:picLocks noChangeAspect="1"/>
          </p:cNvPicPr>
          <p:nvPr/>
        </p:nvPicPr>
        <p:blipFill>
          <a:blip r:embed="rId1"/>
          <a:srcRect l="2396" r="3197" b="-1489"/>
          <a:stretch>
            <a:fillRect/>
          </a:stretch>
        </p:blipFill>
        <p:spPr>
          <a:xfrm>
            <a:off x="-1" y="3926127"/>
            <a:ext cx="12192000" cy="2364598"/>
          </a:xfrm>
          <a:prstGeom prst="rect">
            <a:avLst/>
          </a:prstGeom>
          <a:noFill/>
          <a:ln w="9525"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0"/>
          </a:effectLst>
        </p:spPr>
      </p:pic>
      <p:pic>
        <p:nvPicPr>
          <p:cNvPr id="17" name="图片 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19" y="456302"/>
            <a:ext cx="2663161" cy="482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1"/>
          <p:cNvSpPr txBox="1"/>
          <p:nvPr/>
        </p:nvSpPr>
        <p:spPr>
          <a:xfrm>
            <a:off x="0" y="5970399"/>
            <a:ext cx="12192000" cy="496996"/>
          </a:xfrm>
          <a:prstGeom prst="rect">
            <a:avLst/>
          </a:prstGeom>
          <a:solidFill>
            <a:srgbClr val="7EB2E6"/>
          </a:solidFill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Green Chemistry is the Future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19" name="Rectangle 111"/>
          <p:cNvSpPr txBox="1"/>
          <p:nvPr/>
        </p:nvSpPr>
        <p:spPr>
          <a:xfrm>
            <a:off x="1714500" y="6376451"/>
            <a:ext cx="8763000" cy="456535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www.asymchem.com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Stock Code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: 002821.SZ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7EB2E6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15344" y="2059759"/>
            <a:ext cx="12076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Impact" panose="020B0806030902050204" pitchFamily="34" charset="0"/>
              </a:rPr>
              <a:t>Gap Identification – Ultrafiltration</a:t>
            </a: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6" y="-9039"/>
            <a:ext cx="1806174" cy="49259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10514" y="52591"/>
            <a:ext cx="529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800">
                <a:latin typeface="Times New Roman"/>
                <a:ea typeface="Times New Roman"/>
                <a:cs typeface="Times New Roman"/>
              </a:rPr>
              <a:t>Category 3 Piping and Equipment Requirements</a:t>
            </a:r>
            <a:endParaRPr lang="en-US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6266" y="483550"/>
          <a:ext cx="11726333" cy="6001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710"/>
                <a:gridCol w="9206623"/>
              </a:tblGrid>
              <a:tr h="260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Category 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9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Standard Item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Description / Guidance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9603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Lines, Connections, Components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 connections (solid gasket seal)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ASME BPE tubing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96031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Ball valves: not permitted in systems at risk of residue, as material trapped behind the ball is a hazard; ball valves may be used for isolation in solvent systems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MOC: stainless steel, high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Follow ASME BPE; if another sanitary standard is used, its acceptability must be assessed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Tanks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Material: stainless steel or high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Ra, i.e.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 connections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843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Minimize the projection length of nozzles on tank heads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9603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Applies to buffer systems: solvent media, not growth-promoting, no product build-up, no routine cleaning required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Minimize dead legs; where a dead leg exists, it must have a path for cleaning, changeover and draining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Assess dead legs against the BPE 2 L/D criterion; they must be flushable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Very small dead legs are acceptable where the system is always liquid-full in normal operation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Tanks and large non-piping components require a spray coverage test to support flushing / changeover; cleaning validation not required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Surface Finish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 or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843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weld inspection: smooth internal weld surface, no dead spots for product hold-up</a:t>
                      </a:r>
                      <a:endParaRPr lang="en-US" sz="1000" b="0" u="none" strike="noStrike" kern="1200">
                        <a:solidFill>
                          <a:schemeClr val="dk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 Slope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Line slope not mandatory, but the system must be designed to be drainable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843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Provide low-point drains as needed to ensure effective flushing and changeover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Documentation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Full set of ASME weld documentation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  <a:tr h="40645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Elastomers in contact with product or process materials (solvents, buffers, etc.) require compliance documents: FDA 21 CFR or USP Class VI material certificates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96" marR="6696" marT="6696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6" y="-9039"/>
            <a:ext cx="1806174" cy="49259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68222" y="52591"/>
            <a:ext cx="529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800">
                <a:latin typeface="Times New Roman"/>
                <a:ea typeface="Times New Roman"/>
                <a:cs typeface="Times New Roman"/>
              </a:rPr>
              <a:t>Category 4 Piping and Equipment Requirements</a:t>
            </a:r>
            <a:endParaRPr lang="en-US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7066" y="483553"/>
          <a:ext cx="11656637" cy="5968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8487"/>
                <a:gridCol w="9568150"/>
              </a:tblGrid>
              <a:tr h="2728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Category 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2161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Standard Item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Description / Guidance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390150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Lines, Connections, Components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 connections (solid gasket seal)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ASME BPE tubing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Diaphragm valves or other clean-in-place valves; ball valves prohibited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37167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Minimum dead-leg fittings (zero-static valves, integrated aseptic GMP valves, instrument tees, etc.)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MOC: stainless steel,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37167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Follow ASME BPE; where another sanitary standard is used, its acceptability must be assessed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Tanks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Material: stainless steel or alloy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 /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Tri-clamp, NovAseptic or equivalent aseptic connections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257505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Minimize nozzle length on tank heads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Product-contact tanks and piping require cleaning validation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Higher cleaning frequency and more rigorous cleaning inspection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5523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 ○ Per guidance, establish clean / dirty hold times and perform bioburden sampling; the system must be fully drainable and flushable, leaving no substrate for microbial growth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5523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Tanks and large non-piping components requiring cleaning validation must pass a spray coverage test (e.g. AFD dust filter, discharge chute, product glovebox) so that cleaning validation is reproducible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Surface Finish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surface finish: NMT 25 µin Ra or 0.63 µm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20534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Internal weld inspection: smooth internal surface, no dead spots for product hold-up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205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Line Slope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Line slope mandatory to ensure the piping system is fully drainable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Documentation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Enhanced weld documentation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Line slope drawings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Weld maps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  <a:tr h="20534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• Elastomer material certificates (FDA 21 CFR compliant)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25" marR="6725" marT="67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565069" y="138793"/>
            <a:ext cx="4447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P&amp;ID before Retrofit – Tank Section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657" y="419450"/>
          <a:ext cx="11933265" cy="6414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ZWCAD Drawing" r:id="rId2" imgW="11421745" imgH="5117465" progId="ZWCAD.Drawing.2020">
                  <p:embed/>
                </p:oleObj>
              </mc:Choice>
              <mc:Fallback>
                <p:oleObj name="ZWCAD Drawing" r:id="rId2" imgW="11421745" imgH="5117465" progId="ZWCAD.Drawing.2020">
                  <p:embed/>
                  <p:pic>
                    <p:nvPicPr>
                      <p:cNvPr id="0" name="图片 103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57" y="419450"/>
                        <a:ext cx="11933265" cy="6414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N retrofit notes"/>
          <p:cNvSpPr/>
          <p:nvPr/>
        </p:nvSpPr>
        <p:spPr>
          <a:xfrm>
            <a:off x="9220200" y="1212850"/>
            <a:ext cx="2921000" cy="163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5400" rIns="25400" tIns="0" bIns="0"/>
          <a:lstStyle/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Replace the tank with a BPE-compliant tank;</a:t>
            </a:r>
          </a:p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Replace the DP level transmitter with a radar level transmitter;</a:t>
            </a:r>
          </a:p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Feed each material through a separate inlet;</a:t>
            </a:r>
          </a:p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4. Remove the pressure gauge root valve;</a:t>
            </a:r>
          </a:p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5. Add in-line CIP cleaning to the tank;</a:t>
            </a:r>
          </a:p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6. Change the dip-tube thermometer to bottom-outlet measurement;</a:t>
            </a:r>
          </a:p>
          <a:p>
            <a:pPr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</a:pPr>
            <a:r>
              <a:rPr sz="80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7. Modify the tank bottom outlet valve.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748036" y="138793"/>
            <a:ext cx="4264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P&amp;ID after Retrofit – Tank Section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" y="-242113"/>
          <a:ext cx="12675764" cy="7404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ZWCAD Drawing" r:id="rId2" imgW="11767820" imgH="6014720" progId="ZWCAD.Drawing.2020">
                  <p:embed/>
                </p:oleObj>
              </mc:Choice>
              <mc:Fallback>
                <p:oleObj name="ZWCAD Drawing" r:id="rId2" imgW="11767820" imgH="6014720" progId="ZWCAD.Drawing.2020">
                  <p:embed/>
                  <p:pic>
                    <p:nvPicPr>
                      <p:cNvPr id="0" name="图片 206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" y="-242113"/>
                        <a:ext cx="12675764" cy="7404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N retrofit notes"/>
          <p:cNvSpPr/>
          <p:nvPr/>
        </p:nvSpPr>
        <p:spPr>
          <a:xfrm>
            <a:off x="8648700" y="1028700"/>
            <a:ext cx="3492500" cy="135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5400" rIns="25400" tIns="0" bIns="0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Replace the tank with a BPE-compliant tank;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Replace the DP level transmitter with a radar level transmitter;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Feed each material through a separate inlet;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4. Remove the pressure gauge root valve;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5. Add in-line CIP cleaning to the tank;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6. Change the dip-tube thermometer to bottom-outlet measurement;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85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7. Modify the tank bottom outlet valve.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295902" y="0"/>
            <a:ext cx="3812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/>
                <a:ea typeface="Times New Roman"/>
                <a:cs typeface="Times New Roman"/>
              </a:rPr>
              <a:t>Category 4 Tank Requirements</a:t>
            </a:r>
            <a:endParaRPr lang="en-US" sz="2000" b="1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92016" y="840920"/>
          <a:ext cx="11027841" cy="551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</a:tblGrid>
              <a:tr h="90187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Material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Valves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Slope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Polishing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Lighting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Tee Dead Legs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Instruments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Remarks</a:t>
                      </a:r>
                      <a:endParaRPr lang="en-US" sz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2965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C4 Standard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316L stainless steel or alloy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Diaphragm valve or other clean-in-place valve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Tri-clamp connections (solid gasket seal)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Removable for cleaning, drainable, 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Slope &gt; 1%, fully drainable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Internal finish: NMT 25 µin Ra or 0.63 µm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3D compliant, minimum dead-leg design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Installed to meet 3D, easy to clean, no dead legs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92858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Tank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316L</a:t>
                      </a:r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Level gauge diaphragm valve angle non-compliant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Compliant, all clamp connections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Non-compliant: diaphragm valve at level gauge cannot be cleaned in line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Slope 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Non-compliant, no sight-glass light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Non-compliant, does not meet 3D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Non-compliance: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Replace the entire tank with a BPE-compliant tank;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Separate inlet for each material;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Add in-line CIP to the tank to meet cleaning needs.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887088">
                <a:tc v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vMerge="1">
                  <a:tcPr anchor="ctr"/>
                </a:tc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vMerge="1">
                  <a:tcPr anchor="ctr"/>
                </a:tc>
              </a:tr>
              <a:tr h="79218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TFF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UF Skid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316L</a:t>
                      </a:r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Diaphragm valves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Compliant, all clamp connections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Slope 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1115396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vMerge="1">
                  <a:tcPr anchor="ctr"/>
                </a:tc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866" y="3658984"/>
            <a:ext cx="978396" cy="73379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66" y="3673709"/>
            <a:ext cx="958587" cy="724039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70" y="3673709"/>
            <a:ext cx="975652" cy="704346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539" y="3673710"/>
            <a:ext cx="987296" cy="70434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630" y="3620989"/>
            <a:ext cx="989981" cy="77179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472" y="5285409"/>
            <a:ext cx="905139" cy="97834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5968" y="3620989"/>
            <a:ext cx="876438" cy="76653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5968" y="5285409"/>
            <a:ext cx="876438" cy="988226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9"/>
          <a:srcRect l="-513" t="12323" r="15967" b="10020"/>
          <a:stretch>
            <a:fillRect/>
          </a:stretch>
        </p:blipFill>
        <p:spPr>
          <a:xfrm>
            <a:off x="1900866" y="5404905"/>
            <a:ext cx="970602" cy="753896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9894" y="5482132"/>
            <a:ext cx="952632" cy="7754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1843" y="5285409"/>
            <a:ext cx="757676" cy="1010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7917" y="5291020"/>
            <a:ext cx="736961" cy="9826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6572" y="5299218"/>
            <a:ext cx="736961" cy="982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7829" y="3600448"/>
            <a:ext cx="597136" cy="796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26672" y="923808"/>
          <a:ext cx="10001021" cy="5110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9537"/>
                <a:gridCol w="834016"/>
                <a:gridCol w="1032988"/>
                <a:gridCol w="1235491"/>
                <a:gridCol w="687294"/>
                <a:gridCol w="1227309"/>
                <a:gridCol w="940938"/>
                <a:gridCol w="1180906"/>
                <a:gridCol w="1041271"/>
                <a:gridCol w="1041271"/>
              </a:tblGrid>
              <a:tr h="4878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en-US" sz="1200" b="1" u="none" strike="noStrike" kern="1200">
                        <a:solidFill>
                          <a:schemeClr val="dk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Material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Valves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Standard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Slope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Remarks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983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C3 Standard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Stainless steel, alloy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Diaphragm valves or other clean-in-place valves; ball valves prohibited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Tri-clamp connections (solid gasket seal)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BPE tubing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can be CIP-cleaned; 3D design to minimize residual dead legs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Slope &gt; 1%, fully drainable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drains provided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1. Surface finish per manufacturer standard, compliant;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2. No flowmeter issue on these lines;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24818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Solvent Drum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105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→ </a:t>
                      </a:r>
                      <a:endParaRPr lang="en-US" sz="10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TJ4S-1211-TFF02</a:t>
                      </a:r>
                      <a:endParaRPr lang="en-US" sz="8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ACN / Water Line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316L Stainless Steel/DN25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Non-compliant; replace with BPE tubing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 low-point drain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188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3D-compliant piping to minimize residual dead legs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445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CNC-Solvent   →    </a:t>
                      </a:r>
                      <a:endParaRPr lang="en-US" sz="8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TJ4S-1211-TFF02-T01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Methanol Line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Non-compliant; replace with BPE tubing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8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 low-point drain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3D-compliant piping to minimize residual dead legs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970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TJ4S-1211-R02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→ </a:t>
                      </a:r>
                      <a:endParaRPr lang="en-US" sz="5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NaOH Line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Non-compliant; replace with BPE tubing</a:t>
                      </a:r>
                      <a:endParaRPr lang="en-US" sz="8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8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Has low-point drain, compliant</a:t>
                      </a:r>
                      <a:endParaRPr lang="en-US" sz="8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 marL="2691" marR="2691" marT="2691" marB="0" anchor="ctr"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</a:rPr>
                        <a:t>Replace filter to meet drainage requirement</a:t>
                      </a:r>
                      <a:endParaRPr lang="en-US" sz="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367" y="2658580"/>
            <a:ext cx="1083556" cy="902291"/>
          </a:xfrm>
          <a:prstGeom prst="rect">
            <a:avLst/>
          </a:prstGeom>
        </p:spPr>
      </p:pic>
      <p:pic>
        <p:nvPicPr>
          <p:cNvPr id="9" name="图片 8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ac9e4adae7622284ef524de4879b5ca950e75b74?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6200000">
            <a:off x="3888500" y="3753991"/>
            <a:ext cx="965678" cy="108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6293e19f6f6c4350d3b4eb212d8eae595ffcbf0b?"/>
          <p:cNvPicPr>
            <a:picLocks noChangeAspect="1" noChangeArrowheads="1"/>
          </p:cNvPicPr>
          <p:nvPr/>
        </p:nvPicPr>
        <p:blipFill rotWithShape="1">
          <a:blip r:embed="rId4"/>
          <a:srcRect r="16932"/>
          <a:stretch>
            <a:fillRect/>
          </a:stretch>
        </p:blipFill>
        <p:spPr bwMode="auto">
          <a:xfrm rot="5400000">
            <a:off x="3986028" y="4931651"/>
            <a:ext cx="791543" cy="1104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6439" y="2646218"/>
            <a:ext cx="965174" cy="8838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/>
          <a:srcRect t="12517" b="9524"/>
          <a:stretch>
            <a:fillRect/>
          </a:stretch>
        </p:blipFill>
        <p:spPr>
          <a:xfrm>
            <a:off x="2757935" y="3793639"/>
            <a:ext cx="1042182" cy="955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7"/>
          <a:srcRect t="7357" b="12947"/>
          <a:stretch>
            <a:fillRect/>
          </a:stretch>
        </p:blipFill>
        <p:spPr>
          <a:xfrm>
            <a:off x="2766543" y="5074634"/>
            <a:ext cx="1024965" cy="8083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8068" y="2658580"/>
            <a:ext cx="792379" cy="9073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0512" y="3809850"/>
            <a:ext cx="751163" cy="9782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8068" y="5088312"/>
            <a:ext cx="751164" cy="8356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7883" y="2646218"/>
            <a:ext cx="792379" cy="9042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7883" y="3793639"/>
            <a:ext cx="792379" cy="9559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5412" y="2646219"/>
            <a:ext cx="793940" cy="90424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4"/>
          <a:srcRect t="11985"/>
          <a:stretch>
            <a:fillRect/>
          </a:stretch>
        </p:blipFill>
        <p:spPr>
          <a:xfrm>
            <a:off x="8058687" y="5088312"/>
            <a:ext cx="813724" cy="80833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58687" y="3795447"/>
            <a:ext cx="850356" cy="9850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55171" y="1102178"/>
          <a:ext cx="11225894" cy="5047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664"/>
                <a:gridCol w="679533"/>
                <a:gridCol w="863518"/>
                <a:gridCol w="938893"/>
                <a:gridCol w="947057"/>
                <a:gridCol w="1020535"/>
                <a:gridCol w="742950"/>
                <a:gridCol w="980188"/>
                <a:gridCol w="1079918"/>
                <a:gridCol w="1195234"/>
                <a:gridCol w="1195234"/>
                <a:gridCol w="1003170"/>
              </a:tblGrid>
              <a:tr h="687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Item</a:t>
                      </a:r>
                      <a:endParaRPr lang="en-US" sz="1200" b="1" u="none" strike="noStrike" kern="1200">
                        <a:solidFill>
                          <a:schemeClr val="dk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Material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Valves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Standard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Cleaning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Slope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Flowmeter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Remarks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1249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C4 Standard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Stainless steel or alloy, BPE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Diaphragm valves or other clean-in-place valves; ball valves prohibited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Tri-clamp connections (solid gasket seal)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BPE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Piping can be CIP-cleaned; 3D design to minimize residual dead legs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Slope &gt; 1%, fully drainable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 non-drainable flowmeters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Low-point drains provided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1. Piping material is BPE, compliant;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2. Surface finish per manufacturer standard, compliant;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sz="1000" b="1" i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See attachment for details</a:t>
                      </a:r>
                      <a:endParaRPr lang="en-US" sz="1000" b="1" i="0" u="none" strike="noStrik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</a:tr>
              <a:tr h="2821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TJ4S-1211-HPPC03-AT03  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105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→ </a:t>
                      </a:r>
                      <a:endParaRPr lang="en-US" sz="10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TJ4S-1211-TFF02-T01</a:t>
                      </a:r>
                      <a:endParaRPr lang="en-US" sz="8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Prep Fraction Feed to Tank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BPE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diaphragm valves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flowmeter installed vertically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091547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Retrofitted piping meets 3D; cleaned in place by CIP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41171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TJ4S-1211-TFF02-T01   →    </a:t>
                      </a:r>
                      <a:endParaRPr lang="en-US" sz="800" b="1" u="none" strike="noStrike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TJ4S-1211-TFF02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Methanol and Prep Fraction Feed to UF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BPE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diaphragm valves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Compliant, clamp joints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Compliant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Non-compliant: no low-point drain on piping or filter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Retrofit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323450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</a:rPr>
                        <a:t>Retrofitted piping meets 3D; cleaned in place by CIP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Add a low-point drain;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Add an inlet drain to the filter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</a:tbl>
          </a:graphicData>
        </a:graphic>
      </p:graphicFrame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2712003" y="3484834"/>
            <a:ext cx="889775" cy="624689"/>
          </a:xfrm>
          <a:prstGeom prst="rect">
            <a:avLst/>
          </a:prstGeom>
        </p:spPr>
      </p:pic>
      <p:pic>
        <p:nvPicPr>
          <p:cNvPr id="23" name="ID_7056E3DE993849B097D73D71306A319B" descr="upload_post_object_v2_994685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709" y="5034917"/>
            <a:ext cx="901613" cy="692573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815242" y="3463876"/>
            <a:ext cx="855445" cy="624689"/>
          </a:xfrm>
          <a:prstGeom prst="rect">
            <a:avLst/>
          </a:prstGeom>
        </p:spPr>
      </p:pic>
      <p:pic>
        <p:nvPicPr>
          <p:cNvPr id="25" name="ID_52347A3A78B044F786719B78E7A0D051" descr="upload_post_object_v2_37009397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242" y="5046963"/>
            <a:ext cx="855445" cy="697657"/>
          </a:xfrm>
          <a:prstGeom prst="rect">
            <a:avLst/>
          </a:prstGeom>
        </p:spPr>
      </p:pic>
      <p:pic>
        <p:nvPicPr>
          <p:cNvPr id="26" name="ID_63A1A211A4FB4BE3ABC66FEC16AA1969" descr="upload_post_object_v2_208661048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0718" y="5038312"/>
            <a:ext cx="850223" cy="685782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4557006" y="3477698"/>
            <a:ext cx="1003919" cy="631825"/>
          </a:xfrm>
          <a:prstGeom prst="rect">
            <a:avLst/>
          </a:prstGeom>
        </p:spPr>
      </p:pic>
      <p:pic>
        <p:nvPicPr>
          <p:cNvPr id="28" name="ID_B21277D4E7644EC19A1FBF04659F3E2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552" y="5019646"/>
            <a:ext cx="1003919" cy="70444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8180" y="3416418"/>
            <a:ext cx="764107" cy="821250"/>
          </a:xfrm>
          <a:prstGeom prst="rect">
            <a:avLst/>
          </a:prstGeom>
        </p:spPr>
      </p:pic>
      <p:pic>
        <p:nvPicPr>
          <p:cNvPr id="30" name="图片 29"/>
          <p:cNvPicPr/>
          <p:nvPr/>
        </p:nvPicPr>
        <p:blipFill>
          <a:blip r:embed="rId10"/>
          <a:stretch>
            <a:fillRect/>
          </a:stretch>
        </p:blipFill>
        <p:spPr>
          <a:xfrm>
            <a:off x="8546854" y="3416418"/>
            <a:ext cx="747726" cy="821250"/>
          </a:xfrm>
          <a:prstGeom prst="rect">
            <a:avLst/>
          </a:prstGeom>
        </p:spPr>
      </p:pic>
      <p:pic>
        <p:nvPicPr>
          <p:cNvPr id="31" name="ID_EBE94E2721F440F7953A9930A6612DC2" descr="upload_post_object_v2_32064366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5569" y="4972021"/>
            <a:ext cx="555282" cy="799695"/>
          </a:xfrm>
          <a:prstGeom prst="rect">
            <a:avLst/>
          </a:prstGeom>
        </p:spPr>
      </p:pic>
      <p:pic>
        <p:nvPicPr>
          <p:cNvPr id="32" name="ID_B21277D4E7644EC19A1FBF04659F3E2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9621" y="4964387"/>
            <a:ext cx="535457" cy="79598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4342" y="3416418"/>
            <a:ext cx="757052" cy="821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4342" y="4915632"/>
            <a:ext cx="723632" cy="912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7567" y="3485686"/>
            <a:ext cx="879520" cy="623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4240</Words>
  <Application>WPS 演示</Application>
  <PresentationFormat>宽屏</PresentationFormat>
  <Paragraphs>644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等线</vt:lpstr>
      <vt:lpstr>Arial</vt:lpstr>
      <vt:lpstr>Calibri</vt:lpstr>
      <vt:lpstr>微软雅黑</vt:lpstr>
      <vt:lpstr>Impact</vt:lpstr>
      <vt:lpstr>Times New Roman</vt:lpstr>
      <vt:lpstr>Arial Unicode MS</vt:lpstr>
      <vt:lpstr>等线 Light</vt:lpstr>
      <vt:lpstr>Yu Gothic</vt:lpstr>
      <vt:lpstr>MS PGothic</vt:lpstr>
      <vt:lpstr>Office 主题​​</vt:lpstr>
      <vt:lpstr>ZWCAD.Drawing.2020</vt:lpstr>
      <vt:lpstr>ZWCAD.Drawing.2020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Qixuan Bu17334</dc:creator>
  <cp:lastModifiedBy>BT</cp:lastModifiedBy>
  <cp:revision>256</cp:revision>
  <dcterms:created xsi:type="dcterms:W3CDTF">2026-08-11T10:09:00Z</dcterms:created>
  <dcterms:modified xsi:type="dcterms:W3CDTF">2026-10-07T10:41:01Z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2DF86E9A534C45C6A208A90191D99672_12</vt:lpwstr>
  </property>
  <property fmtid="{D5CDD505-2E9C-101B-9397-08002B2CF9AE}" pid="3" name="KSOProductBuildVer">
    <vt:lpwstr>2052-12.1.0.28043</vt:lpwstr>
  </property>
</Properties>
</file>