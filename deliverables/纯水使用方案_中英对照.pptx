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3" r:id="rId2"/>
    <p:sldId id="267" r:id="rId3"/>
    <p:sldId id="266" r:id="rId4"/>
    <p:sldId id="264" r:id="rId5"/>
    <p:sldId id="260" r:id="rId6"/>
    <p:sldId id="268" r:id="rId12"/>
    <p:sldId id="262" r:id="rId7"/>
    <p:sldId id="269" r:id="rId1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04A6"/>
    <a:srgbClr val="B51B40"/>
    <a:srgbClr val="FF7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51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7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openxmlformats.org/officeDocument/2006/relationships/slide" Target="slides/slide6.xml"/><Relationship Id="rId13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1E7D6-EC98-45BA-AFBC-2646A1C90A09}" type="datetimeFigureOut">
              <a:rPr lang="zh-CN" altLang="en-US" smtClean="0"/>
              <a:t>2026/9/24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F823BC-C1D6-4B34-9F47-12DE94B018D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91940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1E7D6-EC98-45BA-AFBC-2646A1C90A09}" type="datetimeFigureOut">
              <a:rPr lang="zh-CN" altLang="en-US" smtClean="0"/>
              <a:t>2026/9/24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F823BC-C1D6-4B34-9F47-12DE94B018D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518453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1E7D6-EC98-45BA-AFBC-2646A1C90A09}" type="datetimeFigureOut">
              <a:rPr lang="zh-CN" altLang="en-US" smtClean="0"/>
              <a:t>2026/9/24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F823BC-C1D6-4B34-9F47-12DE94B018D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078678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1E7D6-EC98-45BA-AFBC-2646A1C90A09}" type="datetimeFigureOut">
              <a:rPr lang="zh-CN" altLang="en-US" smtClean="0"/>
              <a:t>2026/9/24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F823BC-C1D6-4B34-9F47-12DE94B018D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601678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1E7D6-EC98-45BA-AFBC-2646A1C90A09}" type="datetimeFigureOut">
              <a:rPr lang="zh-CN" altLang="en-US" smtClean="0"/>
              <a:t>2026/9/24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F823BC-C1D6-4B34-9F47-12DE94B018D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607411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1E7D6-EC98-45BA-AFBC-2646A1C90A09}" type="datetimeFigureOut">
              <a:rPr lang="zh-CN" altLang="en-US" smtClean="0"/>
              <a:t>2026/9/24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F823BC-C1D6-4B34-9F47-12DE94B018D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31977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1E7D6-EC98-45BA-AFBC-2646A1C90A09}" type="datetimeFigureOut">
              <a:rPr lang="zh-CN" altLang="en-US" smtClean="0"/>
              <a:t>2026/9/24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F823BC-C1D6-4B34-9F47-12DE94B018D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88239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1E7D6-EC98-45BA-AFBC-2646A1C90A09}" type="datetimeFigureOut">
              <a:rPr lang="zh-CN" altLang="en-US" smtClean="0"/>
              <a:t>2026/9/24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F823BC-C1D6-4B34-9F47-12DE94B018D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210416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1E7D6-EC98-45BA-AFBC-2646A1C90A09}" type="datetimeFigureOut">
              <a:rPr lang="zh-CN" altLang="en-US" smtClean="0"/>
              <a:t>2026/9/24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F823BC-C1D6-4B34-9F47-12DE94B018D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481961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1E7D6-EC98-45BA-AFBC-2646A1C90A09}" type="datetimeFigureOut">
              <a:rPr lang="zh-CN" altLang="en-US" smtClean="0"/>
              <a:t>2026/9/24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F823BC-C1D6-4B34-9F47-12DE94B018D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43619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1E7D6-EC98-45BA-AFBC-2646A1C90A09}" type="datetimeFigureOut">
              <a:rPr lang="zh-CN" altLang="en-US" smtClean="0"/>
              <a:t>2026/9/24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F823BC-C1D6-4B34-9F47-12DE94B018D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4635958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 with phot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Линия"/>
          <p:cNvSpPr/>
          <p:nvPr userDrawn="1"/>
        </p:nvSpPr>
        <p:spPr>
          <a:xfrm flipV="1">
            <a:off x="3493453" y="655002"/>
            <a:ext cx="8698548" cy="0"/>
          </a:xfrm>
          <a:prstGeom prst="line">
            <a:avLst/>
          </a:prstGeom>
          <a:ln w="57150" cap="flat" cmpd="sng">
            <a:solidFill>
              <a:srgbClr val="2F5A9E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" name="矩形 5"/>
          <p:cNvSpPr/>
          <p:nvPr userDrawn="1"/>
        </p:nvSpPr>
        <p:spPr>
          <a:xfrm>
            <a:off x="0" y="6474354"/>
            <a:ext cx="12192000" cy="284693"/>
          </a:xfrm>
          <a:prstGeom prst="rect">
            <a:avLst/>
          </a:prstGeom>
          <a:solidFill>
            <a:srgbClr val="2F5A9E"/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19050" tIns="19050" rIns="19050" bIns="19050" numCol="1" spcCol="38100" rtlCol="0" anchor="ctr" forceAA="0">
            <a:spAutoFit/>
          </a:bodyPr>
          <a:lstStyle/>
          <a:p>
            <a:pPr marL="0" marR="0" indent="0" algn="ctr" defTabSz="41275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600" b="1" i="0" u="none" strike="noStrike" cap="none" spc="0" normalizeH="0" baseline="0" noProof="1">
              <a:ln>
                <a:noFill/>
              </a:ln>
              <a:solidFill>
                <a:srgbClr val="FFFFFF"/>
              </a:solidFill>
              <a:effectLst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11360945" y="6474354"/>
            <a:ext cx="831056" cy="284693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19050" tIns="19050" rIns="19050" bIns="19050" numCol="1" spcCol="38100" rtlCol="0" anchor="ctr" forceAA="0">
            <a:spAutoFit/>
          </a:bodyPr>
          <a:lstStyle/>
          <a:p>
            <a:pPr marL="0" marR="0" indent="0" algn="ctr" defTabSz="41275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600" b="1" i="0" u="none" strike="noStrike" cap="none" spc="0" normalizeH="0" baseline="0" noProof="1">
              <a:ln>
                <a:noFill/>
              </a:ln>
              <a:solidFill>
                <a:srgbClr val="FFFFFF"/>
              </a:solidFill>
              <a:effectLst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pic>
        <p:nvPicPr>
          <p:cNvPr id="5" name="图片 4" descr="12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2598" y="315051"/>
            <a:ext cx="2648903" cy="5264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3220909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B1E7D6-EC98-45BA-AFBC-2646A1C90A09}" type="datetimeFigureOut">
              <a:rPr lang="zh-CN" altLang="en-US" smtClean="0"/>
              <a:t>2026/9/24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F823BC-C1D6-4B34-9F47-12DE94B018D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405250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e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4937760" y="201168"/>
            <a:ext cx="70408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800">
                <a:latin typeface="Arial"/>
              </a:rPr>
              <a:t>Drain and Water-Fill Flow</a:t>
            </a:r>
            <a:r>
              <a:rPr lang="zh-CN" altLang="en-US" sz="1600"/>
              <a:t xml:space="preserve">   </a:t>
            </a:r>
            <a:r>
              <a:rPr lang="zh-CN" altLang="en-US" sz="1600">
                <a:solidFill>
                  <a:srgbClr val="595959"/>
                </a:solidFill>
              </a:rPr>
              <a:t>排废及加水流程</a:t>
            </a:r>
          </a:p>
        </p:txBody>
      </p:sp>
      <p:grpSp>
        <p:nvGrpSpPr>
          <p:cNvPr id="8" name="组合 7"/>
          <p:cNvGrpSpPr/>
          <p:nvPr/>
        </p:nvGrpSpPr>
        <p:grpSpPr>
          <a:xfrm>
            <a:off x="82750" y="1459555"/>
            <a:ext cx="11689088" cy="4600281"/>
            <a:chOff x="99683" y="1659211"/>
            <a:chExt cx="11689088" cy="4600281"/>
          </a:xfrm>
        </p:grpSpPr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9683" y="1659211"/>
              <a:ext cx="11689088" cy="4600281"/>
            </a:xfrm>
            <a:prstGeom prst="rect">
              <a:avLst/>
            </a:prstGeom>
          </p:spPr>
        </p:pic>
        <p:sp>
          <p:nvSpPr>
            <p:cNvPr id="6" name="矩形 5"/>
            <p:cNvSpPr/>
            <p:nvPr/>
          </p:nvSpPr>
          <p:spPr>
            <a:xfrm>
              <a:off x="1216152" y="3346704"/>
              <a:ext cx="45720" cy="122529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空心弧 6"/>
            <p:cNvSpPr/>
            <p:nvPr/>
          </p:nvSpPr>
          <p:spPr>
            <a:xfrm rot="10800000">
              <a:off x="1216152" y="3730375"/>
              <a:ext cx="731520" cy="1591056"/>
            </a:xfrm>
            <a:prstGeom prst="blockArc">
              <a:avLst>
                <a:gd name="adj1" fmla="val 10532664"/>
                <a:gd name="adj2" fmla="val 21107371"/>
                <a:gd name="adj3" fmla="val 5075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9" name="右箭头 8"/>
          <p:cNvSpPr/>
          <p:nvPr/>
        </p:nvSpPr>
        <p:spPr>
          <a:xfrm>
            <a:off x="5003800" y="2379133"/>
            <a:ext cx="1286934" cy="414866"/>
          </a:xfrm>
          <a:prstGeom prst="rightArrow">
            <a:avLst/>
          </a:prstGeom>
          <a:solidFill>
            <a:schemeClr val="bg1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右箭头 9"/>
          <p:cNvSpPr/>
          <p:nvPr/>
        </p:nvSpPr>
        <p:spPr>
          <a:xfrm rot="5400000">
            <a:off x="9776093" y="3502790"/>
            <a:ext cx="665010" cy="331403"/>
          </a:xfrm>
          <a:prstGeom prst="rightArrow">
            <a:avLst/>
          </a:prstGeom>
          <a:solidFill>
            <a:schemeClr val="bg1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v</a:t>
            </a:r>
            <a:endParaRPr lang="zh-CN" altLang="en-US" dirty="0"/>
          </a:p>
        </p:txBody>
      </p:sp>
      <p:sp>
        <p:nvSpPr>
          <p:cNvPr id="11" name="右箭头 10"/>
          <p:cNvSpPr/>
          <p:nvPr/>
        </p:nvSpPr>
        <p:spPr>
          <a:xfrm rot="5400000">
            <a:off x="9776092" y="4694514"/>
            <a:ext cx="665010" cy="331403"/>
          </a:xfrm>
          <a:prstGeom prst="rightArrow">
            <a:avLst/>
          </a:prstGeom>
          <a:solidFill>
            <a:schemeClr val="bg1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右箭头 11"/>
          <p:cNvSpPr/>
          <p:nvPr/>
        </p:nvSpPr>
        <p:spPr>
          <a:xfrm rot="5400000">
            <a:off x="10563493" y="4975991"/>
            <a:ext cx="665010" cy="331403"/>
          </a:xfrm>
          <a:prstGeom prst="rightArrow">
            <a:avLst/>
          </a:prstGeom>
          <a:solidFill>
            <a:schemeClr val="bg1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10424160" y="3108960"/>
            <a:ext cx="17373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lang="en-US" altLang="zh-CN" sz="1500">
                <a:solidFill>
                  <a:schemeClr val="accent1"/>
                </a:solidFill>
                <a:latin typeface="Arial"/>
              </a:rPr>
              <a:t>① Drain path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zh-CN" altLang="en-US" sz="1400">
                <a:solidFill>
                  <a:schemeClr val="accent1"/>
                </a:solidFill>
              </a:rPr>
              <a:t>①排废流路</a:t>
            </a:r>
          </a:p>
        </p:txBody>
      </p:sp>
      <p:cxnSp>
        <p:nvCxnSpPr>
          <p:cNvPr id="14" name="直接箭头连接符 13"/>
          <p:cNvCxnSpPr/>
          <p:nvPr/>
        </p:nvCxnSpPr>
        <p:spPr>
          <a:xfrm flipH="1">
            <a:off x="11030552" y="3759696"/>
            <a:ext cx="169486" cy="8195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本框 15"/>
          <p:cNvSpPr txBox="1"/>
          <p:nvPr/>
        </p:nvSpPr>
        <p:spPr>
          <a:xfrm>
            <a:off x="10287000" y="2084831"/>
            <a:ext cx="18745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lang="en-US" altLang="zh-CN" sz="1500">
                <a:solidFill>
                  <a:srgbClr val="FF0000"/>
                </a:solidFill>
                <a:latin typeface="Arial"/>
              </a:rPr>
              <a:t>② Water-fill path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zh-CN" altLang="en-US" sz="1400">
                <a:solidFill>
                  <a:srgbClr val="FF0000"/>
                </a:solidFill>
              </a:rPr>
              <a:t>②加水流路</a:t>
            </a:r>
          </a:p>
        </p:txBody>
      </p:sp>
      <p:cxnSp>
        <p:nvCxnSpPr>
          <p:cNvPr id="17" name="直接箭头连接符 16"/>
          <p:cNvCxnSpPr/>
          <p:nvPr/>
        </p:nvCxnSpPr>
        <p:spPr>
          <a:xfrm flipH="1">
            <a:off x="10108597" y="2719961"/>
            <a:ext cx="604382" cy="20892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右箭头 19"/>
          <p:cNvSpPr/>
          <p:nvPr/>
        </p:nvSpPr>
        <p:spPr>
          <a:xfrm>
            <a:off x="10253098" y="4310754"/>
            <a:ext cx="433503" cy="188676"/>
          </a:xfrm>
          <a:prstGeom prst="rightArrow">
            <a:avLst/>
          </a:prstGeom>
          <a:solidFill>
            <a:schemeClr val="bg1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25883649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4937760" y="201168"/>
            <a:ext cx="70408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800">
                <a:latin typeface="Arial"/>
              </a:rPr>
              <a:t>Sampling Flow</a:t>
            </a:r>
            <a:r>
              <a:rPr lang="zh-CN" altLang="en-US" sz="1600"/>
              <a:t xml:space="preserve">   </a:t>
            </a:r>
            <a:r>
              <a:rPr lang="zh-CN" altLang="en-US" sz="1600">
                <a:solidFill>
                  <a:srgbClr val="595959"/>
                </a:solidFill>
              </a:rPr>
              <a:t>取样流程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209749" y="1408755"/>
            <a:ext cx="11689088" cy="4600281"/>
            <a:chOff x="209749" y="1408755"/>
            <a:chExt cx="11689088" cy="4600281"/>
          </a:xfrm>
        </p:grpSpPr>
        <p:grpSp>
          <p:nvGrpSpPr>
            <p:cNvPr id="5" name="组合 4"/>
            <p:cNvGrpSpPr/>
            <p:nvPr/>
          </p:nvGrpSpPr>
          <p:grpSpPr>
            <a:xfrm>
              <a:off x="209749" y="1408755"/>
              <a:ext cx="11689088" cy="4600281"/>
              <a:chOff x="99683" y="1659211"/>
              <a:chExt cx="11689088" cy="4600281"/>
            </a:xfrm>
          </p:grpSpPr>
          <p:pic>
            <p:nvPicPr>
              <p:cNvPr id="6" name="图片 5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99683" y="1659211"/>
                <a:ext cx="11689088" cy="4600281"/>
              </a:xfrm>
              <a:prstGeom prst="rect">
                <a:avLst/>
              </a:prstGeom>
            </p:spPr>
          </p:pic>
          <p:sp>
            <p:nvSpPr>
              <p:cNvPr id="7" name="矩形 6"/>
              <p:cNvSpPr/>
              <p:nvPr/>
            </p:nvSpPr>
            <p:spPr>
              <a:xfrm>
                <a:off x="1216152" y="3346704"/>
                <a:ext cx="45720" cy="1225296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" name="空心弧 7"/>
              <p:cNvSpPr/>
              <p:nvPr/>
            </p:nvSpPr>
            <p:spPr>
              <a:xfrm rot="10800000">
                <a:off x="1216152" y="3730375"/>
                <a:ext cx="731520" cy="1591056"/>
              </a:xfrm>
              <a:prstGeom prst="blockArc">
                <a:avLst>
                  <a:gd name="adj1" fmla="val 10532664"/>
                  <a:gd name="adj2" fmla="val 21107371"/>
                  <a:gd name="adj3" fmla="val 5075"/>
                </a:avLst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9" name="右箭头 8"/>
            <p:cNvSpPr/>
            <p:nvPr/>
          </p:nvSpPr>
          <p:spPr>
            <a:xfrm>
              <a:off x="5003800" y="2379133"/>
              <a:ext cx="1286934" cy="414866"/>
            </a:xfrm>
            <a:prstGeom prst="rightArrow">
              <a:avLst/>
            </a:prstGeom>
            <a:solidFill>
              <a:schemeClr val="bg1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右箭头 9"/>
            <p:cNvSpPr/>
            <p:nvPr/>
          </p:nvSpPr>
          <p:spPr>
            <a:xfrm rot="5400000">
              <a:off x="9920592" y="3404106"/>
              <a:ext cx="665010" cy="331403"/>
            </a:xfrm>
            <a:prstGeom prst="rightArrow">
              <a:avLst/>
            </a:prstGeom>
            <a:solidFill>
              <a:schemeClr val="bg1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 smtClean="0"/>
                <a:t>v</a:t>
              </a:r>
              <a:endParaRPr lang="zh-CN" altLang="en-US" dirty="0"/>
            </a:p>
          </p:txBody>
        </p:sp>
        <p:sp>
          <p:nvSpPr>
            <p:cNvPr id="11" name="右箭头 10"/>
            <p:cNvSpPr/>
            <p:nvPr/>
          </p:nvSpPr>
          <p:spPr>
            <a:xfrm rot="5400000">
              <a:off x="10489410" y="4738925"/>
              <a:ext cx="665010" cy="331403"/>
            </a:xfrm>
            <a:prstGeom prst="rightArrow">
              <a:avLst/>
            </a:prstGeom>
            <a:solidFill>
              <a:schemeClr val="bg1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4" name="文本框 13"/>
          <p:cNvSpPr txBox="1"/>
          <p:nvPr/>
        </p:nvSpPr>
        <p:spPr>
          <a:xfrm>
            <a:off x="9144000" y="1261872"/>
            <a:ext cx="2560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lang="en-US" altLang="zh-CN" sz="1600">
                <a:latin typeface="Arial"/>
              </a:rPr>
              <a:t>① Drain → ② Sample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zh-CN" altLang="en-US" sz="1500"/>
              <a:t>①排废→②取样</a:t>
            </a:r>
          </a:p>
        </p:txBody>
      </p:sp>
      <p:cxnSp>
        <p:nvCxnSpPr>
          <p:cNvPr id="16" name="直接箭头连接符 15"/>
          <p:cNvCxnSpPr/>
          <p:nvPr/>
        </p:nvCxnSpPr>
        <p:spPr>
          <a:xfrm flipH="1">
            <a:off x="10735733" y="1930400"/>
            <a:ext cx="86182" cy="19719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椭圆 17"/>
          <p:cNvSpPr/>
          <p:nvPr/>
        </p:nvSpPr>
        <p:spPr>
          <a:xfrm>
            <a:off x="10244667" y="3994349"/>
            <a:ext cx="931296" cy="50991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4950040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4937760" y="201168"/>
            <a:ext cx="70408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800">
                <a:latin typeface="Arial"/>
              </a:rPr>
              <a:t>Sampling Flow</a:t>
            </a:r>
            <a:r>
              <a:rPr lang="zh-CN" altLang="en-US" sz="1600"/>
              <a:t xml:space="preserve">   </a:t>
            </a:r>
            <a:r>
              <a:rPr lang="zh-CN" altLang="en-US" sz="1600">
                <a:solidFill>
                  <a:srgbClr val="595959"/>
                </a:solidFill>
              </a:rPr>
              <a:t>取样流程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083" y="1470580"/>
            <a:ext cx="11689088" cy="4600281"/>
          </a:xfrm>
          <a:prstGeom prst="rect">
            <a:avLst/>
          </a:prstGeom>
        </p:spPr>
      </p:pic>
      <p:sp>
        <p:nvSpPr>
          <p:cNvPr id="3" name="上箭头 2"/>
          <p:cNvSpPr/>
          <p:nvPr/>
        </p:nvSpPr>
        <p:spPr>
          <a:xfrm>
            <a:off x="2260600" y="2861733"/>
            <a:ext cx="228600" cy="1473200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右箭头 4"/>
          <p:cNvSpPr/>
          <p:nvPr/>
        </p:nvSpPr>
        <p:spPr>
          <a:xfrm>
            <a:off x="3793067" y="2472267"/>
            <a:ext cx="2023534" cy="2540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右箭头 5"/>
          <p:cNvSpPr/>
          <p:nvPr/>
        </p:nvSpPr>
        <p:spPr>
          <a:xfrm rot="5400000">
            <a:off x="9736666" y="3606800"/>
            <a:ext cx="884767" cy="20743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右箭头 6"/>
          <p:cNvSpPr/>
          <p:nvPr/>
        </p:nvSpPr>
        <p:spPr>
          <a:xfrm rot="5400000">
            <a:off x="10320866" y="4834468"/>
            <a:ext cx="884767" cy="20743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左箭头 7"/>
          <p:cNvSpPr/>
          <p:nvPr/>
        </p:nvSpPr>
        <p:spPr>
          <a:xfrm>
            <a:off x="1769533" y="2463800"/>
            <a:ext cx="491067" cy="262467"/>
          </a:xfrm>
          <a:prstGeom prst="lef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左箭头 8"/>
          <p:cNvSpPr/>
          <p:nvPr/>
        </p:nvSpPr>
        <p:spPr>
          <a:xfrm rot="16200000">
            <a:off x="1367366" y="3424765"/>
            <a:ext cx="1066801" cy="262467"/>
          </a:xfrm>
          <a:prstGeom prst="lef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2651760" y="914400"/>
            <a:ext cx="7315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/>
            <a:r>
              <a:rPr lang="en-US" altLang="zh-CN" sz="1800">
                <a:latin typeface="Arial"/>
              </a:rPr>
              <a:t xml:space="preserve">Purge </a:t>
            </a:r>
            <a:r>
              <a:rPr lang="en-US" altLang="zh-CN" sz="1800">
                <a:solidFill>
                  <a:srgbClr val="5B9BD5"/>
                </a:solidFill>
                <a:latin typeface="Arial"/>
              </a:rPr>
              <a:t>①</a:t>
            </a:r>
            <a:r>
              <a:rPr lang="en-US" altLang="zh-CN" sz="1800">
                <a:latin typeface="Arial"/>
              </a:rPr>
              <a:t xml:space="preserve"> first → then purge </a:t>
            </a:r>
            <a:r>
              <a:rPr lang="en-US" altLang="zh-CN" sz="1800">
                <a:solidFill>
                  <a:srgbClr val="FF0000"/>
                </a:solidFill>
                <a:latin typeface="Arial"/>
              </a:rPr>
              <a:t>②</a:t>
            </a:r>
            <a:r>
              <a:rPr lang="zh-CN" altLang="en-US" sz="1800"/>
              <a:t xml:space="preserve">   </a:t>
            </a:r>
            <a:r>
              <a:rPr lang="zh-CN" altLang="en-US" sz="1800"/>
              <a:t>先吹扫</a:t>
            </a:r>
            <a:r>
              <a:rPr lang="zh-CN" altLang="en-US" sz="1800">
                <a:solidFill>
                  <a:srgbClr val="5B9BD5"/>
                </a:solidFill>
              </a:rPr>
              <a:t>①</a:t>
            </a:r>
            <a:r>
              <a:rPr lang="zh-CN" altLang="en-US" sz="1800"/>
              <a:t>→吹扫</a:t>
            </a:r>
            <a:r>
              <a:rPr lang="zh-CN" altLang="en-US" sz="1800">
                <a:solidFill>
                  <a:srgbClr val="FF0000"/>
                </a:solidFill>
              </a:rPr>
              <a:t>②</a:t>
            </a:r>
          </a:p>
        </p:txBody>
      </p:sp>
      <p:sp>
        <p:nvSpPr>
          <p:cNvPr id="11" name="左箭头 10"/>
          <p:cNvSpPr/>
          <p:nvPr/>
        </p:nvSpPr>
        <p:spPr>
          <a:xfrm rot="16200000">
            <a:off x="1710775" y="4801871"/>
            <a:ext cx="1077975" cy="272627"/>
          </a:xfrm>
          <a:prstGeom prst="lef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左箭头 11"/>
          <p:cNvSpPr/>
          <p:nvPr/>
        </p:nvSpPr>
        <p:spPr>
          <a:xfrm rot="10800000">
            <a:off x="5989403" y="5380569"/>
            <a:ext cx="1066801" cy="262467"/>
          </a:xfrm>
          <a:prstGeom prst="lef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64812036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4937760" y="201168"/>
            <a:ext cx="70408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800">
                <a:latin typeface="Arial"/>
              </a:rPr>
              <a:t>Purified Water Use Procedure</a:t>
            </a:r>
            <a:r>
              <a:rPr lang="zh-CN" altLang="en-US" sz="1600"/>
              <a:t xml:space="preserve">   </a:t>
            </a:r>
            <a:r>
              <a:rPr lang="zh-CN" altLang="en-US" sz="1600">
                <a:solidFill>
                  <a:srgbClr val="595959"/>
                </a:solidFill>
              </a:rPr>
              <a:t>纯化水使用流程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594360" y="960120"/>
            <a:ext cx="10972800" cy="30008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0000"/>
              </a:lnSpc>
              <a:spcBef>
                <a:spcPts val="1200"/>
              </a:spcBef>
              <a:spcAft>
                <a:spcPts val="500"/>
              </a:spcAft>
            </a:pPr>
            <a:r>
              <a:rPr lang="en-US" altLang="zh-CN" b="1" sz="2200">
                <a:latin typeface="Arial"/>
              </a:rPr>
              <a:t>1. Purified Water Use</a:t>
            </a:r>
            <a:r>
              <a:rPr lang="zh-CN" altLang="en-US" b="1" sz="2000"/>
              <a:t xml:space="preserve">   </a:t>
            </a:r>
            <a:r>
              <a:rPr lang="zh-CN" altLang="en-US" b="1" sz="2000">
                <a:solidFill>
                  <a:srgbClr val="595959"/>
                </a:solidFill>
              </a:rPr>
              <a:t>一、纯化水使用流程：</a:t>
            </a:r>
          </a:p>
          <a:p>
            <a:pPr>
              <a:lnSpc>
                <a:spcPct val="110000"/>
              </a:lnSpc>
              <a:spcAft>
                <a:spcPts val="0"/>
              </a:spcAft>
            </a:pPr>
            <a:r>
              <a:rPr lang="en-US" altLang="zh-CN" b="0" sz="2000">
                <a:latin typeface="Arial"/>
              </a:rPr>
              <a:t xml:space="preserve">Connect the hose from the PW outlet to the fixed line </a:t>
            </a:r>
            <a:r>
              <a:rPr lang="en-US" altLang="zh-CN" b="1" sz="2000">
                <a:latin typeface="Arial"/>
              </a:rPr>
              <a:t>→</a:t>
            </a:r>
            <a:r>
              <a:rPr lang="en-US" altLang="zh-CN" b="0" sz="2000">
                <a:latin typeface="Arial"/>
              </a:rPr>
              <a:t xml:space="preserve"> Open the water valve </a:t>
            </a:r>
            <a:r>
              <a:rPr lang="en-US" altLang="zh-CN" b="1" sz="2000">
                <a:latin typeface="Arial"/>
              </a:rPr>
              <a:t>→</a:t>
            </a:r>
            <a:r>
              <a:rPr lang="en-US" altLang="zh-CN" b="0" sz="2000">
                <a:latin typeface="Arial"/>
              </a:rPr>
              <a:t xml:space="preserve"> Flush PW to waste </a:t>
            </a:r>
            <a:r>
              <a:rPr lang="en-US" altLang="zh-CN" b="1" sz="2000">
                <a:latin typeface="Arial"/>
              </a:rPr>
              <a:t>→</a:t>
            </a:r>
            <a:r>
              <a:rPr lang="en-US" altLang="zh-CN" b="0" sz="2000">
                <a:latin typeface="Arial"/>
              </a:rPr>
              <a:t xml:space="preserve"> After flushing, supply water to the point of use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lang="zh-CN" altLang="en-US" b="0" sz="1600">
                <a:solidFill>
                  <a:srgbClr val="595959"/>
                </a:solidFill>
              </a:rPr>
              <a:t>软管连接纯化水点至固定管线</a:t>
            </a:r>
            <a:r>
              <a:rPr lang="zh-CN" altLang="en-US" b="1" sz="1600">
                <a:solidFill>
                  <a:srgbClr val="595959"/>
                </a:solidFill>
              </a:rPr>
              <a:t>→</a:t>
            </a:r>
            <a:r>
              <a:rPr lang="zh-CN" altLang="en-US" b="0" sz="1600">
                <a:solidFill>
                  <a:srgbClr val="595959"/>
                </a:solidFill>
              </a:rPr>
              <a:t>打开水阀</a:t>
            </a:r>
            <a:r>
              <a:rPr lang="zh-CN" altLang="en-US" b="1" sz="1600">
                <a:solidFill>
                  <a:srgbClr val="595959"/>
                </a:solidFill>
              </a:rPr>
              <a:t>→</a:t>
            </a:r>
            <a:r>
              <a:rPr lang="zh-CN" altLang="en-US" b="0" sz="1600">
                <a:solidFill>
                  <a:srgbClr val="595959"/>
                </a:solidFill>
              </a:rPr>
              <a:t>纯化水开始排废</a:t>
            </a:r>
            <a:r>
              <a:rPr lang="zh-CN" altLang="en-US" b="1" sz="1600">
                <a:solidFill>
                  <a:srgbClr val="595959"/>
                </a:solidFill>
              </a:rPr>
              <a:t>→</a:t>
            </a:r>
            <a:r>
              <a:rPr lang="zh-CN" altLang="en-US" b="0" sz="1600">
                <a:solidFill>
                  <a:srgbClr val="595959"/>
                </a:solidFill>
              </a:rPr>
              <a:t>排废结束后进入使用点位</a:t>
            </a:r>
          </a:p>
          <a:p>
            <a:pPr>
              <a:lnSpc>
                <a:spcPct val="110000"/>
              </a:lnSpc>
              <a:spcAft>
                <a:spcPts val="0"/>
              </a:spcAft>
            </a:pPr>
            <a:r>
              <a:rPr lang="en-US" altLang="zh-CN" b="0" sz="2000">
                <a:latin typeface="Arial"/>
              </a:rPr>
              <a:t xml:space="preserve">Open the nitrogen purge valve </a:t>
            </a:r>
            <a:r>
              <a:rPr lang="en-US" altLang="zh-CN" b="1" sz="2000">
                <a:latin typeface="Arial"/>
              </a:rPr>
              <a:t>→</a:t>
            </a:r>
            <a:r>
              <a:rPr lang="en-US" altLang="zh-CN" b="0" sz="2000">
                <a:latin typeface="Arial"/>
              </a:rPr>
              <a:t xml:space="preserve"> Purge toward the equipment side </a:t>
            </a:r>
            <a:r>
              <a:rPr lang="en-US" altLang="zh-CN" b="1" sz="2000">
                <a:latin typeface="Arial"/>
              </a:rPr>
              <a:t>→</a:t>
            </a:r>
            <a:r>
              <a:rPr lang="en-US" altLang="zh-CN" b="0" sz="2000">
                <a:latin typeface="Arial"/>
              </a:rPr>
              <a:t xml:space="preserve"> Then purge back toward the PW outlet </a:t>
            </a:r>
            <a:r>
              <a:rPr lang="en-US" altLang="zh-CN" b="1" sz="2000">
                <a:latin typeface="Arial"/>
              </a:rPr>
              <a:t>→</a:t>
            </a:r>
            <a:r>
              <a:rPr lang="en-US" altLang="zh-CN" b="0" sz="2000">
                <a:latin typeface="Arial"/>
              </a:rPr>
              <a:t xml:space="preserve"> Close all valves when finished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lang="zh-CN" altLang="en-US" b="0" sz="1600">
                <a:solidFill>
                  <a:srgbClr val="595959"/>
                </a:solidFill>
              </a:rPr>
              <a:t>开启氮气吹扫阀门</a:t>
            </a:r>
            <a:r>
              <a:rPr lang="zh-CN" altLang="en-US" b="1" sz="1600">
                <a:solidFill>
                  <a:srgbClr val="595959"/>
                </a:solidFill>
              </a:rPr>
              <a:t>→</a:t>
            </a:r>
            <a:r>
              <a:rPr lang="zh-CN" altLang="en-US" b="0" sz="1600">
                <a:solidFill>
                  <a:srgbClr val="595959"/>
                </a:solidFill>
              </a:rPr>
              <a:t>向设备侧进行吹扫</a:t>
            </a:r>
            <a:r>
              <a:rPr lang="zh-CN" altLang="en-US" b="1" sz="1600">
                <a:solidFill>
                  <a:srgbClr val="595959"/>
                </a:solidFill>
              </a:rPr>
              <a:t>→</a:t>
            </a:r>
            <a:r>
              <a:rPr lang="zh-CN" altLang="en-US" b="0" sz="1600">
                <a:solidFill>
                  <a:srgbClr val="595959"/>
                </a:solidFill>
              </a:rPr>
              <a:t>完成后</a:t>
            </a:r>
            <a:r>
              <a:rPr lang="zh-CN" altLang="en-US" b="1" sz="1600">
                <a:solidFill>
                  <a:srgbClr val="595959"/>
                </a:solidFill>
              </a:rPr>
              <a:t>→</a:t>
            </a:r>
            <a:r>
              <a:rPr lang="zh-CN" altLang="en-US" b="0" sz="1600">
                <a:solidFill>
                  <a:srgbClr val="595959"/>
                </a:solidFill>
              </a:rPr>
              <a:t>向纯水点位方向吹扫</a:t>
            </a:r>
            <a:r>
              <a:rPr lang="zh-CN" altLang="en-US" b="1" sz="1600">
                <a:solidFill>
                  <a:srgbClr val="595959"/>
                </a:solidFill>
              </a:rPr>
              <a:t>→</a:t>
            </a:r>
            <a:r>
              <a:rPr lang="zh-CN" altLang="en-US" b="0" sz="1600">
                <a:solidFill>
                  <a:srgbClr val="595959"/>
                </a:solidFill>
              </a:rPr>
              <a:t>结束后关闭所有阀门</a:t>
            </a:r>
          </a:p>
          <a:p>
            <a:pPr>
              <a:lnSpc>
                <a:spcPct val="110000"/>
              </a:lnSpc>
              <a:spcBef>
                <a:spcPts val="1200"/>
              </a:spcBef>
              <a:spcAft>
                <a:spcPts val="500"/>
              </a:spcAft>
            </a:pPr>
            <a:r>
              <a:rPr lang="en-US" altLang="zh-CN" b="1" sz="2200">
                <a:latin typeface="Arial"/>
              </a:rPr>
              <a:t>2. Sampling</a:t>
            </a:r>
            <a:r>
              <a:rPr lang="zh-CN" altLang="en-US" b="1" sz="2000"/>
              <a:t xml:space="preserve">   </a:t>
            </a:r>
            <a:r>
              <a:rPr lang="zh-CN" altLang="en-US" b="1" sz="2000">
                <a:solidFill>
                  <a:srgbClr val="595959"/>
                </a:solidFill>
              </a:rPr>
              <a:t>二、取样：</a:t>
            </a:r>
          </a:p>
          <a:p>
            <a:pPr>
              <a:lnSpc>
                <a:spcPct val="110000"/>
              </a:lnSpc>
              <a:spcAft>
                <a:spcPts val="0"/>
              </a:spcAft>
            </a:pPr>
            <a:r>
              <a:rPr lang="en-US" altLang="zh-CN" b="0" sz="2000">
                <a:latin typeface="Arial"/>
              </a:rPr>
              <a:t xml:space="preserve">Connect the hose from the PW outlet to the fixed line </a:t>
            </a:r>
            <a:r>
              <a:rPr lang="en-US" altLang="zh-CN" b="1" sz="2000">
                <a:latin typeface="Arial"/>
              </a:rPr>
              <a:t>→</a:t>
            </a:r>
            <a:r>
              <a:rPr lang="en-US" altLang="zh-CN" b="0" sz="2000">
                <a:latin typeface="Arial"/>
              </a:rPr>
              <a:t xml:space="preserve"> Open the water valve </a:t>
            </a:r>
            <a:r>
              <a:rPr lang="en-US" altLang="zh-CN" b="1" sz="2000">
                <a:latin typeface="Arial"/>
              </a:rPr>
              <a:t>→</a:t>
            </a:r>
            <a:r>
              <a:rPr lang="en-US" altLang="zh-CN" b="0" sz="2000">
                <a:latin typeface="Arial"/>
              </a:rPr>
              <a:t xml:space="preserve"> Flush PW to waste </a:t>
            </a:r>
            <a:r>
              <a:rPr lang="en-US" altLang="zh-CN" b="1" sz="2000">
                <a:latin typeface="Arial"/>
              </a:rPr>
              <a:t>→</a:t>
            </a:r>
            <a:r>
              <a:rPr lang="en-US" altLang="zh-CN" b="0" sz="2000">
                <a:latin typeface="Arial"/>
              </a:rPr>
              <a:t xml:space="preserve"> After flushing, take a manual sample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lang="zh-CN" altLang="en-US" b="0" sz="1600">
                <a:solidFill>
                  <a:srgbClr val="595959"/>
                </a:solidFill>
              </a:rPr>
              <a:t>软管连接纯化水点至固定管线</a:t>
            </a:r>
            <a:r>
              <a:rPr lang="zh-CN" altLang="en-US" b="1" sz="1600">
                <a:solidFill>
                  <a:srgbClr val="595959"/>
                </a:solidFill>
              </a:rPr>
              <a:t>→</a:t>
            </a:r>
            <a:r>
              <a:rPr lang="zh-CN" altLang="en-US" b="0" sz="1600">
                <a:solidFill>
                  <a:srgbClr val="595959"/>
                </a:solidFill>
              </a:rPr>
              <a:t>打开水阀</a:t>
            </a:r>
            <a:r>
              <a:rPr lang="zh-CN" altLang="en-US" b="1" sz="1600">
                <a:solidFill>
                  <a:srgbClr val="595959"/>
                </a:solidFill>
              </a:rPr>
              <a:t>→</a:t>
            </a:r>
            <a:r>
              <a:rPr lang="zh-CN" altLang="en-US" b="0" sz="1600">
                <a:solidFill>
                  <a:srgbClr val="595959"/>
                </a:solidFill>
              </a:rPr>
              <a:t>纯化水开始排废</a:t>
            </a:r>
            <a:r>
              <a:rPr lang="zh-CN" altLang="en-US" b="1" sz="1600">
                <a:solidFill>
                  <a:srgbClr val="595959"/>
                </a:solidFill>
              </a:rPr>
              <a:t>→</a:t>
            </a:r>
            <a:r>
              <a:rPr lang="zh-CN" altLang="en-US" b="0" sz="1600">
                <a:solidFill>
                  <a:srgbClr val="595959"/>
                </a:solidFill>
              </a:rPr>
              <a:t>排废结束后进行手动取样</a:t>
            </a:r>
          </a:p>
          <a:p>
            <a:pPr>
              <a:lnSpc>
                <a:spcPct val="110000"/>
              </a:lnSpc>
              <a:spcBef>
                <a:spcPts val="1200"/>
              </a:spcBef>
              <a:spcAft>
                <a:spcPts val="500"/>
              </a:spcAft>
            </a:pPr>
            <a:r>
              <a:rPr lang="en-US" altLang="zh-CN" b="1" sz="2200">
                <a:latin typeface="Arial"/>
              </a:rPr>
              <a:t>3. Filter Management Principle</a:t>
            </a:r>
            <a:r>
              <a:rPr lang="zh-CN" altLang="en-US" b="1" sz="2000"/>
              <a:t xml:space="preserve">   </a:t>
            </a:r>
            <a:r>
              <a:rPr lang="zh-CN" altLang="en-US" b="1" sz="2000">
                <a:solidFill>
                  <a:srgbClr val="595959"/>
                </a:solidFill>
              </a:rPr>
              <a:t>三、过滤器管理原则：</a:t>
            </a:r>
          </a:p>
          <a:p>
            <a:pPr>
              <a:lnSpc>
                <a:spcPct val="110000"/>
              </a:lnSpc>
              <a:spcAft>
                <a:spcPts val="0"/>
              </a:spcAft>
            </a:pPr>
            <a:r>
              <a:rPr lang="en-US" altLang="zh-CN" b="0" sz="2000">
                <a:latin typeface="Arial"/>
              </a:rPr>
              <a:t>Install the filter before each use; the filter's time in use shall not exceed 24 hours.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lang="zh-CN" altLang="en-US" b="0" sz="1600">
                <a:solidFill>
                  <a:srgbClr val="595959"/>
                </a:solidFill>
              </a:rPr>
              <a:t>每次使用前安装滤器，保证滤器使用时间不超过24小时</a:t>
            </a:r>
          </a:p>
        </p:txBody>
      </p:sp>
    </p:spTree>
    <p:extLst>
      <p:ext uri="{BB962C8B-B14F-4D97-AF65-F5344CB8AC3E}">
        <p14:creationId xmlns:p14="http://schemas.microsoft.com/office/powerpoint/2010/main" val="3771405461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2117598"/>
              </p:ext>
            </p:extLst>
          </p:nvPr>
        </p:nvGraphicFramePr>
        <p:xfrm>
          <a:off x="240150" y="406187"/>
          <a:ext cx="11777472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52160">
                  <a:extLst>
                    <a:ext uri="{9D8B030D-6E8A-4147-A177-3AD203B41FA5}">
                      <a16:colId xmlns:a16="http://schemas.microsoft.com/office/drawing/2014/main" val="23088648"/>
                    </a:ext>
                  </a:extLst>
                </a:gridCol>
                <a:gridCol w="4297680">
                  <a:extLst>
                    <a:ext uri="{9D8B030D-6E8A-4147-A177-3AD203B41FA5}">
                      <a16:colId xmlns:a16="http://schemas.microsoft.com/office/drawing/2014/main" val="3341615477"/>
                    </a:ext>
                  </a:extLst>
                </a:gridCol>
                <a:gridCol w="1627632">
                  <a:extLst>
                    <a:ext uri="{9D8B030D-6E8A-4147-A177-3AD203B41FA5}">
                      <a16:colId xmlns:a16="http://schemas.microsoft.com/office/drawing/2014/main" val="3029883940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  <a:spcAft>
                          <a:spcPts val="200"/>
                        </a:spcAft>
                      </a:pPr>
                      <a:r>
                        <a:rPr lang="en-US" sz="1500" b="1" altLang="zh-CN">
                          <a:solidFill>
                            <a:srgbClr val="FFFFFF"/>
                          </a:solidFill>
                          <a:effectLst/>
                          <a:latin typeface="Arial"/>
                          <a:ea typeface="微软雅黑" panose="020B0503020204020204" pitchFamily="34" charset="-122"/>
                        </a:rPr>
                        <a:t>Action Item</a:t>
                      </a:r>
                    </a:p>
                    <a:p>
                      <a:pPr algn="ctr" fontAlgn="ctr">
                        <a:lnSpc>
                          <a:spcPct val="100000"/>
                        </a:lnSpc>
                        <a:spcAft>
                          <a:spcPts val="200"/>
                        </a:spcAft>
                      </a:pPr>
                      <a:r>
                        <a:rPr lang="zh-CN" sz="1500" b="1" altLang="en-US"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行动项</a:t>
                      </a:r>
                    </a:p>
                  </a:txBody>
                  <a:tcPr marL="73152" marR="73152" marT="45720" marB="4572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  <a:spcAft>
                          <a:spcPts val="200"/>
                        </a:spcAft>
                      </a:pPr>
                      <a:r>
                        <a:rPr lang="en-US" altLang="zh-CN" sz="1500" b="1">
                          <a:solidFill>
                            <a:srgbClr val="FFFFFF"/>
                          </a:solidFill>
                          <a:effectLst/>
                          <a:latin typeface="Arial"/>
                          <a:ea typeface="微软雅黑" panose="020B0503020204020204" pitchFamily="34" charset="-122"/>
                        </a:rPr>
                        <a:t>Implementation Plan</a:t>
                      </a:r>
                    </a:p>
                    <a:p>
                      <a:pPr algn="ctr" fontAlgn="ctr">
                        <a:lnSpc>
                          <a:spcPct val="100000"/>
                        </a:lnSpc>
                        <a:spcAft>
                          <a:spcPts val="200"/>
                        </a:spcAft>
                      </a:pPr>
                      <a:r>
                        <a:rPr lang="zh-CN" altLang="en-US" sz="1500" b="1"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实施方案</a:t>
                      </a:r>
                    </a:p>
                  </a:txBody>
                  <a:tcPr marL="73152" marR="73152" marT="45720" marB="4572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  <a:spcAft>
                          <a:spcPts val="200"/>
                        </a:spcAft>
                      </a:pPr>
                      <a:r>
                        <a:rPr lang="en-US" altLang="zh-CN" sz="1500" b="1">
                          <a:solidFill>
                            <a:srgbClr val="FFFFFF"/>
                          </a:solidFill>
                          <a:effectLst/>
                          <a:latin typeface="Arial"/>
                          <a:ea typeface="微软雅黑" panose="020B0503020204020204" pitchFamily="34" charset="-122"/>
                        </a:rPr>
                        <a:t>Target Date</a:t>
                      </a:r>
                    </a:p>
                    <a:p>
                      <a:pPr algn="ctr" fontAlgn="ctr">
                        <a:lnSpc>
                          <a:spcPct val="100000"/>
                        </a:lnSpc>
                        <a:spcAft>
                          <a:spcPts val="200"/>
                        </a:spcAft>
                      </a:pPr>
                      <a:r>
                        <a:rPr lang="zh-CN" altLang="en-US" sz="1500" b="1"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执行时间</a:t>
                      </a:r>
                    </a:p>
                  </a:txBody>
                  <a:tcPr marL="73152" marR="73152" marT="45720" marB="45720" anchor="ctr"/>
                </a:tc>
                <a:extLst>
                  <a:ext uri="{0D108BD9-81ED-4DB2-BD59-A6C34878D82A}">
                    <a16:rowId xmlns:a16="http://schemas.microsoft.com/office/drawing/2014/main" val="121777397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fontAlgn="t">
                        <a:lnSpc>
                          <a:spcPct val="100000"/>
                        </a:lnSpc>
                        <a:spcAft>
                          <a:spcPts val="200"/>
                        </a:spcAft>
                      </a:pPr>
                      <a:r>
                        <a:rPr lang="en-US" sz="1800" altLang="zh-CN" b="0">
                          <a:solidFill>
                            <a:srgbClr val="008000"/>
                          </a:solidFill>
                          <a:effectLst/>
                          <a:latin typeface="Arial"/>
                          <a:ea typeface="微软雅黑" panose="020B0503020204020204" pitchFamily="34" charset="-122"/>
                        </a:rPr>
                        <a:t>Justify the one-month service life for dedicated PW hoses</a:t>
                      </a:r>
                    </a:p>
                    <a:p>
                      <a:pPr fontAlgn="t">
                        <a:lnSpc>
                          <a:spcPct val="100000"/>
                        </a:lnSpc>
                        <a:spcAft>
                          <a:spcPts val="200"/>
                        </a:spcAft>
                      </a:pPr>
                      <a:r>
                        <a:rPr lang="zh-CN" sz="1800" altLang="en-US" b="0">
                          <a:solidFill>
                            <a:srgbClr val="008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论证专用纯化水（PW）软管一个月使用寿命的依据。</a:t>
                      </a:r>
                    </a:p>
                  </a:txBody>
                  <a:tcPr marL="73152" marR="73152" marT="45720" marB="4572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200"/>
                        </a:spcAft>
                      </a:pPr>
                      <a:r>
                        <a:rPr lang="en-US" altLang="zh-CN" sz="1800" kern="1200" b="0">
                          <a:solidFill>
                            <a:schemeClr val="tx1"/>
                          </a:solidFill>
                          <a:effectLst/>
                          <a:latin typeface="Arial"/>
                          <a:ea typeface="微软雅黑" panose="020B0503020204020204" pitchFamily="34" charset="-122"/>
                          <a:cs typeface="+mn-cs"/>
                        </a:rPr>
                        <a:t>Practice: weekly cleaning; replacement every six months</a:t>
                      </a:r>
                    </a:p>
                    <a:p>
                      <a:pPr algn="l">
                        <a:lnSpc>
                          <a:spcPct val="100000"/>
                        </a:lnSpc>
                        <a:spcAft>
                          <a:spcPts val="200"/>
                        </a:spcAft>
                      </a:pPr>
                      <a:r>
                        <a:rPr lang="zh-CN" altLang="en-US" sz="1800" kern="1200" b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执行标准：每周清洁，每半年更换</a:t>
                      </a:r>
                    </a:p>
                  </a:txBody>
                  <a:tcPr anchor="ctr" marL="73152" marR="73152" marT="45720" marB="4572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200"/>
                        </a:spcAft>
                      </a:pPr>
                      <a:r>
                        <a:rPr lang="en-US" altLang="zh-CN" sz="1800" kern="1200" b="0">
                          <a:solidFill>
                            <a:schemeClr val="tx1"/>
                          </a:solidFill>
                          <a:effectLst/>
                          <a:latin typeface="Arial"/>
                          <a:ea typeface="微软雅黑" panose="020B0503020204020204" pitchFamily="34" charset="-122"/>
                          <a:cs typeface="+mn-cs"/>
                        </a:rPr>
                        <a:t>10/20/2026</a:t>
                      </a:r>
                    </a:p>
                  </a:txBody>
                  <a:tcPr anchor="ctr" marL="73152" marR="73152" marT="45720" marB="45720"/>
                </a:tc>
                <a:extLst>
                  <a:ext uri="{0D108BD9-81ED-4DB2-BD59-A6C34878D82A}">
                    <a16:rowId xmlns:a16="http://schemas.microsoft.com/office/drawing/2014/main" val="3002537177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fontAlgn="t">
                        <a:lnSpc>
                          <a:spcPct val="100000"/>
                        </a:lnSpc>
                        <a:spcAft>
                          <a:spcPts val="200"/>
                        </a:spcAft>
                      </a:pPr>
                      <a:r>
                        <a:rPr lang="en-US" sz="1800" altLang="zh-CN" b="0">
                          <a:solidFill>
                            <a:srgbClr val="008000"/>
                          </a:solidFill>
                          <a:effectLst/>
                          <a:latin typeface="Arial"/>
                          <a:ea typeface="微软雅黑" panose="020B0503020204020204" pitchFamily="34" charset="-122"/>
                        </a:rPr>
                        <a:t>Replace silicone water hoses with PTFE hoses or provide a documented technical justification</a:t>
                      </a:r>
                    </a:p>
                    <a:p>
                      <a:pPr fontAlgn="t">
                        <a:lnSpc>
                          <a:spcPct val="100000"/>
                        </a:lnSpc>
                        <a:spcAft>
                          <a:spcPts val="200"/>
                        </a:spcAft>
                      </a:pPr>
                      <a:r>
                        <a:rPr lang="zh-CN" sz="1800" altLang="en-US" b="0">
                          <a:solidFill>
                            <a:srgbClr val="008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将硅胶水管更换为 PTFE 软管，或提供成文技术论证。</a:t>
                      </a:r>
                    </a:p>
                  </a:txBody>
                  <a:tcPr marL="73152" marR="73152" marT="45720" marB="4572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200"/>
                        </a:spcAft>
                      </a:pPr>
                      <a:r>
                        <a:rPr lang="en-US" altLang="zh-CN" sz="1800" kern="1200" b="0">
                          <a:solidFill>
                            <a:schemeClr val="tx1"/>
                          </a:solidFill>
                          <a:effectLst/>
                          <a:latin typeface="Arial"/>
                          <a:ea typeface="微软雅黑" panose="020B0503020204020204" pitchFamily="34" charset="-122"/>
                          <a:cs typeface="+mn-cs"/>
                        </a:rPr>
                        <a:t>Replace with PTFE hoses:</a:t>
                      </a:r>
                    </a:p>
                    <a:p>
                      <a:pPr algn="l">
                        <a:lnSpc>
                          <a:spcPct val="100000"/>
                        </a:lnSpc>
                        <a:spcAft>
                          <a:spcPts val="200"/>
                        </a:spcAft>
                      </a:pPr>
                      <a:r>
                        <a:rPr lang="en-US" altLang="zh-CN" sz="1800" kern="1200" b="0">
                          <a:solidFill>
                            <a:schemeClr val="tx1"/>
                          </a:solidFill>
                          <a:effectLst/>
                          <a:latin typeface="Arial"/>
                          <a:ea typeface="微软雅黑" panose="020B0503020204020204" pitchFamily="34" charset="-122"/>
                          <a:cs typeface="+mn-cs"/>
                        </a:rPr>
                        <a:t>1. Domestic brand: lead time ~3 weeks</a:t>
                      </a:r>
                    </a:p>
                    <a:p>
                      <a:pPr algn="l">
                        <a:lnSpc>
                          <a:spcPct val="100000"/>
                        </a:lnSpc>
                        <a:spcAft>
                          <a:spcPts val="200"/>
                        </a:spcAft>
                      </a:pPr>
                      <a:r>
                        <a:rPr lang="en-US" altLang="zh-CN" sz="1800" kern="1200" b="0">
                          <a:solidFill>
                            <a:schemeClr val="tx1"/>
                          </a:solidFill>
                          <a:effectLst/>
                          <a:latin typeface="Arial"/>
                          <a:ea typeface="微软雅黑" panose="020B0503020204020204" pitchFamily="34" charset="-122"/>
                          <a:cs typeface="+mn-cs"/>
                        </a:rPr>
                        <a:t>2. Imported brand: lead time ~8 weeks</a:t>
                      </a:r>
                    </a:p>
                    <a:p>
                      <a:pPr algn="l">
                        <a:lnSpc>
                          <a:spcPct val="100000"/>
                        </a:lnSpc>
                        <a:spcAft>
                          <a:spcPts val="200"/>
                        </a:spcAft>
                      </a:pPr>
                      <a:r>
                        <a:rPr lang="zh-CN" altLang="en-US" sz="1800" kern="1200" b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更换为PTFE材质软管</a:t>
                      </a:r>
                    </a:p>
                    <a:p>
                      <a:pPr algn="l">
                        <a:lnSpc>
                          <a:spcPct val="100000"/>
                        </a:lnSpc>
                        <a:spcAft>
                          <a:spcPts val="200"/>
                        </a:spcAft>
                      </a:pPr>
                      <a:r>
                        <a:rPr lang="zh-CN" altLang="en-US" sz="1800" kern="1200" b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1、国内品牌货期约3周</a:t>
                      </a:r>
                    </a:p>
                    <a:p>
                      <a:pPr algn="l">
                        <a:lnSpc>
                          <a:spcPct val="100000"/>
                        </a:lnSpc>
                        <a:spcAft>
                          <a:spcPts val="200"/>
                        </a:spcAft>
                      </a:pPr>
                      <a:r>
                        <a:rPr lang="zh-CN" altLang="en-US" sz="1800" kern="1200" b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2、国外品牌货期约8周</a:t>
                      </a:r>
                    </a:p>
                  </a:txBody>
                  <a:tcPr anchor="ctr" marL="73152" marR="73152" marT="45720" marB="4572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kern="1200" b="0">
                          <a:solidFill>
                            <a:schemeClr val="tx1"/>
                          </a:solidFill>
                          <a:effectLst/>
                          <a:latin typeface="Arial"/>
                          <a:ea typeface="微软雅黑" panose="020B0503020204020204" pitchFamily="34" charset="-122"/>
                          <a:cs typeface="+mn-cs"/>
                        </a:rPr>
                        <a:t>1. 10/30/2026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kern="1200" b="0">
                          <a:solidFill>
                            <a:schemeClr val="tx1"/>
                          </a:solidFill>
                          <a:effectLst/>
                          <a:latin typeface="Arial"/>
                          <a:ea typeface="微软雅黑" panose="020B0503020204020204" pitchFamily="34" charset="-122"/>
                          <a:cs typeface="+mn-cs"/>
                        </a:rPr>
                        <a:t>2. 11/30/2026</a:t>
                      </a:r>
                    </a:p>
                  </a:txBody>
                  <a:tcPr anchor="ctr" marL="73152" marR="73152" marT="45720" marB="45720"/>
                </a:tc>
                <a:extLst>
                  <a:ext uri="{0D108BD9-81ED-4DB2-BD59-A6C34878D82A}">
                    <a16:rowId xmlns:a16="http://schemas.microsoft.com/office/drawing/2014/main" val="1043702116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fontAlgn="t">
                        <a:lnSpc>
                          <a:spcPct val="100000"/>
                        </a:lnSpc>
                        <a:spcAft>
                          <a:spcPts val="200"/>
                        </a:spcAft>
                      </a:pPr>
                      <a:r>
                        <a:rPr lang="en-US" sz="1800" altLang="zh-CN" b="0">
                          <a:solidFill>
                            <a:srgbClr val="008000"/>
                          </a:solidFill>
                          <a:effectLst/>
                          <a:latin typeface="Arial"/>
                          <a:ea typeface="微软雅黑" panose="020B0503020204020204" pitchFamily="34" charset="-122"/>
                        </a:rPr>
                        <a:t>Update procedure to ensure immediate water hose disconnection and controlled storage after use</a:t>
                      </a:r>
                    </a:p>
                    <a:p>
                      <a:pPr fontAlgn="t">
                        <a:lnSpc>
                          <a:spcPct val="100000"/>
                        </a:lnSpc>
                        <a:spcAft>
                          <a:spcPts val="200"/>
                        </a:spcAft>
                      </a:pPr>
                      <a:r>
                        <a:rPr lang="zh-CN" sz="1800" altLang="en-US" b="0">
                          <a:solidFill>
                            <a:srgbClr val="008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更新程序，确保用水软管用后立即断开并受控存放。</a:t>
                      </a:r>
                    </a:p>
                  </a:txBody>
                  <a:tcPr marL="73152" marR="73152" marT="45720" marB="4572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200"/>
                        </a:spcAft>
                      </a:pPr>
                      <a:r>
                        <a:rPr lang="en-US" altLang="zh-CN" sz="1800" kern="1200" b="0">
                          <a:solidFill>
                            <a:schemeClr val="tx1"/>
                          </a:solidFill>
                          <a:effectLst/>
                          <a:latin typeface="Arial"/>
                          <a:ea typeface="微软雅黑" panose="020B0503020204020204" pitchFamily="34" charset="-122"/>
                          <a:cs typeface="+mn-cs"/>
                        </a:rPr>
                        <a:t>Update the procedure documents.</a:t>
                      </a:r>
                    </a:p>
                    <a:p>
                      <a:pPr algn="l">
                        <a:lnSpc>
                          <a:spcPct val="100000"/>
                        </a:lnSpc>
                        <a:spcAft>
                          <a:spcPts val="200"/>
                        </a:spcAft>
                      </a:pPr>
                      <a:r>
                        <a:rPr lang="zh-CN" altLang="en-US" sz="1800" kern="1200" b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更新文件</a:t>
                      </a:r>
                    </a:p>
                  </a:txBody>
                  <a:tcPr anchor="ctr" marL="73152" marR="73152" marT="45720" marB="4572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kern="1200" b="0">
                          <a:solidFill>
                            <a:schemeClr val="tx1"/>
                          </a:solidFill>
                          <a:effectLst/>
                          <a:latin typeface="Arial"/>
                          <a:ea typeface="微软雅黑" panose="020B0503020204020204" pitchFamily="34" charset="-122"/>
                          <a:cs typeface="+mn-cs"/>
                        </a:rPr>
                        <a:t>10/20/2026</a:t>
                      </a:r>
                    </a:p>
                  </a:txBody>
                  <a:tcPr anchor="ctr" marL="73152" marR="73152" marT="45720" marB="45720"/>
                </a:tc>
                <a:extLst>
                  <a:ext uri="{0D108BD9-81ED-4DB2-BD59-A6C34878D82A}">
                    <a16:rowId xmlns:a16="http://schemas.microsoft.com/office/drawing/2014/main" val="2454723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771353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2117598"/>
              </p:ext>
            </p:extLst>
          </p:nvPr>
        </p:nvGraphicFramePr>
        <p:xfrm>
          <a:off x="240150" y="406187"/>
          <a:ext cx="11777472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0">
                  <a:extLst>
                    <a:ext uri="{9D8B030D-6E8A-4147-A177-3AD203B41FA5}">
                      <a16:colId xmlns:a16="http://schemas.microsoft.com/office/drawing/2014/main" val="23088648"/>
                    </a:ext>
                  </a:extLst>
                </a:gridCol>
                <a:gridCol w="3931920">
                  <a:extLst>
                    <a:ext uri="{9D8B030D-6E8A-4147-A177-3AD203B41FA5}">
                      <a16:colId xmlns:a16="http://schemas.microsoft.com/office/drawing/2014/main" val="3341615477"/>
                    </a:ext>
                  </a:extLst>
                </a:gridCol>
                <a:gridCol w="1444752">
                  <a:extLst>
                    <a:ext uri="{9D8B030D-6E8A-4147-A177-3AD203B41FA5}">
                      <a16:colId xmlns:a16="http://schemas.microsoft.com/office/drawing/2014/main" val="3029883940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  <a:spcAft>
                          <a:spcPts val="200"/>
                        </a:spcAft>
                      </a:pPr>
                      <a:r>
                        <a:rPr lang="en-US" sz="1500" b="1" altLang="zh-CN">
                          <a:solidFill>
                            <a:srgbClr val="FFFFFF"/>
                          </a:solidFill>
                          <a:effectLst/>
                          <a:latin typeface="Arial"/>
                          <a:ea typeface="微软雅黑" panose="020B0503020204020204" pitchFamily="34" charset="-122"/>
                        </a:rPr>
                        <a:t>Action Item</a:t>
                      </a:r>
                    </a:p>
                    <a:p>
                      <a:pPr algn="ctr" fontAlgn="ctr">
                        <a:lnSpc>
                          <a:spcPct val="100000"/>
                        </a:lnSpc>
                        <a:spcAft>
                          <a:spcPts val="200"/>
                        </a:spcAft>
                      </a:pPr>
                      <a:r>
                        <a:rPr lang="zh-CN" sz="1500" b="1" altLang="en-US"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行动项</a:t>
                      </a:r>
                    </a:p>
                  </a:txBody>
                  <a:tcPr marL="73152" marR="73152" marT="45720" marB="4572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  <a:spcAft>
                          <a:spcPts val="200"/>
                        </a:spcAft>
                      </a:pPr>
                      <a:r>
                        <a:rPr lang="en-US" altLang="zh-CN" sz="1500" b="1">
                          <a:solidFill>
                            <a:srgbClr val="FFFFFF"/>
                          </a:solidFill>
                          <a:effectLst/>
                          <a:latin typeface="Arial"/>
                          <a:ea typeface="微软雅黑" panose="020B0503020204020204" pitchFamily="34" charset="-122"/>
                        </a:rPr>
                        <a:t>Implementation Plan</a:t>
                      </a:r>
                    </a:p>
                    <a:p>
                      <a:pPr algn="ctr" fontAlgn="ctr">
                        <a:lnSpc>
                          <a:spcPct val="100000"/>
                        </a:lnSpc>
                        <a:spcAft>
                          <a:spcPts val="200"/>
                        </a:spcAft>
                      </a:pPr>
                      <a:r>
                        <a:rPr lang="zh-CN" altLang="en-US" sz="1500" b="1"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实施方案</a:t>
                      </a:r>
                    </a:p>
                  </a:txBody>
                  <a:tcPr marL="73152" marR="73152" marT="45720" marB="4572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  <a:spcAft>
                          <a:spcPts val="200"/>
                        </a:spcAft>
                      </a:pPr>
                      <a:r>
                        <a:rPr lang="en-US" altLang="zh-CN" sz="1500" b="1">
                          <a:solidFill>
                            <a:srgbClr val="FFFFFF"/>
                          </a:solidFill>
                          <a:effectLst/>
                          <a:latin typeface="Arial"/>
                          <a:ea typeface="微软雅黑" panose="020B0503020204020204" pitchFamily="34" charset="-122"/>
                        </a:rPr>
                        <a:t>Target Date</a:t>
                      </a:r>
                    </a:p>
                    <a:p>
                      <a:pPr algn="ctr" fontAlgn="ctr">
                        <a:lnSpc>
                          <a:spcPct val="100000"/>
                        </a:lnSpc>
                        <a:spcAft>
                          <a:spcPts val="200"/>
                        </a:spcAft>
                      </a:pPr>
                      <a:r>
                        <a:rPr lang="zh-CN" altLang="en-US" sz="1500" b="1"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执行时间</a:t>
                      </a:r>
                    </a:p>
                  </a:txBody>
                  <a:tcPr marL="73152" marR="73152" marT="45720" marB="45720" anchor="ctr"/>
                </a:tc>
                <a:extLst>
                  <a:ext uri="{0D108BD9-81ED-4DB2-BD59-A6C34878D82A}">
                    <a16:rowId xmlns:a16="http://schemas.microsoft.com/office/drawing/2014/main" val="121777397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fontAlgn="t">
                        <a:lnSpc>
                          <a:spcPct val="100000"/>
                        </a:lnSpc>
                        <a:spcAft>
                          <a:spcPts val="200"/>
                        </a:spcAft>
                      </a:pPr>
                      <a:r>
                        <a:rPr lang="en-US" sz="1700" altLang="zh-CN" b="0">
                          <a:solidFill>
                            <a:srgbClr val="008000"/>
                          </a:solidFill>
                          <a:effectLst/>
                          <a:latin typeface="Arial"/>
                          <a:ea typeface="微软雅黑" panose="020B0503020204020204" pitchFamily="34" charset="-122"/>
                        </a:rPr>
                        <a:t>Purified Water header throughout the facility does not meet industry guidance - sample point is not representative of POU, no means of pre-use flushing/blowing, etc. Additionally, POU filtration should be provided for any PW supplied to a growth promoting solution via hose connection (upstream of drain line). These filters should have time in use tracked and be replaced frequently (NMT 24 hours).</a:t>
                      </a:r>
                    </a:p>
                    <a:p>
                      <a:pPr fontAlgn="t">
                        <a:lnSpc>
                          <a:spcPct val="100000"/>
                        </a:lnSpc>
                        <a:spcAft>
                          <a:spcPts val="200"/>
                        </a:spcAft>
                      </a:pPr>
                      <a:r>
                        <a:rPr lang="en-US" sz="1700" altLang="zh-CN" b="0">
                          <a:solidFill>
                            <a:srgbClr val="008000"/>
                          </a:solidFill>
                          <a:effectLst/>
                          <a:latin typeface="Arial"/>
                          <a:ea typeface="微软雅黑" panose="020B0503020204020204" pitchFamily="34" charset="-122"/>
                        </a:rPr>
                        <a:t>Implement point-of-use flushing directly to waste and post-use draining and drying for purified-water lines using zero-static valves or minimum-distance tees without creating dead legs</a:t>
                      </a:r>
                    </a:p>
                    <a:p>
                      <a:pPr fontAlgn="t">
                        <a:lnSpc>
                          <a:spcPct val="100000"/>
                        </a:lnSpc>
                        <a:spcAft>
                          <a:spcPts val="200"/>
                        </a:spcAft>
                      </a:pPr>
                      <a:r>
                        <a:rPr lang="zh-CN" sz="1700" altLang="en-US" b="0">
                          <a:solidFill>
                            <a:srgbClr val="008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全厂纯化水（Purified Water）总管不符合行业指导——取样点不能代表使用点（POU），缺乏使用前冲洗/吹扫手段等。此外，经软管向促生长溶液供应的任何 PW，应在排尽管路上游提供 POU 过滤；此类过滤器应跟踪使用时间并频繁更换（NMT 24 hours）。</a:t>
                      </a:r>
                    </a:p>
                    <a:p>
                      <a:pPr fontAlgn="t">
                        <a:lnSpc>
                          <a:spcPct val="100000"/>
                        </a:lnSpc>
                        <a:spcAft>
                          <a:spcPts val="200"/>
                        </a:spcAft>
                      </a:pPr>
                      <a:r>
                        <a:rPr lang="zh-CN" sz="1700" altLang="en-US" b="0">
                          <a:solidFill>
                            <a:srgbClr val="008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实施使用点直接排废冲洗，以及纯化水管路使用后排尽与干燥；采用零静阀或最小距离三通，且不形成死角（dead-leg）。</a:t>
                      </a:r>
                    </a:p>
                  </a:txBody>
                  <a:tcPr marL="73152" marR="73152" marT="45720" marB="4572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200"/>
                        </a:spcAft>
                      </a:pPr>
                      <a:r>
                        <a:rPr lang="en-US" altLang="zh-CN" sz="1700" kern="1200" b="0">
                          <a:solidFill>
                            <a:schemeClr val="tx1"/>
                          </a:solidFill>
                          <a:effectLst/>
                          <a:latin typeface="Arial"/>
                          <a:ea typeface="微软雅黑" panose="020B0503020204020204" pitchFamily="34" charset="-122"/>
                          <a:cs typeface="+mn-cs"/>
                        </a:rPr>
                        <a:t>Submit a change control and carry out the modification per the scheme shown on Slide 1 (valves designed to the 3D principle). Estimated durations:</a:t>
                      </a:r>
                    </a:p>
                    <a:p>
                      <a:pPr algn="l">
                        <a:lnSpc>
                          <a:spcPct val="100000"/>
                        </a:lnSpc>
                        <a:spcAft>
                          <a:spcPts val="200"/>
                        </a:spcAft>
                      </a:pPr>
                      <a:r>
                        <a:rPr lang="en-US" altLang="zh-CN" sz="1700" kern="1200" b="0">
                          <a:solidFill>
                            <a:schemeClr val="tx1"/>
                          </a:solidFill>
                          <a:effectLst/>
                          <a:latin typeface="Arial"/>
                          <a:ea typeface="微软雅黑" panose="020B0503020204020204" pitchFamily="34" charset="-122"/>
                          <a:cs typeface="+mn-cs"/>
                        </a:rPr>
                        <a:t>Procurement: ~6 weeks</a:t>
                      </a:r>
                    </a:p>
                    <a:p>
                      <a:pPr algn="l">
                        <a:lnSpc>
                          <a:spcPct val="100000"/>
                        </a:lnSpc>
                        <a:spcAft>
                          <a:spcPts val="200"/>
                        </a:spcAft>
                      </a:pPr>
                      <a:r>
                        <a:rPr lang="en-US" altLang="zh-CN" sz="1700" kern="1200" b="0">
                          <a:solidFill>
                            <a:schemeClr val="tx1"/>
                          </a:solidFill>
                          <a:effectLst/>
                          <a:latin typeface="Arial"/>
                          <a:ea typeface="微软雅黑" panose="020B0503020204020204" pitchFamily="34" charset="-122"/>
                          <a:cs typeface="+mn-cs"/>
                        </a:rPr>
                        <a:t>Installation: ~3 weeks</a:t>
                      </a:r>
                    </a:p>
                    <a:p>
                      <a:pPr algn="l">
                        <a:lnSpc>
                          <a:spcPct val="100000"/>
                        </a:lnSpc>
                        <a:spcAft>
                          <a:spcPts val="200"/>
                        </a:spcAft>
                      </a:pPr>
                      <a:r>
                        <a:rPr lang="en-US" altLang="zh-CN" sz="1700" kern="1200" b="0">
                          <a:solidFill>
                            <a:schemeClr val="tx1"/>
                          </a:solidFill>
                          <a:effectLst/>
                          <a:latin typeface="Arial"/>
                          <a:ea typeface="微软雅黑" panose="020B0503020204020204" pitchFamily="34" charset="-122"/>
                          <a:cs typeface="+mn-cs"/>
                        </a:rPr>
                        <a:t>Pickling and passivation: ~2 weeks</a:t>
                      </a:r>
                    </a:p>
                    <a:p>
                      <a:pPr algn="l">
                        <a:lnSpc>
                          <a:spcPct val="100000"/>
                        </a:lnSpc>
                        <a:spcAft>
                          <a:spcPts val="200"/>
                        </a:spcAft>
                      </a:pPr>
                      <a:r>
                        <a:rPr lang="en-US" altLang="zh-CN" sz="1700" kern="1200" b="0">
                          <a:solidFill>
                            <a:schemeClr val="tx1"/>
                          </a:solidFill>
                          <a:effectLst/>
                          <a:latin typeface="Arial"/>
                          <a:ea typeface="微软雅黑" panose="020B0503020204020204" pitchFamily="34" charset="-122"/>
                          <a:cs typeface="+mn-cs"/>
                        </a:rPr>
                        <a:t>Continuous sampling validation and incubation: ~3 weeks</a:t>
                      </a:r>
                    </a:p>
                    <a:p>
                      <a:pPr algn="l">
                        <a:lnSpc>
                          <a:spcPct val="100000"/>
                        </a:lnSpc>
                        <a:spcAft>
                          <a:spcPts val="200"/>
                        </a:spcAft>
                      </a:pPr>
                      <a:r>
                        <a:rPr lang="en-US" altLang="zh-CN" sz="1700" kern="1200" b="0">
                          <a:solidFill>
                            <a:schemeClr val="tx1"/>
                          </a:solidFill>
                          <a:effectLst/>
                          <a:latin typeface="Arial"/>
                          <a:ea typeface="微软雅黑" panose="020B0503020204020204" pitchFamily="34" charset="-122"/>
                          <a:cs typeface="+mn-cs"/>
                        </a:rPr>
                        <a:t>Line drying validation: ~2 weeks</a:t>
                      </a:r>
                    </a:p>
                    <a:p>
                      <a:pPr algn="l">
                        <a:lnSpc>
                          <a:spcPct val="100000"/>
                        </a:lnSpc>
                        <a:spcAft>
                          <a:spcPts val="200"/>
                        </a:spcAft>
                      </a:pPr>
                      <a:r>
                        <a:rPr lang="zh-CN" altLang="en-US" sz="1700" kern="1200" b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如首页展示方案提交变更并进行改造阀（满足3D原则），经过评估时间如下：</a:t>
                      </a:r>
                    </a:p>
                    <a:p>
                      <a:pPr algn="l">
                        <a:lnSpc>
                          <a:spcPct val="100000"/>
                        </a:lnSpc>
                        <a:spcAft>
                          <a:spcPts val="200"/>
                        </a:spcAft>
                      </a:pPr>
                      <a:r>
                        <a:rPr lang="zh-CN" altLang="en-US" sz="1700" kern="1200" b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采购周期约6周</a:t>
                      </a:r>
                    </a:p>
                    <a:p>
                      <a:pPr algn="l">
                        <a:lnSpc>
                          <a:spcPct val="100000"/>
                        </a:lnSpc>
                        <a:spcAft>
                          <a:spcPts val="200"/>
                        </a:spcAft>
                      </a:pPr>
                      <a:r>
                        <a:rPr lang="zh-CN" altLang="en-US" sz="1700" kern="1200" b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施工约3周</a:t>
                      </a:r>
                    </a:p>
                    <a:p>
                      <a:pPr algn="l">
                        <a:lnSpc>
                          <a:spcPct val="100000"/>
                        </a:lnSpc>
                        <a:spcAft>
                          <a:spcPts val="200"/>
                        </a:spcAft>
                      </a:pPr>
                      <a:r>
                        <a:rPr lang="zh-CN" altLang="en-US" sz="1700" kern="1200" b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酸洗钝化约2周</a:t>
                      </a:r>
                    </a:p>
                    <a:p>
                      <a:pPr algn="l">
                        <a:lnSpc>
                          <a:spcPct val="100000"/>
                        </a:lnSpc>
                        <a:spcAft>
                          <a:spcPts val="200"/>
                        </a:spcAft>
                      </a:pPr>
                      <a:r>
                        <a:rPr lang="zh-CN" altLang="en-US" sz="1700" kern="1200" b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连续取样验证并培养约3周</a:t>
                      </a:r>
                    </a:p>
                    <a:p>
                      <a:pPr algn="l">
                        <a:lnSpc>
                          <a:spcPct val="100000"/>
                        </a:lnSpc>
                        <a:spcAft>
                          <a:spcPts val="200"/>
                        </a:spcAft>
                      </a:pPr>
                      <a:r>
                        <a:rPr lang="zh-CN" altLang="en-US" sz="1700" kern="1200" b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管路干燥验证约2周</a:t>
                      </a:r>
                    </a:p>
                  </a:txBody>
                  <a:tcPr anchor="ctr" marL="73152" marR="73152" marT="45720" marB="4572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200"/>
                        </a:spcAft>
                      </a:pPr>
                      <a:r>
                        <a:rPr lang="en-US" altLang="zh-CN" sz="1700" kern="1200" b="0">
                          <a:solidFill>
                            <a:schemeClr val="tx1"/>
                          </a:solidFill>
                          <a:effectLst/>
                          <a:latin typeface="Arial"/>
                          <a:ea typeface="微软雅黑" panose="020B0503020204020204" pitchFamily="34" charset="-122"/>
                          <a:cs typeface="+mn-cs"/>
                        </a:rPr>
                        <a:t>01/30/2027</a:t>
                      </a:r>
                    </a:p>
                  </a:txBody>
                  <a:tcPr anchor="ctr" marL="73152" marR="73152" marT="45720" marB="45720"/>
                </a:tc>
                <a:extLst>
                  <a:ext uri="{0D108BD9-81ED-4DB2-BD59-A6C34878D82A}">
                    <a16:rowId xmlns:a16="http://schemas.microsoft.com/office/drawing/2014/main" val="20906759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771353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6445498"/>
              </p:ext>
            </p:extLst>
          </p:nvPr>
        </p:nvGraphicFramePr>
        <p:xfrm>
          <a:off x="192505" y="433136"/>
          <a:ext cx="11640312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0">
                  <a:extLst>
                    <a:ext uri="{9D8B030D-6E8A-4147-A177-3AD203B41FA5}">
                      <a16:colId xmlns:a16="http://schemas.microsoft.com/office/drawing/2014/main" val="23088648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3341615477"/>
                    </a:ext>
                  </a:extLst>
                </a:gridCol>
                <a:gridCol w="1581912">
                  <a:extLst>
                    <a:ext uri="{9D8B030D-6E8A-4147-A177-3AD203B41FA5}">
                      <a16:colId xmlns:a16="http://schemas.microsoft.com/office/drawing/2014/main" val="3029883940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  <a:spcAft>
                          <a:spcPts val="200"/>
                        </a:spcAft>
                      </a:pPr>
                      <a:r>
                        <a:rPr lang="en-US" sz="1500" b="1" altLang="zh-CN">
                          <a:solidFill>
                            <a:srgbClr val="FFFFFF"/>
                          </a:solidFill>
                          <a:effectLst/>
                          <a:latin typeface="Arial"/>
                          <a:ea typeface="微软雅黑" panose="020B0503020204020204" pitchFamily="34" charset="-122"/>
                        </a:rPr>
                        <a:t>Action Item</a:t>
                      </a:r>
                    </a:p>
                    <a:p>
                      <a:pPr algn="ctr" fontAlgn="ctr">
                        <a:lnSpc>
                          <a:spcPct val="100000"/>
                        </a:lnSpc>
                        <a:spcAft>
                          <a:spcPts val="200"/>
                        </a:spcAft>
                      </a:pPr>
                      <a:r>
                        <a:rPr lang="zh-CN" sz="1500" b="1" altLang="en-US"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行动项</a:t>
                      </a:r>
                    </a:p>
                  </a:txBody>
                  <a:tcPr marL="73152" marR="73152" marT="45720" marB="4572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  <a:spcAft>
                          <a:spcPts val="200"/>
                        </a:spcAft>
                      </a:pPr>
                      <a:r>
                        <a:rPr lang="en-US" altLang="zh-CN" sz="1500" b="1">
                          <a:solidFill>
                            <a:srgbClr val="FFFFFF"/>
                          </a:solidFill>
                          <a:effectLst/>
                          <a:latin typeface="Arial"/>
                          <a:ea typeface="微软雅黑" panose="020B0503020204020204" pitchFamily="34" charset="-122"/>
                        </a:rPr>
                        <a:t>Implementation Plan</a:t>
                      </a:r>
                    </a:p>
                    <a:p>
                      <a:pPr algn="ctr" fontAlgn="ctr">
                        <a:lnSpc>
                          <a:spcPct val="100000"/>
                        </a:lnSpc>
                        <a:spcAft>
                          <a:spcPts val="200"/>
                        </a:spcAft>
                      </a:pPr>
                      <a:r>
                        <a:rPr lang="zh-CN" altLang="en-US" sz="1500" b="1"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实施方案</a:t>
                      </a:r>
                    </a:p>
                  </a:txBody>
                  <a:tcPr marL="73152" marR="73152" marT="45720" marB="4572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  <a:spcAft>
                          <a:spcPts val="200"/>
                        </a:spcAft>
                      </a:pPr>
                      <a:r>
                        <a:rPr lang="en-US" altLang="zh-CN" sz="1500" b="1">
                          <a:solidFill>
                            <a:srgbClr val="FFFFFF"/>
                          </a:solidFill>
                          <a:effectLst/>
                          <a:latin typeface="Arial"/>
                          <a:ea typeface="微软雅黑" panose="020B0503020204020204" pitchFamily="34" charset="-122"/>
                        </a:rPr>
                        <a:t>Target Date</a:t>
                      </a:r>
                    </a:p>
                    <a:p>
                      <a:pPr algn="ctr" fontAlgn="ctr">
                        <a:lnSpc>
                          <a:spcPct val="100000"/>
                        </a:lnSpc>
                        <a:spcAft>
                          <a:spcPts val="200"/>
                        </a:spcAft>
                      </a:pPr>
                      <a:r>
                        <a:rPr lang="zh-CN" altLang="en-US" sz="1500" b="1"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执行时间</a:t>
                      </a:r>
                    </a:p>
                  </a:txBody>
                  <a:tcPr marL="73152" marR="73152" marT="45720" marB="45720" anchor="ctr"/>
                </a:tc>
                <a:extLst>
                  <a:ext uri="{0D108BD9-81ED-4DB2-BD59-A6C34878D82A}">
                    <a16:rowId xmlns:a16="http://schemas.microsoft.com/office/drawing/2014/main" val="1217773972"/>
                  </a:ext>
                </a:extLst>
              </a:tr>
              <a:tr h="2834640">
                <a:tc>
                  <a:txBody>
                    <a:bodyPr/>
                    <a:lstStyle/>
                    <a:p>
                      <a:pPr fontAlgn="t">
                        <a:lnSpc>
                          <a:spcPct val="100000"/>
                        </a:lnSpc>
                        <a:spcAft>
                          <a:spcPts val="200"/>
                        </a:spcAft>
                      </a:pPr>
                      <a:r>
                        <a:rPr lang="en-US" sz="1800" altLang="zh-CN" b="0">
                          <a:solidFill>
                            <a:srgbClr val="008000"/>
                          </a:solidFill>
                          <a:effectLst/>
                          <a:latin typeface="Arial"/>
                          <a:ea typeface="微软雅黑" panose="020B0503020204020204" pitchFamily="34" charset="-122"/>
                        </a:rPr>
                        <a:t>Implement the use of permeable film to cover the ends of process and water hoses while stored for drying</a:t>
                      </a:r>
                    </a:p>
                    <a:p>
                      <a:pPr fontAlgn="t">
                        <a:lnSpc>
                          <a:spcPct val="100000"/>
                        </a:lnSpc>
                        <a:spcAft>
                          <a:spcPts val="200"/>
                        </a:spcAft>
                      </a:pPr>
                      <a:r>
                        <a:rPr lang="zh-CN" sz="1800" altLang="en-US" b="0">
                          <a:solidFill>
                            <a:srgbClr val="008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在工艺及用水软管干燥存放期间，采用透气膜覆盖软管端部。</a:t>
                      </a:r>
                    </a:p>
                  </a:txBody>
                  <a:tcPr marL="73152" marR="73152" marT="45720" marB="45720"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200"/>
                        </a:spcAft>
                      </a:pPr>
                      <a:r>
                        <a:rPr lang="en-US" altLang="zh-CN" sz="1800" kern="1200" b="0">
                          <a:solidFill>
                            <a:schemeClr val="tx1"/>
                          </a:solidFill>
                          <a:effectLst/>
                          <a:latin typeface="Arial"/>
                          <a:ea typeface="微软雅黑" panose="020B0503020204020204" pitchFamily="34" charset="-122"/>
                          <a:cs typeface="+mn-cs"/>
                        </a:rPr>
                        <a:t>Permeable film has been procured (see photo at left).</a:t>
                      </a:r>
                    </a:p>
                    <a:p>
                      <a:pPr>
                        <a:lnSpc>
                          <a:spcPct val="100000"/>
                        </a:lnSpc>
                        <a:spcAft>
                          <a:spcPts val="200"/>
                        </a:spcAft>
                      </a:pPr>
                      <a:r>
                        <a:rPr lang="zh-CN" altLang="en-US" sz="1800" kern="1200" b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已经采购透气膜，如左图</a:t>
                      </a:r>
                    </a:p>
                  </a:txBody>
                  <a:tcPr anchor="ctr" marL="73152" marR="73152" marT="45720" marB="4572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kern="1200" b="0">
                          <a:solidFill>
                            <a:schemeClr val="tx1"/>
                          </a:solidFill>
                          <a:effectLst/>
                          <a:latin typeface="Arial"/>
                          <a:ea typeface="微软雅黑" panose="020B0503020204020204" pitchFamily="34" charset="-122"/>
                          <a:cs typeface="+mn-cs"/>
                        </a:rPr>
                        <a:t>10/30/2026</a:t>
                      </a:r>
                    </a:p>
                  </a:txBody>
                  <a:tcPr anchor="ctr" marL="73152" marR="73152" marT="45720" marB="45720"/>
                </a:tc>
                <a:extLst>
                  <a:ext uri="{0D108BD9-81ED-4DB2-BD59-A6C34878D82A}">
                    <a16:rowId xmlns:a16="http://schemas.microsoft.com/office/drawing/2014/main" val="61060522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fontAlgn="t">
                        <a:lnSpc>
                          <a:spcPct val="100000"/>
                        </a:lnSpc>
                        <a:spcAft>
                          <a:spcPts val="200"/>
                        </a:spcAft>
                      </a:pPr>
                      <a:r>
                        <a:rPr lang="en-US" sz="1800" altLang="zh-CN" b="0">
                          <a:solidFill>
                            <a:srgbClr val="008000"/>
                          </a:solidFill>
                          <a:effectLst/>
                          <a:latin typeface="Arial"/>
                          <a:ea typeface="微软雅黑" panose="020B0503020204020204" pitchFamily="34" charset="-122"/>
                        </a:rPr>
                        <a:t>Install point-of-use filters for purified water supplied by hose to growth-promoting solutions, track time in use, and replace filters no later than 24 hours</a:t>
                      </a:r>
                    </a:p>
                    <a:p>
                      <a:pPr fontAlgn="t">
                        <a:lnSpc>
                          <a:spcPct val="100000"/>
                        </a:lnSpc>
                        <a:spcAft>
                          <a:spcPts val="200"/>
                        </a:spcAft>
                      </a:pPr>
                      <a:r>
                        <a:rPr lang="zh-CN" sz="1800" altLang="en-US" b="0">
                          <a:solidFill>
                            <a:srgbClr val="008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为经软管向促生长溶液供应的纯化水安装使用点过滤器，跟踪使用时间，并最迟于 24 hours 更换过滤器。</a:t>
                      </a:r>
                    </a:p>
                  </a:txBody>
                  <a:tcPr marL="73152" marR="73152" marT="45720" marB="4572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kern="1200" b="0">
                          <a:solidFill>
                            <a:schemeClr val="tx1"/>
                          </a:solidFill>
                          <a:effectLst/>
                          <a:latin typeface="Arial"/>
                          <a:ea typeface="微软雅黑" panose="020B0503020204020204" pitchFamily="34" charset="-122"/>
                          <a:cs typeface="+mn-cs"/>
                        </a:rPr>
                        <a:t>Immediate corrective action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kern="1200" b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立即整改</a:t>
                      </a:r>
                    </a:p>
                  </a:txBody>
                  <a:tcPr anchor="ctr" marL="73152" marR="73152" marT="45720" marB="4572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200"/>
                        </a:spcAft>
                      </a:pPr>
                      <a:r>
                        <a:rPr lang="en-US" altLang="zh-CN" sz="1800" kern="1200" b="0">
                          <a:solidFill>
                            <a:schemeClr val="tx1"/>
                          </a:solidFill>
                          <a:effectLst/>
                          <a:latin typeface="Arial"/>
                          <a:ea typeface="微软雅黑" panose="020B0503020204020204" pitchFamily="34" charset="-122"/>
                          <a:cs typeface="+mn-cs"/>
                        </a:rPr>
                        <a:t>09/30/2026</a:t>
                      </a:r>
                    </a:p>
                  </a:txBody>
                  <a:tcPr anchor="ctr" marL="73152" marR="73152" marT="45720" marB="45720"/>
                </a:tc>
                <a:extLst>
                  <a:ext uri="{0D108BD9-81ED-4DB2-BD59-A6C34878D82A}">
                    <a16:rowId xmlns:a16="http://schemas.microsoft.com/office/drawing/2014/main" val="1245900108"/>
                  </a:ext>
                </a:extLst>
              </a:tr>
            </a:tbl>
          </a:graphicData>
        </a:graphic>
      </p:graphicFrame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474" t="35228" r="21430" b="31088"/>
          <a:stretch/>
        </p:blipFill>
        <p:spPr>
          <a:xfrm>
            <a:off x="4677263" y="2616519"/>
            <a:ext cx="1778882" cy="1227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48725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6445498"/>
              </p:ext>
            </p:extLst>
          </p:nvPr>
        </p:nvGraphicFramePr>
        <p:xfrm>
          <a:off x="192505" y="433136"/>
          <a:ext cx="11640312" cy="1508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0">
                  <a:extLst>
                    <a:ext uri="{9D8B030D-6E8A-4147-A177-3AD203B41FA5}">
                      <a16:colId xmlns:a16="http://schemas.microsoft.com/office/drawing/2014/main" val="23088648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3341615477"/>
                    </a:ext>
                  </a:extLst>
                </a:gridCol>
                <a:gridCol w="1581912">
                  <a:extLst>
                    <a:ext uri="{9D8B030D-6E8A-4147-A177-3AD203B41FA5}">
                      <a16:colId xmlns:a16="http://schemas.microsoft.com/office/drawing/2014/main" val="3029883940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  <a:spcAft>
                          <a:spcPts val="200"/>
                        </a:spcAft>
                      </a:pPr>
                      <a:r>
                        <a:rPr lang="en-US" sz="1500" b="1" altLang="zh-CN">
                          <a:solidFill>
                            <a:srgbClr val="FFFFFF"/>
                          </a:solidFill>
                          <a:effectLst/>
                          <a:latin typeface="Arial"/>
                          <a:ea typeface="微软雅黑" panose="020B0503020204020204" pitchFamily="34" charset="-122"/>
                        </a:rPr>
                        <a:t>Action Item</a:t>
                      </a:r>
                    </a:p>
                    <a:p>
                      <a:pPr algn="ctr" fontAlgn="ctr">
                        <a:lnSpc>
                          <a:spcPct val="100000"/>
                        </a:lnSpc>
                        <a:spcAft>
                          <a:spcPts val="200"/>
                        </a:spcAft>
                      </a:pPr>
                      <a:r>
                        <a:rPr lang="zh-CN" sz="1500" b="1" altLang="en-US"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行动项</a:t>
                      </a:r>
                    </a:p>
                  </a:txBody>
                  <a:tcPr marL="73152" marR="73152" marT="45720" marB="4572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  <a:spcAft>
                          <a:spcPts val="200"/>
                        </a:spcAft>
                      </a:pPr>
                      <a:r>
                        <a:rPr lang="en-US" altLang="zh-CN" sz="1500" b="1">
                          <a:solidFill>
                            <a:srgbClr val="FFFFFF"/>
                          </a:solidFill>
                          <a:effectLst/>
                          <a:latin typeface="Arial"/>
                          <a:ea typeface="微软雅黑" panose="020B0503020204020204" pitchFamily="34" charset="-122"/>
                        </a:rPr>
                        <a:t>Implementation Plan</a:t>
                      </a:r>
                    </a:p>
                    <a:p>
                      <a:pPr algn="ctr" fontAlgn="ctr">
                        <a:lnSpc>
                          <a:spcPct val="100000"/>
                        </a:lnSpc>
                        <a:spcAft>
                          <a:spcPts val="200"/>
                        </a:spcAft>
                      </a:pPr>
                      <a:r>
                        <a:rPr lang="zh-CN" altLang="en-US" sz="1500" b="1"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实施方案</a:t>
                      </a:r>
                    </a:p>
                  </a:txBody>
                  <a:tcPr marL="73152" marR="73152" marT="45720" marB="4572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  <a:spcAft>
                          <a:spcPts val="200"/>
                        </a:spcAft>
                      </a:pPr>
                      <a:r>
                        <a:rPr lang="en-US" altLang="zh-CN" sz="1500" b="1">
                          <a:solidFill>
                            <a:srgbClr val="FFFFFF"/>
                          </a:solidFill>
                          <a:effectLst/>
                          <a:latin typeface="Arial"/>
                          <a:ea typeface="微软雅黑" panose="020B0503020204020204" pitchFamily="34" charset="-122"/>
                        </a:rPr>
                        <a:t>Target Date</a:t>
                      </a:r>
                    </a:p>
                    <a:p>
                      <a:pPr algn="ctr" fontAlgn="ctr">
                        <a:lnSpc>
                          <a:spcPct val="100000"/>
                        </a:lnSpc>
                        <a:spcAft>
                          <a:spcPts val="200"/>
                        </a:spcAft>
                      </a:pPr>
                      <a:r>
                        <a:rPr lang="zh-CN" altLang="en-US" sz="1500" b="1"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执行时间</a:t>
                      </a:r>
                    </a:p>
                  </a:txBody>
                  <a:tcPr marL="73152" marR="73152" marT="45720" marB="45720" anchor="ctr"/>
                </a:tc>
                <a:extLst>
                  <a:ext uri="{0D108BD9-81ED-4DB2-BD59-A6C34878D82A}">
                    <a16:rowId xmlns:a16="http://schemas.microsoft.com/office/drawing/2014/main" val="121777397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fontAlgn="t">
                        <a:lnSpc>
                          <a:spcPct val="100000"/>
                        </a:lnSpc>
                        <a:spcAft>
                          <a:spcPts val="200"/>
                        </a:spcAft>
                      </a:pPr>
                      <a:r>
                        <a:rPr lang="en-US" sz="1800" altLang="zh-CN" b="0">
                          <a:solidFill>
                            <a:srgbClr val="008000"/>
                          </a:solidFill>
                          <a:effectLst/>
                          <a:latin typeface="Arial"/>
                          <a:ea typeface="微软雅黑" panose="020B0503020204020204" pitchFamily="34" charset="-122"/>
                        </a:rPr>
                        <a:t>Assess representative sampling from new point-of-use drains and determine whether formal revalidation or an informal verification study is required to confirm water-system quality</a:t>
                      </a:r>
                    </a:p>
                    <a:p>
                      <a:pPr fontAlgn="t">
                        <a:lnSpc>
                          <a:spcPct val="100000"/>
                        </a:lnSpc>
                        <a:spcAft>
                          <a:spcPts val="200"/>
                        </a:spcAft>
                      </a:pPr>
                      <a:r>
                        <a:rPr lang="zh-CN" sz="1800" altLang="en-US" b="0">
                          <a:solidFill>
                            <a:srgbClr val="008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评估新建使用点排尽口的代表性取样，并确定是否需要正式再验证或非正式确认研究以证明水系统质量。</a:t>
                      </a:r>
                    </a:p>
                  </a:txBody>
                  <a:tcPr marL="73152" marR="73152" marT="45720" marB="4572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200"/>
                        </a:spcAft>
                      </a:pPr>
                      <a:r>
                        <a:rPr lang="en-US" altLang="zh-CN" sz="1800" kern="1200" b="0">
                          <a:solidFill>
                            <a:schemeClr val="tx1"/>
                          </a:solidFill>
                          <a:effectLst/>
                          <a:latin typeface="Arial"/>
                          <a:ea typeface="微软雅黑" panose="020B0503020204020204" pitchFamily="34" charset="-122"/>
                          <a:cs typeface="+mn-cs"/>
                        </a:rPr>
                        <a:t>Assessment of sampling points is in progress.</a:t>
                      </a:r>
                    </a:p>
                    <a:p>
                      <a:pPr algn="l">
                        <a:lnSpc>
                          <a:spcPct val="100000"/>
                        </a:lnSpc>
                        <a:spcAft>
                          <a:spcPts val="200"/>
                        </a:spcAft>
                      </a:pPr>
                      <a:r>
                        <a:rPr lang="zh-CN" altLang="en-US" sz="1800" kern="1200" b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取样点位评估正在进行</a:t>
                      </a:r>
                    </a:p>
                  </a:txBody>
                  <a:tcPr anchor="ctr" marL="73152" marR="73152" marT="45720" marB="4572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200"/>
                        </a:spcAft>
                      </a:pPr>
                      <a:r>
                        <a:rPr lang="en-US" altLang="zh-CN" sz="1800" kern="1200" b="0">
                          <a:solidFill>
                            <a:schemeClr val="tx1"/>
                          </a:solidFill>
                          <a:effectLst/>
                          <a:latin typeface="Arial"/>
                          <a:ea typeface="微软雅黑" panose="020B0503020204020204" pitchFamily="34" charset="-122"/>
                          <a:cs typeface="+mn-cs"/>
                        </a:rPr>
                        <a:t>10/30/2026</a:t>
                      </a:r>
                    </a:p>
                  </a:txBody>
                  <a:tcPr anchor="ctr" marL="73152" marR="73152" marT="45720" marB="45720"/>
                </a:tc>
                <a:extLst>
                  <a:ext uri="{0D108BD9-81ED-4DB2-BD59-A6C34878D82A}">
                    <a16:rowId xmlns:a16="http://schemas.microsoft.com/office/drawing/2014/main" val="37790853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fontAlgn="t">
                        <a:lnSpc>
                          <a:spcPct val="100000"/>
                        </a:lnSpc>
                        <a:spcAft>
                          <a:spcPts val="200"/>
                        </a:spcAft>
                      </a:pPr>
                      <a:r>
                        <a:rPr lang="en-US" sz="1800" altLang="zh-CN" b="0">
                          <a:solidFill>
                            <a:srgbClr val="008000"/>
                          </a:solidFill>
                          <a:effectLst/>
                          <a:latin typeface="Arial"/>
                          <a:ea typeface="微软雅黑" panose="020B0503020204020204" pitchFamily="34" charset="-122"/>
                        </a:rPr>
                        <a:t>Store hose ends at least 6 inches off the floor and provide a clear visual indicator confirming compliant storage position</a:t>
                      </a:r>
                    </a:p>
                    <a:p>
                      <a:pPr fontAlgn="t">
                        <a:lnSpc>
                          <a:spcPct val="100000"/>
                        </a:lnSpc>
                        <a:spcAft>
                          <a:spcPts val="200"/>
                        </a:spcAft>
                      </a:pPr>
                      <a:r>
                        <a:rPr lang="zh-CN" sz="1800" altLang="en-US" b="0">
                          <a:solidFill>
                            <a:srgbClr val="008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软管端部存放高度至少离地 6 inches，并提供明确目视标识以确认符合存放位置。</a:t>
                      </a:r>
                    </a:p>
                  </a:txBody>
                  <a:tcPr marL="73152" marR="73152" marT="45720" marB="4572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200"/>
                        </a:spcAft>
                      </a:pPr>
                      <a:r>
                        <a:rPr lang="en-US" altLang="zh-CN" sz="1800" kern="1200" b="0">
                          <a:solidFill>
                            <a:schemeClr val="tx1"/>
                          </a:solidFill>
                          <a:effectLst/>
                          <a:latin typeface="Arial"/>
                          <a:ea typeface="微软雅黑" panose="020B0503020204020204" pitchFamily="34" charset="-122"/>
                          <a:cs typeface="+mn-cs"/>
                        </a:rPr>
                        <a:t>1. Short term: train on-site personnel</a:t>
                      </a:r>
                    </a:p>
                    <a:p>
                      <a:pPr>
                        <a:lnSpc>
                          <a:spcPct val="100000"/>
                        </a:lnSpc>
                        <a:spcAft>
                          <a:spcPts val="200"/>
                        </a:spcAft>
                      </a:pPr>
                      <a:r>
                        <a:rPr lang="en-US" altLang="zh-CN" sz="1800" kern="1200" b="0">
                          <a:solidFill>
                            <a:schemeClr val="tx1"/>
                          </a:solidFill>
                          <a:effectLst/>
                          <a:latin typeface="Arial"/>
                          <a:ea typeface="微软雅黑" panose="020B0503020204020204" pitchFamily="34" charset="-122"/>
                          <a:cs typeface="+mn-cs"/>
                        </a:rPr>
                        <a:t>2. Long term: install custom stainless-steel hose racks to keep hose ends more than 6 inches off the floor</a:t>
                      </a:r>
                    </a:p>
                    <a:p>
                      <a:pPr>
                        <a:lnSpc>
                          <a:spcPct val="100000"/>
                        </a:lnSpc>
                        <a:spcAft>
                          <a:spcPts val="200"/>
                        </a:spcAft>
                      </a:pPr>
                      <a:r>
                        <a:rPr lang="zh-CN" altLang="en-US" sz="1800" kern="1200" b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1、短期方案，进行现场人员培训</a:t>
                      </a:r>
                    </a:p>
                    <a:p>
                      <a:pPr>
                        <a:lnSpc>
                          <a:spcPct val="100000"/>
                        </a:lnSpc>
                        <a:spcAft>
                          <a:spcPts val="200"/>
                        </a:spcAft>
                      </a:pPr>
                      <a:r>
                        <a:rPr lang="zh-CN" altLang="en-US" sz="1800" kern="1200" b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2、长期方案，定制不锈钢水管支架，保证离地高度大于6 inches</a:t>
                      </a:r>
                    </a:p>
                  </a:txBody>
                  <a:tcPr anchor="ctr" marL="73152" marR="73152" marT="45720" marB="4572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kern="1200" b="0">
                          <a:solidFill>
                            <a:schemeClr val="tx1"/>
                          </a:solidFill>
                          <a:effectLst/>
                          <a:latin typeface="Arial"/>
                          <a:ea typeface="微软雅黑" panose="020B0503020204020204" pitchFamily="34" charset="-122"/>
                          <a:cs typeface="+mn-cs"/>
                        </a:rPr>
                        <a:t>1. 09/30/2026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kern="1200" b="0">
                          <a:solidFill>
                            <a:schemeClr val="tx1"/>
                          </a:solidFill>
                          <a:effectLst/>
                          <a:latin typeface="Arial"/>
                          <a:ea typeface="微软雅黑" panose="020B0503020204020204" pitchFamily="34" charset="-122"/>
                          <a:cs typeface="+mn-cs"/>
                        </a:rPr>
                        <a:t>2. 11/30/2026</a:t>
                      </a:r>
                    </a:p>
                  </a:txBody>
                  <a:tcPr anchor="ctr" marL="73152" marR="73152" marT="45720" marB="45720"/>
                </a:tc>
                <a:extLst>
                  <a:ext uri="{0D108BD9-81ED-4DB2-BD59-A6C34878D82A}">
                    <a16:rowId xmlns:a16="http://schemas.microsoft.com/office/drawing/2014/main" val="30846854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048725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498</TotalTime>
  <Words>778</Words>
  <Application>Microsoft Office PowerPoint</Application>
  <PresentationFormat>宽屏</PresentationFormat>
  <Paragraphs>57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2" baseType="lpstr">
      <vt:lpstr>Helvetica Light</vt:lpstr>
      <vt:lpstr>等线</vt:lpstr>
      <vt:lpstr>等线 Light</vt:lpstr>
      <vt:lpstr>微软雅黑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Yi Chen16528</dc:creator>
  <cp:lastModifiedBy>Chunpeng Hu16117</cp:lastModifiedBy>
  <cp:revision>51</cp:revision>
  <dcterms:created xsi:type="dcterms:W3CDTF">2026-09-21T09:08:32Z</dcterms:created>
  <dcterms:modified xsi:type="dcterms:W3CDTF">2026-09-24T10:32:48Z</dcterms:modified>
</cp:coreProperties>
</file>