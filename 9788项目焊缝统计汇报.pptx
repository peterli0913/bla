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7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8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9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0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11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theme/theme12.xml" ContentType="application/vnd.openxmlformats-officedocument.theme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13.xml" ContentType="application/vnd.openxmlformats-officedocument.theme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  <p:sldMasterId id="2147483670" r:id="rId3"/>
    <p:sldMasterId id="2147483682" r:id="rId4"/>
    <p:sldMasterId id="2147483694" r:id="rId5"/>
    <p:sldMasterId id="2147483706" r:id="rId6"/>
    <p:sldMasterId id="2147483718" r:id="rId7"/>
    <p:sldMasterId id="2147483730" r:id="rId8"/>
    <p:sldMasterId id="2147483741" r:id="rId9"/>
    <p:sldMasterId id="2147483752" r:id="rId10"/>
    <p:sldMasterId id="2147483764" r:id="rId11"/>
    <p:sldMasterId id="2147483776" r:id="rId12"/>
    <p:sldMasterId id="2147483788" r:id="rId13"/>
    <p:sldMasterId id="2147483814" r:id="rId14"/>
  </p:sldMasterIdLst>
  <p:notesMasterIdLst>
    <p:notesMasterId r:id="rId21"/>
  </p:notesMasterIdLst>
  <p:sldIdLst>
    <p:sldId id="554" r:id="rId15"/>
    <p:sldId id="873" r:id="rId16"/>
    <p:sldId id="874" r:id="rId17"/>
    <p:sldId id="875" r:id="rId18"/>
    <p:sldId id="876" r:id="rId19"/>
    <p:sldId id="555" r:id="rId20"/>
  </p:sldIdLst>
  <p:sldSz cx="24384000" cy="13716000"/>
  <p:notesSz cx="6858000" cy="9144000"/>
  <p:defaultTextStyle>
    <a:defPPr>
      <a:defRPr lang="en-US"/>
    </a:defPPr>
    <a:lvl1pPr marL="0" lvl="0" indent="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0" lvl="1" indent="2286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0" lvl="2" indent="4572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0" lvl="3" indent="6858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0" lvl="4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lvl="5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6pPr>
    <a:lvl7pPr marL="2743200" lvl="6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7pPr>
    <a:lvl8pPr marL="3200400" lvl="7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8pPr>
    <a:lvl9pPr marL="3657600" lvl="8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Yonggang Shi" initials="YS" lastIdx="1" clrIdx="0"/>
  <p:cmAuthor id="4" name="Qichen Liu" initials="QL" lastIdx="3" clrIdx="1"/>
  <p:cmAuthor id="5" name="Kai Liu9244" initials="KL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EAEFF7"/>
    <a:srgbClr val="D2DEEF"/>
    <a:srgbClr val="EAF0F7"/>
    <a:srgbClr val="3A6DB4"/>
    <a:srgbClr val="00356A"/>
    <a:srgbClr val="3F6E9A"/>
    <a:srgbClr val="CDDCEA"/>
    <a:srgbClr val="6897C1"/>
    <a:srgbClr val="2D4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55" autoAdjust="0"/>
    <p:restoredTop sz="94012" autoAdjust="0"/>
  </p:normalViewPr>
  <p:slideViewPr>
    <p:cSldViewPr snapToGrid="0" snapToObjects="1" showGuides="1">
      <p:cViewPr varScale="1">
        <p:scale>
          <a:sx n="40" d="100"/>
          <a:sy n="40" d="100"/>
        </p:scale>
        <p:origin x="92" y="56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5" Type="http://schemas.openxmlformats.org/officeDocument/2006/relationships/image" Target="../media/image14.emf"/><Relationship Id="rId4" Type="http://schemas.openxmlformats.org/officeDocument/2006/relationships/image" Target="../media/image1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6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67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33919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60914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54652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98810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015412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90752139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47033702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51499526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3" name="Линия">
            <a:extLst>
              <a:ext uri="{FF2B5EF4-FFF2-40B4-BE49-F238E27FC236}">
                <a16:creationId xmlns:a16="http://schemas.microsoft.com/office/drawing/2014/main" id="{549862F7-E668-78F8-8665-2291CCA64764}"/>
              </a:ext>
            </a:extLst>
          </p:cNvPr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41089801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83006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8086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3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33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1.xml"/><Relationship Id="rId9" Type="http://schemas.openxmlformats.org/officeDocument/2006/relationships/slideLayout" Target="../slideLayouts/slideLayout136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44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39.xml"/><Relationship Id="rId1" Type="http://schemas.openxmlformats.org/officeDocument/2006/relationships/slideLayout" Target="../slideLayouts/slideLayout138.xml"/><Relationship Id="rId6" Type="http://schemas.openxmlformats.org/officeDocument/2006/relationships/slideLayout" Target="../slideLayouts/slideLayout143.xml"/><Relationship Id="rId11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2.xml"/><Relationship Id="rId10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1.xml"/><Relationship Id="rId9" Type="http://schemas.openxmlformats.org/officeDocument/2006/relationships/slideLayout" Target="../slideLayouts/slideLayout1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36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31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4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8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621949" y="4625230"/>
            <a:ext cx="18652994" cy="1554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lvl="0" algn="ctr" hangingPunct="0"/>
            <a:r>
              <a:rPr lang="en-US" altLang="zh-CN" sz="9600" b="1" dirty="0" smtClean="0">
                <a:solidFill>
                  <a:srgbClr val="386DB4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9788</a:t>
            </a:r>
            <a:r>
              <a:rPr lang="zh-CN" altLang="en-US" sz="9600" b="1" dirty="0" smtClean="0">
                <a:solidFill>
                  <a:srgbClr val="386DB4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项目焊缝统计汇报</a:t>
            </a:r>
            <a:endParaRPr lang="zh-CN" altLang="en-US" sz="9600" b="1" dirty="0">
              <a:solidFill>
                <a:srgbClr val="386DB4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Arial" panose="020B0604020202020204" pitchFamily="34" charset="0"/>
              <a:sym typeface="Impact" panose="020B0806030902050204" pitchFamily="34" charset="0"/>
            </a:endParaRPr>
          </a:p>
        </p:txBody>
      </p:sp>
      <p:sp>
        <p:nvSpPr>
          <p:cNvPr id="7" name="Rectangle 111"/>
          <p:cNvSpPr txBox="1"/>
          <p:nvPr/>
        </p:nvSpPr>
        <p:spPr>
          <a:xfrm>
            <a:off x="1227668" y="12408243"/>
            <a:ext cx="12036572" cy="820609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lvl="0" algn="ctr" eaLnBrk="0" hangingPunct="0">
              <a:lnSpc>
                <a:spcPct val="150000"/>
              </a:lnSpc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sym typeface="Arial" panose="020B0604020202020204"/>
              </a:rPr>
              <a:t>www.asymchem.com     </a:t>
            </a:r>
            <a:r>
              <a:rPr lang="en-US" altLang="zh-CN" sz="3600" dirty="0">
                <a:solidFill>
                  <a:prstClr val="white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Stock Code: 002821.SZ / 6821.HK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7668" y="762446"/>
            <a:ext cx="10360072" cy="1798765"/>
          </a:xfrm>
          <a:prstGeom prst="rect">
            <a:avLst/>
          </a:prstGeom>
        </p:spPr>
      </p:pic>
      <p:sp>
        <p:nvSpPr>
          <p:cNvPr id="8" name="Rectangle 111"/>
          <p:cNvSpPr txBox="1"/>
          <p:nvPr/>
        </p:nvSpPr>
        <p:spPr>
          <a:xfrm>
            <a:off x="18037608" y="12518380"/>
            <a:ext cx="5680220" cy="664797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Arial" panose="020B0604020202020204"/>
              </a:rPr>
              <a:t>Conﬁdential |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C662F-4423-8DFF-971B-E8B570989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5B17F8C1-CFD8-1314-B9D2-44E259DAA423}"/>
              </a:ext>
            </a:extLst>
          </p:cNvPr>
          <p:cNvSpPr txBox="1"/>
          <p:nvPr/>
        </p:nvSpPr>
        <p:spPr>
          <a:xfrm>
            <a:off x="8588077" y="294769"/>
            <a:ext cx="15074411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dirty="0" smtClean="0">
                <a:solidFill>
                  <a:srgbClr val="3660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Arial" panose="020B0604020202020204"/>
              </a:rPr>
              <a:t>整体执行计划</a:t>
            </a:r>
            <a:endParaRPr lang="en-US" altLang="zh-CN" sz="4400" b="1" dirty="0">
              <a:solidFill>
                <a:srgbClr val="36609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220275"/>
              </p:ext>
            </p:extLst>
          </p:nvPr>
        </p:nvGraphicFramePr>
        <p:xfrm>
          <a:off x="1668380" y="1941091"/>
          <a:ext cx="21175578" cy="10826763"/>
        </p:xfrm>
        <a:graphic>
          <a:graphicData uri="http://schemas.openxmlformats.org/drawingml/2006/table">
            <a:tbl>
              <a:tblPr/>
              <a:tblGrid>
                <a:gridCol w="1423787">
                  <a:extLst>
                    <a:ext uri="{9D8B030D-6E8A-4147-A177-3AD203B41FA5}">
                      <a16:colId xmlns:a16="http://schemas.microsoft.com/office/drawing/2014/main" val="301660947"/>
                    </a:ext>
                  </a:extLst>
                </a:gridCol>
                <a:gridCol w="3287651">
                  <a:extLst>
                    <a:ext uri="{9D8B030D-6E8A-4147-A177-3AD203B41FA5}">
                      <a16:colId xmlns:a16="http://schemas.microsoft.com/office/drawing/2014/main" val="1670246615"/>
                    </a:ext>
                  </a:extLst>
                </a:gridCol>
                <a:gridCol w="4763210">
                  <a:extLst>
                    <a:ext uri="{9D8B030D-6E8A-4147-A177-3AD203B41FA5}">
                      <a16:colId xmlns:a16="http://schemas.microsoft.com/office/drawing/2014/main" val="4117994617"/>
                    </a:ext>
                  </a:extLst>
                </a:gridCol>
                <a:gridCol w="4763210">
                  <a:extLst>
                    <a:ext uri="{9D8B030D-6E8A-4147-A177-3AD203B41FA5}">
                      <a16:colId xmlns:a16="http://schemas.microsoft.com/office/drawing/2014/main" val="959778149"/>
                    </a:ext>
                  </a:extLst>
                </a:gridCol>
                <a:gridCol w="3468860">
                  <a:extLst>
                    <a:ext uri="{9D8B030D-6E8A-4147-A177-3AD203B41FA5}">
                      <a16:colId xmlns:a16="http://schemas.microsoft.com/office/drawing/2014/main" val="3588922444"/>
                    </a:ext>
                  </a:extLst>
                </a:gridCol>
                <a:gridCol w="3468860">
                  <a:extLst>
                    <a:ext uri="{9D8B030D-6E8A-4147-A177-3AD203B41FA5}">
                      <a16:colId xmlns:a16="http://schemas.microsoft.com/office/drawing/2014/main" val="1151153160"/>
                    </a:ext>
                  </a:extLst>
                </a:gridCol>
              </a:tblGrid>
              <a:tr h="76992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步骤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设备编号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材质、规格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管路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目前进展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计划完成时间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472223"/>
                  </a:ext>
                </a:extLst>
              </a:tr>
              <a:tr h="358413"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step1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TJ4S-1213-AT08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搪瓷搅拌罐、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甲苯管线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703146"/>
                  </a:ext>
                </a:extLst>
              </a:tr>
              <a:tr h="3517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TJ4S-1213-R23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搪瓷反应釜、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DMF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531561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TJ4S-1213-Sy12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哈氏合金多肽固相合成仪、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脱保护溶液管线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573618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甲苯管线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058495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1213-AT08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内衬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PTFE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材质、不涉及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72741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MTBE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830667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DMF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588032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IPAC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5424518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1213-R23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反应釜管线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616831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激活罐转移合成仪管线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437207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非专用溶剂泵管线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945170"/>
                  </a:ext>
                </a:extLst>
              </a:tr>
              <a:tr h="2854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938148"/>
                  </a:ext>
                </a:extLst>
              </a:tr>
              <a:tr h="318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TJ4S-1213-Sy12-R01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316L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激活釜、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MTBE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74938"/>
                  </a:ext>
                </a:extLst>
              </a:tr>
              <a:tr h="318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DMF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995173"/>
                  </a:ext>
                </a:extLst>
              </a:tr>
              <a:tr h="318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IPAC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042683"/>
                  </a:ext>
                </a:extLst>
              </a:tr>
              <a:tr h="318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循环清洗管路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822124"/>
                  </a:ext>
                </a:extLst>
              </a:tr>
              <a:tr h="318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253165"/>
                  </a:ext>
                </a:extLst>
              </a:tr>
              <a:tr h="384962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step2</a:t>
                      </a:r>
                    </a:p>
                  </a:txBody>
                  <a:tcPr marL="5962" marR="5962" marT="596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TJ4S-1213-R10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搪瓷反应釜、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管路为搪瓷、内衬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PTFE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458019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TJ4S-1213-R09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搪瓷反应釜、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TJ4S-1213-R10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转移管线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内衬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PTFE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材质、不涉及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42606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TJ4S-1200-F04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哈氏合金压滤罐、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DN900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TJ4S-1213-R09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转移管线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内衬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PTFE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材质、不涉及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382160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8521370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TJ4S-1213-AT06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白钢搅拌罐、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MTBE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68782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自循环管线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506419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020243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TJ4S-1213-R15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哈氏合金反应釜、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8000L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TJ4S-1213-AT06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转移管线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87169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TJ4S-1200-F04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转移管线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内衬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PTFE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材质、不涉及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216246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3532499"/>
                  </a:ext>
                </a:extLst>
              </a:tr>
              <a:tr h="3849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TJ4S-1212-FD06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哈氏合金三合一、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DN1600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TJ4S-1213-R15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转移管线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N/A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589340"/>
                  </a:ext>
                </a:extLst>
              </a:tr>
              <a:tr h="4115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marL="5962" marR="5962" marT="5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428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1725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5020-91A9-8370-ECF8-B13CDD63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7251490-9354-4198-50DA-E50EBCF6764E}"/>
              </a:ext>
            </a:extLst>
          </p:cNvPr>
          <p:cNvSpPr txBox="1"/>
          <p:nvPr/>
        </p:nvSpPr>
        <p:spPr>
          <a:xfrm>
            <a:off x="8806782" y="294769"/>
            <a:ext cx="15074411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dirty="0" smtClean="0">
                <a:solidFill>
                  <a:srgbClr val="3660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Arial" panose="020B0604020202020204"/>
              </a:rPr>
              <a:t>焊缝照片统计</a:t>
            </a:r>
            <a:endParaRPr lang="en-US" altLang="zh-CN" sz="4400" b="1" dirty="0">
              <a:solidFill>
                <a:srgbClr val="36609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73151"/>
              </p:ext>
            </p:extLst>
          </p:nvPr>
        </p:nvGraphicFramePr>
        <p:xfrm>
          <a:off x="751262" y="1870242"/>
          <a:ext cx="23251753" cy="10443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工作表" r:id="rId3" imgW="14535337" imgH="4807021" progId="Excel.Sheet.12">
                  <p:embed/>
                </p:oleObj>
              </mc:Choice>
              <mc:Fallback>
                <p:oleObj name="工作表" r:id="rId3" imgW="14535337" imgH="480702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1262" y="1870242"/>
                        <a:ext cx="23251753" cy="104434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63784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5020-91A9-8370-ECF8-B13CDD63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7251490-9354-4198-50DA-E50EBCF6764E}"/>
              </a:ext>
            </a:extLst>
          </p:cNvPr>
          <p:cNvSpPr txBox="1"/>
          <p:nvPr/>
        </p:nvSpPr>
        <p:spPr>
          <a:xfrm>
            <a:off x="8806782" y="294769"/>
            <a:ext cx="15074411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dirty="0" smtClean="0">
                <a:solidFill>
                  <a:srgbClr val="3660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Arial" panose="020B0604020202020204"/>
              </a:rPr>
              <a:t>焊缝照片统计</a:t>
            </a:r>
            <a:endParaRPr lang="en-US" altLang="zh-CN" sz="4400" b="1" dirty="0">
              <a:solidFill>
                <a:srgbClr val="36609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205726"/>
              </p:ext>
            </p:extLst>
          </p:nvPr>
        </p:nvGraphicFramePr>
        <p:xfrm>
          <a:off x="1299315" y="2277979"/>
          <a:ext cx="21400264" cy="975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工作表" r:id="rId3" imgW="14535337" imgH="3778321" progId="Excel.Sheet.12">
                  <p:embed/>
                </p:oleObj>
              </mc:Choice>
              <mc:Fallback>
                <p:oleObj name="工作表" r:id="rId3" imgW="14535337" imgH="377832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9315" y="2277979"/>
                        <a:ext cx="21400264" cy="975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02661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5020-91A9-8370-ECF8-B13CDD63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7251490-9354-4198-50DA-E50EBCF6764E}"/>
              </a:ext>
            </a:extLst>
          </p:cNvPr>
          <p:cNvSpPr txBox="1"/>
          <p:nvPr/>
        </p:nvSpPr>
        <p:spPr>
          <a:xfrm>
            <a:off x="8806782" y="294769"/>
            <a:ext cx="15074411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dirty="0" smtClean="0">
                <a:solidFill>
                  <a:srgbClr val="3660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Arial" panose="020B0604020202020204"/>
              </a:rPr>
              <a:t>焊缝照片统计</a:t>
            </a:r>
            <a:endParaRPr lang="en-US" altLang="zh-CN" sz="4400" b="1" dirty="0">
              <a:solidFill>
                <a:srgbClr val="36609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153776"/>
              </p:ext>
            </p:extLst>
          </p:nvPr>
        </p:nvGraphicFramePr>
        <p:xfrm>
          <a:off x="1607643" y="1972613"/>
          <a:ext cx="21011726" cy="10347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工作表" r:id="rId3" imgW="14535337" imgH="5562600" progId="Excel.Sheet.12">
                  <p:embed/>
                </p:oleObj>
              </mc:Choice>
              <mc:Fallback>
                <p:oleObj name="工作表" r:id="rId3" imgW="14535337" imgH="5562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7643" y="1972613"/>
                        <a:ext cx="21011726" cy="10347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56551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981698" y="4845097"/>
            <a:ext cx="11151914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dist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THANK</a:t>
            </a:r>
            <a:r>
              <a:rPr kumimoji="0" lang="zh-CN" alt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 </a:t>
            </a: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YOU</a:t>
            </a:r>
            <a:r>
              <a:rPr kumimoji="0" lang="zh-CN" alt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！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703020204020201" pitchFamily="34" charset="-122"/>
              <a:ea typeface="微软雅黑" panose="020B0703020204020201" pitchFamily="34" charset="-122"/>
              <a:cs typeface="Arial" panose="020B0604020202020204" pitchFamily="34" charset="0"/>
              <a:sym typeface="Impact" panose="020B0806030902050204" pitchFamily="34" charset="0"/>
            </a:endParaRPr>
          </a:p>
        </p:txBody>
      </p:sp>
      <p:pic>
        <p:nvPicPr>
          <p:cNvPr id="6148" name="图片 1" descr="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75625" y="2317750"/>
            <a:ext cx="7534275" cy="150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2293754" y="6858000"/>
            <a:ext cx="6917387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 err="1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Impact" panose="020B0806030902050204" pitchFamily="34" charset="0"/>
              </a:rPr>
              <a:t>Asymchem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Impact" panose="020B0806030902050204" pitchFamily="34" charset="0"/>
              </a:rPr>
              <a:t> 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Impact" panose="020B0806030902050204" pitchFamily="34" charset="0"/>
              </a:rPr>
              <a:t>Labs.</a:t>
            </a:r>
          </a:p>
        </p:txBody>
      </p:sp>
      <p:sp>
        <p:nvSpPr>
          <p:cNvPr id="10" name="Rectangle 111"/>
          <p:cNvSpPr txBox="1"/>
          <p:nvPr/>
        </p:nvSpPr>
        <p:spPr>
          <a:xfrm>
            <a:off x="1097040" y="12402700"/>
            <a:ext cx="12036572" cy="820609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lvl="0" algn="ctr" eaLnBrk="0" hangingPunct="0">
              <a:lnSpc>
                <a:spcPct val="150000"/>
              </a:lnSpc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sym typeface="Arial" panose="020B0604020202020204"/>
              </a:rPr>
              <a:t>www.asymchem.com     </a:t>
            </a:r>
            <a:r>
              <a:rPr lang="en-US" altLang="zh-CN" sz="3600" dirty="0">
                <a:solidFill>
                  <a:prstClr val="white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Stock Code: 002821.SZ / 6821.HK</a:t>
            </a:r>
          </a:p>
        </p:txBody>
      </p:sp>
      <p:sp>
        <p:nvSpPr>
          <p:cNvPr id="11" name="Rectangle 111"/>
          <p:cNvSpPr txBox="1"/>
          <p:nvPr/>
        </p:nvSpPr>
        <p:spPr>
          <a:xfrm>
            <a:off x="18037608" y="12518380"/>
            <a:ext cx="5680220" cy="664797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Arial" panose="020B0604020202020204"/>
              </a:rPr>
              <a:t>Conﬁdential |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Arial" panose="020B0604020202020204"/>
              </a:rPr>
              <a:t>保密文件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3934" y="1591206"/>
            <a:ext cx="10360072" cy="1798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11649</TotalTime>
  <Words>347</Words>
  <Application>Microsoft Office PowerPoint</Application>
  <PresentationFormat>自定义</PresentationFormat>
  <Paragraphs>126</Paragraphs>
  <Slides>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8" baseType="lpstr">
      <vt:lpstr>Helvetica Light</vt:lpstr>
      <vt:lpstr>Helvetica Neue</vt:lpstr>
      <vt:lpstr>Open Sans</vt:lpstr>
      <vt:lpstr>宋体</vt:lpstr>
      <vt:lpstr>微软雅黑</vt:lpstr>
      <vt:lpstr>Arial</vt:lpstr>
      <vt:lpstr>Impact</vt:lpstr>
      <vt:lpstr>webwppDefTheme</vt:lpstr>
      <vt:lpstr>1_webwppDefTheme</vt:lpstr>
      <vt:lpstr>2_webwppDefTheme</vt:lpstr>
      <vt:lpstr>3_webwppDefTheme</vt:lpstr>
      <vt:lpstr>4_webwppDefTheme</vt:lpstr>
      <vt:lpstr>5_webwppDefTheme</vt:lpstr>
      <vt:lpstr>6_webwppDefTheme</vt:lpstr>
      <vt:lpstr>10_webwppDefTheme</vt:lpstr>
      <vt:lpstr>11_webwppDefTheme</vt:lpstr>
      <vt:lpstr>7_webwppDefTheme</vt:lpstr>
      <vt:lpstr>8_webwppDefTheme</vt:lpstr>
      <vt:lpstr>9_webwppDefTheme</vt:lpstr>
      <vt:lpstr>12_webwppDefTheme</vt:lpstr>
      <vt:lpstr>13_webwppDefTheme</vt:lpstr>
      <vt:lpstr>Microsoft Excel 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Zechen Wei14669</dc:creator>
  <cp:lastModifiedBy>Haixin Dai</cp:lastModifiedBy>
  <cp:revision>332</cp:revision>
  <dcterms:created xsi:type="dcterms:W3CDTF">2025-10-27T09:32:28Z</dcterms:created>
  <dcterms:modified xsi:type="dcterms:W3CDTF">2026-10-06T09:45:01Z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/>
  </property>
</Properties>
</file>