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ngchao Wang" initials="YW" lastIdx="1" clrIdx="0"/>
  <p:cmAuthor id="2" name="Zhiheng Wang" initials="ZW" lastIdx="1" clrIdx="1">
    <p:extLst>
      <p:ext uri="{19B8F6BF-5375-455C-9EA6-DF929625EA0E}">
        <p15:presenceInfo xmlns:p15="http://schemas.microsoft.com/office/powerpoint/2012/main" userId="Zhiheng W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AEFF7"/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commentAuthors" Target="commentAuthor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9-24T17:33:17.354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19B2B-C672-4819-9876-120A6C66DB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2B69B-828D-475B-96B5-C6450DB3821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g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1" t="2116" r="4860" b="1865"/>
          <a:stretch/>
        </p:blipFill>
        <p:spPr>
          <a:xfrm>
            <a:off x="5641848" y="960120"/>
            <a:ext cx="5715000" cy="4954924"/>
          </a:xfrm>
          <a:prstGeom prst="rect">
            <a:avLst/>
          </a:prstGeom>
        </p:spPr>
      </p:pic>
      <p:sp>
        <p:nvSpPr>
          <p:cNvPr id="96" name="文本框 95"/>
          <p:cNvSpPr txBox="1"/>
          <p:nvPr/>
        </p:nvSpPr>
        <p:spPr>
          <a:xfrm>
            <a:off x="502920" y="960120"/>
            <a:ext cx="5074920" cy="414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/>
            <a:r>
              <a:rPr lang="en-US" altLang="zh-CN" b="1" sz="1800">
                <a:latin typeface="Arial"/>
              </a:rPr>
              <a:t>Humidified Nitrogen – Operating Strategy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5504688" y="2093793"/>
            <a:ext cx="463922" cy="301935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5504688" y="3154680"/>
            <a:ext cx="423245" cy="427884"/>
          </a:xfrm>
          <a:prstGeom prst="straightConnector1">
            <a:avLst/>
          </a:prstGeom>
          <a:ln w="50800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502920" y="1371600"/>
            <a:ext cx="5074920" cy="4937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1450" b="1">
                <a:latin typeface="Arial"/>
              </a:rPr>
              <a:t>Overall strategy for the humidified nitrogen system: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1450" b="1">
                <a:latin typeface="Arial"/>
              </a:rPr>
              <a:t>I. First Use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zh-CN" sz="1400" b="0">
                <a:latin typeface="Arial"/>
              </a:rPr>
              <a:t>1. Alkaline cleaning: Recirculate alkaline solution and then purified water through the unit; finally, purge the unit with nitrogen and drain at the low points.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zh-CN" sz="1400" b="0">
                <a:latin typeface="Arial"/>
              </a:rPr>
              <a:t>2. WFI rinse: Using a sterile bag and an aseptic connector, recirculate and spray-rinse the unit with WFI, then drain at the low points.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zh-CN" sz="1400" b="0">
                <a:latin typeface="Arial"/>
              </a:rPr>
              <a:t>3. WFI charge: Charge WFI again through a sterile bag for use.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1450" b="1">
                <a:latin typeface="Arial"/>
              </a:rPr>
              <a:t>II. Periodic WFI Replacement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zh-CN" sz="1400" b="0">
                <a:latin typeface="Arial"/>
              </a:rPr>
              <a:t>1. Drain at the low points.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zh-CN" sz="1400" b="0">
                <a:latin typeface="Arial"/>
              </a:rPr>
              <a:t>2. Add fresh WFI, recirculate to rinse, then drain at the low points.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zh-CN" sz="1400" b="0">
                <a:latin typeface="Arial"/>
              </a:rPr>
              <a:t>3. Recharge WFI for use.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altLang="zh-CN" sz="1450" b="1">
                <a:latin typeface="Arial"/>
              </a:rPr>
              <a:t>III. Alternate Use of Two Humidifiers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zh-CN" sz="1400" b="0">
                <a:latin typeface="Arial"/>
              </a:rPr>
              <a:t>Within the WFI replacement interval, the two units are periodically cleaned by recirculation per Section II and used alternately.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92" r="1393" b="13231"/>
          <a:stretch/>
        </p:blipFill>
        <p:spPr>
          <a:xfrm>
            <a:off x="2967487" y="1333167"/>
            <a:ext cx="8804948" cy="5091634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H="1" flipV="1">
            <a:off x="2700069" y="1495321"/>
            <a:ext cx="2410946" cy="1127110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514384" y="1037280"/>
            <a:ext cx="2157984" cy="97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>
                <a:latin typeface="Arial"/>
                <a:sym typeface="+mn-ea"/>
              </a:rPr>
              <a:t>1. Material line into the clean area: fitted with a cleaning/purge port, allowing cleaning and purging in both directions.</a:t>
            </a:r>
          </a:p>
        </p:txBody>
      </p:sp>
      <p:cxnSp>
        <p:nvCxnSpPr>
          <p:cNvPr id="5" name="直接箭头连接符 4"/>
          <p:cNvCxnSpPr>
            <a:endCxn id="15" idx="3"/>
          </p:cNvCxnSpPr>
          <p:nvPr/>
        </p:nvCxnSpPr>
        <p:spPr>
          <a:xfrm flipH="1" flipV="1">
            <a:off x="2798767" y="3302940"/>
            <a:ext cx="3334971" cy="58516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14384" y="3015657"/>
            <a:ext cx="2240280" cy="574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>
                <a:latin typeface="Arial"/>
              </a:rPr>
              <a:t>2. Filter strategy: filters are cleaned off-line.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14384" y="4389273"/>
            <a:ext cx="208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>
                <a:latin typeface="Arial"/>
              </a:rPr>
              <a:t>3. WFI pre-flush drain line.</a:t>
            </a:r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2618072" y="3829151"/>
            <a:ext cx="4852177" cy="744788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017520" y="868680"/>
            <a:ext cx="8778240" cy="4368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b="1" sz="2000">
                <a:latin typeface="Arial"/>
              </a:rPr>
              <a:t>Low-Point Drain and High-Point Purge Locations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5188017" y="2622431"/>
            <a:ext cx="481263" cy="329820"/>
          </a:xfrm>
          <a:prstGeom prst="round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6147361" y="2977157"/>
            <a:ext cx="551822" cy="439811"/>
          </a:xfrm>
          <a:prstGeom prst="round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肘形连接符 19"/>
          <p:cNvCxnSpPr/>
          <p:nvPr/>
        </p:nvCxnSpPr>
        <p:spPr>
          <a:xfrm rot="5400000">
            <a:off x="6704416" y="4202480"/>
            <a:ext cx="2703860" cy="904776"/>
          </a:xfrm>
          <a:prstGeom prst="bentConnector3">
            <a:avLst>
              <a:gd name="adj1" fmla="val 7282"/>
            </a:avLst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9230628" y="5611528"/>
            <a:ext cx="19250" cy="471638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9837019" y="5696551"/>
            <a:ext cx="8022" cy="38661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 flipV="1">
            <a:off x="2700071" y="5763511"/>
            <a:ext cx="6463180" cy="83836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14384" y="5557656"/>
            <a:ext cx="215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>
                <a:latin typeface="Arial"/>
              </a:rPr>
              <a:t>4. Equipment low-point drain line.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372" y="1541026"/>
            <a:ext cx="6025910" cy="4820728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 flipH="1" flipV="1">
            <a:off x="3513221" y="1713297"/>
            <a:ext cx="5034016" cy="345582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31520" y="1325880"/>
            <a:ext cx="2743200" cy="6936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>
                <a:latin typeface="Arial"/>
                <a:sym typeface="+mn-ea"/>
              </a:rPr>
              <a:t>1. Humidified N₂ line to the AFD: fitted with a cleaning/purge port, allowing cleaning and purging in both directions.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8653112" y="2058876"/>
            <a:ext cx="798897" cy="328189"/>
          </a:xfrm>
          <a:prstGeom prst="round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017520" y="822960"/>
            <a:ext cx="8778240" cy="4368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b="1" sz="2000">
                <a:latin typeface="Arial"/>
              </a:rPr>
              <a:t>Low-Point Drain and High-Point Purge Locations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68096" y="2560320"/>
            <a:ext cx="2697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>
                <a:latin typeface="Arial"/>
              </a:rPr>
              <a:t>2. Low-point drain of the humidified N₂ line to the AFD.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3529584" y="2834639"/>
            <a:ext cx="2938596" cy="2430383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/>
          <p:nvPr/>
        </p:nvCxnSpPr>
        <p:spPr>
          <a:xfrm rot="5400000">
            <a:off x="7359406" y="4134944"/>
            <a:ext cx="3655817" cy="529390"/>
          </a:xfrm>
          <a:prstGeom prst="bentConnector3">
            <a:avLst>
              <a:gd name="adj1" fmla="val 765"/>
            </a:avLst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6583680" y="5111015"/>
            <a:ext cx="9626" cy="1029903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94944" y="3566160"/>
            <a:ext cx="4343400" cy="1491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altLang="zh-CN" sz="1700" b="1">
                <a:latin typeface="Arial"/>
              </a:rPr>
              <a:t>For Lilly's confirmation: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altLang="zh-CN" sz="1500" b="1">
                <a:latin typeface="Arial"/>
              </a:rPr>
              <a:t>Should the valves at the drain and purge points be installed to a 2D or a 3D dead-leg requirement?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altLang="zh-CN" sz="1500" b="1">
                <a:latin typeface="Arial"/>
              </a:rPr>
              <a:t>1. 2D — longer valve procurement lead time;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altLang="zh-CN" sz="1500" b="1">
                <a:latin typeface="Arial"/>
              </a:rPr>
              <a:t>2. 3D — shorter valve procurement lead time; domestic equipment suppliers have confirmed that a 3D design can be cleaned effectively.</a:t>
            </a:r>
          </a:p>
        </p:txBody>
      </p:sp>
      <p:cxnSp>
        <p:nvCxnSpPr>
          <p:cNvPr id="29" name="直接箭头连接符 28"/>
          <p:cNvCxnSpPr/>
          <p:nvPr/>
        </p:nvCxnSpPr>
        <p:spPr>
          <a:xfrm flipH="1" flipV="1">
            <a:off x="3529584" y="2743200"/>
            <a:ext cx="5296784" cy="96255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313</Words>
  <Application>Microsoft Office PowerPoint</Application>
  <PresentationFormat>宽屏</PresentationFormat>
  <Paragraphs>24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Xiangyang Peng</dc:creator>
  <cp:lastModifiedBy>Yongchao Wang</cp:lastModifiedBy>
  <cp:revision>16</cp:revision>
  <dcterms:created xsi:type="dcterms:W3CDTF">2026-09-24T07:07:32Z</dcterms:created>
  <dcterms:modified xsi:type="dcterms:W3CDTF">2026-09-24T10:20:28Z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