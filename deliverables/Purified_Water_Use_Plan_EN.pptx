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7" r:id="rId3"/>
    <p:sldId id="266" r:id="rId4"/>
    <p:sldId id="264" r:id="rId5"/>
    <p:sldId id="260" r:id="rId6"/>
    <p:sldId id="262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4A6"/>
    <a:srgbClr val="B51B40"/>
    <a:srgbClr val="FF7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1E7D6-EC98-45BA-AFBC-2646A1C90A09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823BC-C1D6-4B34-9F47-12DE94B018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9194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1E7D6-EC98-45BA-AFBC-2646A1C90A09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823BC-C1D6-4B34-9F47-12DE94B018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1845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1E7D6-EC98-45BA-AFBC-2646A1C90A09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823BC-C1D6-4B34-9F47-12DE94B018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7867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1E7D6-EC98-45BA-AFBC-2646A1C90A09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823BC-C1D6-4B34-9F47-12DE94B018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0167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1E7D6-EC98-45BA-AFBC-2646A1C90A09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823BC-C1D6-4B34-9F47-12DE94B018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0741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1E7D6-EC98-45BA-AFBC-2646A1C90A09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823BC-C1D6-4B34-9F47-12DE94B018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197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1E7D6-EC98-45BA-AFBC-2646A1C90A09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823BC-C1D6-4B34-9F47-12DE94B018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8823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1E7D6-EC98-45BA-AFBC-2646A1C90A09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823BC-C1D6-4B34-9F47-12DE94B018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1041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1E7D6-EC98-45BA-AFBC-2646A1C90A09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823BC-C1D6-4B34-9F47-12DE94B018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8196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1E7D6-EC98-45BA-AFBC-2646A1C90A09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823BC-C1D6-4B34-9F47-12DE94B018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361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1E7D6-EC98-45BA-AFBC-2646A1C90A09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823BC-C1D6-4B34-9F47-12DE94B018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63595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3493453" y="655002"/>
            <a:ext cx="8698548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6474354"/>
            <a:ext cx="12192000" cy="284693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1360945" y="6474354"/>
            <a:ext cx="831056" cy="284693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598" y="315051"/>
            <a:ext cx="2648903" cy="526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22090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B1E7D6-EC98-45BA-AFBC-2646A1C90A09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823BC-C1D6-4B34-9F47-12DE94B018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0525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937760" y="182880"/>
            <a:ext cx="7040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000">
                <a:latin typeface="Arial"/>
              </a:rPr>
              <a:t>Drain and Water-Fill Flow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82750" y="1459555"/>
            <a:ext cx="11689088" cy="4600281"/>
            <a:chOff x="99683" y="1659211"/>
            <a:chExt cx="11689088" cy="4600281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9683" y="1659211"/>
              <a:ext cx="11689088" cy="4600281"/>
            </a:xfrm>
            <a:prstGeom prst="rect">
              <a:avLst/>
            </a:prstGeom>
          </p:spPr>
        </p:pic>
        <p:sp>
          <p:nvSpPr>
            <p:cNvPr id="6" name="矩形 5"/>
            <p:cNvSpPr/>
            <p:nvPr/>
          </p:nvSpPr>
          <p:spPr>
            <a:xfrm>
              <a:off x="1216152" y="3346704"/>
              <a:ext cx="45720" cy="122529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空心弧 6"/>
            <p:cNvSpPr/>
            <p:nvPr/>
          </p:nvSpPr>
          <p:spPr>
            <a:xfrm rot="10800000">
              <a:off x="1216152" y="3730375"/>
              <a:ext cx="731520" cy="1591056"/>
            </a:xfrm>
            <a:prstGeom prst="blockArc">
              <a:avLst>
                <a:gd name="adj1" fmla="val 10532664"/>
                <a:gd name="adj2" fmla="val 21107371"/>
                <a:gd name="adj3" fmla="val 507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9" name="右箭头 8"/>
          <p:cNvSpPr/>
          <p:nvPr/>
        </p:nvSpPr>
        <p:spPr>
          <a:xfrm>
            <a:off x="5003800" y="2379133"/>
            <a:ext cx="1286934" cy="414866"/>
          </a:xfrm>
          <a:prstGeom prst="rightArrow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右箭头 9"/>
          <p:cNvSpPr/>
          <p:nvPr/>
        </p:nvSpPr>
        <p:spPr>
          <a:xfrm rot="5400000">
            <a:off x="9776093" y="3502790"/>
            <a:ext cx="665010" cy="331403"/>
          </a:xfrm>
          <a:prstGeom prst="rightArrow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v</a:t>
            </a:r>
            <a:endParaRPr lang="zh-CN" altLang="en-US" dirty="0"/>
          </a:p>
        </p:txBody>
      </p:sp>
      <p:sp>
        <p:nvSpPr>
          <p:cNvPr id="11" name="右箭头 10"/>
          <p:cNvSpPr/>
          <p:nvPr/>
        </p:nvSpPr>
        <p:spPr>
          <a:xfrm rot="5400000">
            <a:off x="9776092" y="4694514"/>
            <a:ext cx="665010" cy="331403"/>
          </a:xfrm>
          <a:prstGeom prst="rightArrow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 rot="5400000">
            <a:off x="10563493" y="4975991"/>
            <a:ext cx="665010" cy="331403"/>
          </a:xfrm>
          <a:prstGeom prst="rightArrow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424160" y="3310128"/>
            <a:ext cx="1737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zh-CN" sz="1600">
                <a:solidFill>
                  <a:schemeClr val="accent1"/>
                </a:solidFill>
                <a:latin typeface="Arial"/>
              </a:rPr>
              <a:t>① Drain path</a:t>
            </a:r>
          </a:p>
        </p:txBody>
      </p:sp>
      <p:cxnSp>
        <p:nvCxnSpPr>
          <p:cNvPr id="14" name="直接箭头连接符 13"/>
          <p:cNvCxnSpPr/>
          <p:nvPr/>
        </p:nvCxnSpPr>
        <p:spPr>
          <a:xfrm flipH="1">
            <a:off x="11030552" y="3759696"/>
            <a:ext cx="169486" cy="8195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10241280" y="2286000"/>
            <a:ext cx="192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zh-CN" sz="1600">
                <a:solidFill>
                  <a:srgbClr val="FF0000"/>
                </a:solidFill>
                <a:latin typeface="Arial"/>
              </a:rPr>
              <a:t>② Water-fill path</a:t>
            </a:r>
          </a:p>
        </p:txBody>
      </p:sp>
      <p:cxnSp>
        <p:nvCxnSpPr>
          <p:cNvPr id="17" name="直接箭头连接符 16"/>
          <p:cNvCxnSpPr/>
          <p:nvPr/>
        </p:nvCxnSpPr>
        <p:spPr>
          <a:xfrm flipH="1">
            <a:off x="10108597" y="2719961"/>
            <a:ext cx="604382" cy="2089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右箭头 19"/>
          <p:cNvSpPr/>
          <p:nvPr/>
        </p:nvSpPr>
        <p:spPr>
          <a:xfrm>
            <a:off x="10253098" y="4310754"/>
            <a:ext cx="433503" cy="188676"/>
          </a:xfrm>
          <a:prstGeom prst="rightArrow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588364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937760" y="182880"/>
            <a:ext cx="7040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000">
                <a:latin typeface="Arial"/>
              </a:rPr>
              <a:t>Sampling Flow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09749" y="1408755"/>
            <a:ext cx="11689088" cy="4600281"/>
            <a:chOff x="209749" y="1408755"/>
            <a:chExt cx="11689088" cy="4600281"/>
          </a:xfrm>
        </p:grpSpPr>
        <p:grpSp>
          <p:nvGrpSpPr>
            <p:cNvPr id="5" name="组合 4"/>
            <p:cNvGrpSpPr/>
            <p:nvPr/>
          </p:nvGrpSpPr>
          <p:grpSpPr>
            <a:xfrm>
              <a:off x="209749" y="1408755"/>
              <a:ext cx="11689088" cy="4600281"/>
              <a:chOff x="99683" y="1659211"/>
              <a:chExt cx="11689088" cy="4600281"/>
            </a:xfrm>
          </p:grpSpPr>
          <p:pic>
            <p:nvPicPr>
              <p:cNvPr id="6" name="图片 5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9683" y="1659211"/>
                <a:ext cx="11689088" cy="4600281"/>
              </a:xfrm>
              <a:prstGeom prst="rect">
                <a:avLst/>
              </a:prstGeom>
            </p:spPr>
          </p:pic>
          <p:sp>
            <p:nvSpPr>
              <p:cNvPr id="7" name="矩形 6"/>
              <p:cNvSpPr/>
              <p:nvPr/>
            </p:nvSpPr>
            <p:spPr>
              <a:xfrm>
                <a:off x="1216152" y="3346704"/>
                <a:ext cx="45720" cy="122529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空心弧 7"/>
              <p:cNvSpPr/>
              <p:nvPr/>
            </p:nvSpPr>
            <p:spPr>
              <a:xfrm rot="10800000">
                <a:off x="1216152" y="3730375"/>
                <a:ext cx="731520" cy="1591056"/>
              </a:xfrm>
              <a:prstGeom prst="blockArc">
                <a:avLst>
                  <a:gd name="adj1" fmla="val 10532664"/>
                  <a:gd name="adj2" fmla="val 21107371"/>
                  <a:gd name="adj3" fmla="val 5075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" name="右箭头 8"/>
            <p:cNvSpPr/>
            <p:nvPr/>
          </p:nvSpPr>
          <p:spPr>
            <a:xfrm>
              <a:off x="5003800" y="2379133"/>
              <a:ext cx="1286934" cy="414866"/>
            </a:xfrm>
            <a:prstGeom prst="rightArrow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右箭头 9"/>
            <p:cNvSpPr/>
            <p:nvPr/>
          </p:nvSpPr>
          <p:spPr>
            <a:xfrm rot="5400000">
              <a:off x="9920592" y="3404106"/>
              <a:ext cx="665010" cy="331403"/>
            </a:xfrm>
            <a:prstGeom prst="rightArrow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v</a:t>
              </a:r>
              <a:endParaRPr lang="zh-CN" altLang="en-US" dirty="0"/>
            </a:p>
          </p:txBody>
        </p:sp>
        <p:sp>
          <p:nvSpPr>
            <p:cNvPr id="11" name="右箭头 10"/>
            <p:cNvSpPr/>
            <p:nvPr/>
          </p:nvSpPr>
          <p:spPr>
            <a:xfrm rot="5400000">
              <a:off x="10489410" y="4738925"/>
              <a:ext cx="665010" cy="331403"/>
            </a:xfrm>
            <a:prstGeom prst="rightArrow">
              <a:avLst/>
            </a:prstGeom>
            <a:solidFill>
              <a:schemeClr val="bg1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9144000" y="1417320"/>
            <a:ext cx="256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zh-CN" sz="1800">
                <a:latin typeface="Arial"/>
              </a:rPr>
              <a:t>① Drain → ② Sample</a:t>
            </a:r>
          </a:p>
        </p:txBody>
      </p:sp>
      <p:cxnSp>
        <p:nvCxnSpPr>
          <p:cNvPr id="16" name="直接箭头连接符 15"/>
          <p:cNvCxnSpPr/>
          <p:nvPr/>
        </p:nvCxnSpPr>
        <p:spPr>
          <a:xfrm flipH="1">
            <a:off x="10735733" y="1930400"/>
            <a:ext cx="86182" cy="1971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椭圆 17"/>
          <p:cNvSpPr/>
          <p:nvPr/>
        </p:nvSpPr>
        <p:spPr>
          <a:xfrm>
            <a:off x="10244667" y="3994349"/>
            <a:ext cx="931296" cy="50991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495004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937760" y="182880"/>
            <a:ext cx="7040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000">
                <a:latin typeface="Arial"/>
              </a:rPr>
              <a:t>Sampling Flow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83" y="1470580"/>
            <a:ext cx="11689088" cy="4600281"/>
          </a:xfrm>
          <a:prstGeom prst="rect">
            <a:avLst/>
          </a:prstGeom>
        </p:spPr>
      </p:pic>
      <p:sp>
        <p:nvSpPr>
          <p:cNvPr id="3" name="上箭头 2"/>
          <p:cNvSpPr/>
          <p:nvPr/>
        </p:nvSpPr>
        <p:spPr>
          <a:xfrm>
            <a:off x="2260600" y="2861733"/>
            <a:ext cx="228600" cy="14732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右箭头 4"/>
          <p:cNvSpPr/>
          <p:nvPr/>
        </p:nvSpPr>
        <p:spPr>
          <a:xfrm>
            <a:off x="3793067" y="2472267"/>
            <a:ext cx="2023534" cy="254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 rot="5400000">
            <a:off x="9736666" y="3606800"/>
            <a:ext cx="884767" cy="2074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右箭头 6"/>
          <p:cNvSpPr/>
          <p:nvPr/>
        </p:nvSpPr>
        <p:spPr>
          <a:xfrm rot="5400000">
            <a:off x="10320866" y="4834468"/>
            <a:ext cx="884767" cy="2074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左箭头 7"/>
          <p:cNvSpPr/>
          <p:nvPr/>
        </p:nvSpPr>
        <p:spPr>
          <a:xfrm>
            <a:off x="1769533" y="2463800"/>
            <a:ext cx="491067" cy="262467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左箭头 8"/>
          <p:cNvSpPr/>
          <p:nvPr/>
        </p:nvSpPr>
        <p:spPr>
          <a:xfrm rot="16200000">
            <a:off x="1367366" y="3424765"/>
            <a:ext cx="1066801" cy="262467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108960" y="914400"/>
            <a:ext cx="594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zh-CN" sz="2000">
                <a:latin typeface="Arial"/>
              </a:rPr>
              <a:t xml:space="preserve">Purge </a:t>
            </a:r>
            <a:r>
              <a:rPr lang="en-US" altLang="zh-CN" sz="2000">
                <a:solidFill>
                  <a:srgbClr val="5B9BD5"/>
                </a:solidFill>
                <a:latin typeface="Arial"/>
              </a:rPr>
              <a:t>①</a:t>
            </a:r>
            <a:r>
              <a:rPr lang="en-US" altLang="zh-CN" sz="2000">
                <a:latin typeface="Arial"/>
              </a:rPr>
              <a:t xml:space="preserve"> first → then purge </a:t>
            </a:r>
            <a:r>
              <a:rPr lang="en-US" altLang="zh-CN" sz="2000">
                <a:solidFill>
                  <a:srgbClr val="FF0000"/>
                </a:solidFill>
                <a:latin typeface="Arial"/>
              </a:rPr>
              <a:t>②</a:t>
            </a:r>
          </a:p>
        </p:txBody>
      </p:sp>
      <p:sp>
        <p:nvSpPr>
          <p:cNvPr id="11" name="左箭头 10"/>
          <p:cNvSpPr/>
          <p:nvPr/>
        </p:nvSpPr>
        <p:spPr>
          <a:xfrm rot="16200000">
            <a:off x="1710775" y="4801871"/>
            <a:ext cx="1077975" cy="272627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左箭头 11"/>
          <p:cNvSpPr/>
          <p:nvPr/>
        </p:nvSpPr>
        <p:spPr>
          <a:xfrm rot="10800000">
            <a:off x="5989403" y="5380569"/>
            <a:ext cx="1066801" cy="262467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481203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937760" y="182880"/>
            <a:ext cx="7040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000">
                <a:latin typeface="Arial"/>
              </a:rPr>
              <a:t>Purified Water Use Procedure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94360" y="1051560"/>
            <a:ext cx="10972800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2000"/>
              </a:lnSpc>
              <a:spcBef>
                <a:spcPts val="1400"/>
              </a:spcBef>
              <a:spcAft>
                <a:spcPts val="800"/>
              </a:spcAft>
            </a:pPr>
            <a:r>
              <a:rPr lang="en-US" altLang="zh-CN" b="1" sz="2400">
                <a:latin typeface="Arial"/>
              </a:rPr>
              <a:t>1. Purified Water Use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lang="en-US" altLang="zh-CN" b="0" sz="2200">
                <a:latin typeface="Arial"/>
              </a:rPr>
              <a:t xml:space="preserve">Connect the hose from the PW outlet to the fixed line </a:t>
            </a:r>
            <a:r>
              <a:rPr lang="en-US" altLang="zh-CN" b="1" sz="2200">
                <a:latin typeface="Arial"/>
              </a:rPr>
              <a:t>→</a:t>
            </a:r>
            <a:r>
              <a:rPr lang="en-US" altLang="zh-CN" b="0" sz="2200">
                <a:latin typeface="Arial"/>
              </a:rPr>
              <a:t xml:space="preserve"> Open the water valve </a:t>
            </a:r>
            <a:r>
              <a:rPr lang="en-US" altLang="zh-CN" b="1" sz="2200">
                <a:latin typeface="Arial"/>
              </a:rPr>
              <a:t>→</a:t>
            </a:r>
            <a:r>
              <a:rPr lang="en-US" altLang="zh-CN" b="0" sz="2200">
                <a:latin typeface="Arial"/>
              </a:rPr>
              <a:t xml:space="preserve"> Flush PW to waste </a:t>
            </a:r>
            <a:r>
              <a:rPr lang="en-US" altLang="zh-CN" b="1" sz="2200">
                <a:latin typeface="Arial"/>
              </a:rPr>
              <a:t>→</a:t>
            </a:r>
            <a:r>
              <a:rPr lang="en-US" altLang="zh-CN" b="0" sz="2200">
                <a:latin typeface="Arial"/>
              </a:rPr>
              <a:t xml:space="preserve"> After flushing, supply water to the point of use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lang="en-US" altLang="zh-CN" b="0" sz="2200">
                <a:latin typeface="Arial"/>
              </a:rPr>
              <a:t xml:space="preserve">Open the nitrogen purge valve </a:t>
            </a:r>
            <a:r>
              <a:rPr lang="en-US" altLang="zh-CN" b="1" sz="2200">
                <a:latin typeface="Arial"/>
              </a:rPr>
              <a:t>→</a:t>
            </a:r>
            <a:r>
              <a:rPr lang="en-US" altLang="zh-CN" b="0" sz="2200">
                <a:latin typeface="Arial"/>
              </a:rPr>
              <a:t xml:space="preserve"> Purge toward the equipment side </a:t>
            </a:r>
            <a:r>
              <a:rPr lang="en-US" altLang="zh-CN" b="1" sz="2200">
                <a:latin typeface="Arial"/>
              </a:rPr>
              <a:t>→</a:t>
            </a:r>
            <a:r>
              <a:rPr lang="en-US" altLang="zh-CN" b="0" sz="2200">
                <a:latin typeface="Arial"/>
              </a:rPr>
              <a:t xml:space="preserve"> Then purge back toward the PW outlet </a:t>
            </a:r>
            <a:r>
              <a:rPr lang="en-US" altLang="zh-CN" b="1" sz="2200">
                <a:latin typeface="Arial"/>
              </a:rPr>
              <a:t>→</a:t>
            </a:r>
            <a:r>
              <a:rPr lang="en-US" altLang="zh-CN" b="0" sz="2200">
                <a:latin typeface="Arial"/>
              </a:rPr>
              <a:t xml:space="preserve"> Close all valves when finished</a:t>
            </a:r>
          </a:p>
          <a:p>
            <a:pPr>
              <a:lnSpc>
                <a:spcPct val="112000"/>
              </a:lnSpc>
              <a:spcBef>
                <a:spcPts val="1400"/>
              </a:spcBef>
              <a:spcAft>
                <a:spcPts val="800"/>
              </a:spcAft>
            </a:pPr>
            <a:r>
              <a:rPr lang="en-US" altLang="zh-CN" b="1" sz="2400">
                <a:latin typeface="Arial"/>
              </a:rPr>
              <a:t>2. Sampling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lang="en-US" altLang="zh-CN" b="0" sz="2200">
                <a:latin typeface="Arial"/>
              </a:rPr>
              <a:t xml:space="preserve">Connect the hose from the PW outlet to the fixed line </a:t>
            </a:r>
            <a:r>
              <a:rPr lang="en-US" altLang="zh-CN" b="1" sz="2200">
                <a:latin typeface="Arial"/>
              </a:rPr>
              <a:t>→</a:t>
            </a:r>
            <a:r>
              <a:rPr lang="en-US" altLang="zh-CN" b="0" sz="2200">
                <a:latin typeface="Arial"/>
              </a:rPr>
              <a:t xml:space="preserve"> Open the water valve </a:t>
            </a:r>
            <a:r>
              <a:rPr lang="en-US" altLang="zh-CN" b="1" sz="2200">
                <a:latin typeface="Arial"/>
              </a:rPr>
              <a:t>→</a:t>
            </a:r>
            <a:r>
              <a:rPr lang="en-US" altLang="zh-CN" b="0" sz="2200">
                <a:latin typeface="Arial"/>
              </a:rPr>
              <a:t xml:space="preserve"> Flush PW to waste </a:t>
            </a:r>
            <a:r>
              <a:rPr lang="en-US" altLang="zh-CN" b="1" sz="2200">
                <a:latin typeface="Arial"/>
              </a:rPr>
              <a:t>→</a:t>
            </a:r>
            <a:r>
              <a:rPr lang="en-US" altLang="zh-CN" b="0" sz="2200">
                <a:latin typeface="Arial"/>
              </a:rPr>
              <a:t xml:space="preserve"> After flushing, take a manual sample</a:t>
            </a:r>
          </a:p>
          <a:p>
            <a:pPr>
              <a:lnSpc>
                <a:spcPct val="112000"/>
              </a:lnSpc>
              <a:spcBef>
                <a:spcPts val="1400"/>
              </a:spcBef>
              <a:spcAft>
                <a:spcPts val="800"/>
              </a:spcAft>
            </a:pPr>
            <a:r>
              <a:rPr lang="en-US" altLang="zh-CN" b="1" sz="2400">
                <a:latin typeface="Arial"/>
              </a:rPr>
              <a:t>3. Filter Management Principle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lang="en-US" altLang="zh-CN" b="0" sz="2200">
                <a:latin typeface="Arial"/>
              </a:rPr>
              <a:t>Install the filter before each use; the filter's time in use shall not exceed 24 hours.</a:t>
            </a:r>
          </a:p>
        </p:txBody>
      </p:sp>
    </p:spTree>
    <p:extLst>
      <p:ext uri="{BB962C8B-B14F-4D97-AF65-F5344CB8AC3E}">
        <p14:creationId xmlns:p14="http://schemas.microsoft.com/office/powerpoint/2010/main" val="377140546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2117598"/>
              </p:ext>
            </p:extLst>
          </p:nvPr>
        </p:nvGraphicFramePr>
        <p:xfrm>
          <a:off x="240150" y="406187"/>
          <a:ext cx="11781803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56903">
                  <a:extLst>
                    <a:ext uri="{9D8B030D-6E8A-4147-A177-3AD203B41FA5}">
                      <a16:colId xmlns:a16="http://schemas.microsoft.com/office/drawing/2014/main" val="23088648"/>
                    </a:ext>
                  </a:extLst>
                </a:gridCol>
                <a:gridCol w="3833667">
                  <a:extLst>
                    <a:ext uri="{9D8B030D-6E8A-4147-A177-3AD203B41FA5}">
                      <a16:colId xmlns:a16="http://schemas.microsoft.com/office/drawing/2014/main" val="3341615477"/>
                    </a:ext>
                  </a:extLst>
                </a:gridCol>
                <a:gridCol w="1691233">
                  <a:extLst>
                    <a:ext uri="{9D8B030D-6E8A-4147-A177-3AD203B41FA5}">
                      <a16:colId xmlns:a16="http://schemas.microsoft.com/office/drawing/2014/main" val="3029883940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sz="1600" b="1" altLang="zh-CN">
                          <a:solidFill>
                            <a:srgbClr val="FFFFFF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</a:rPr>
                        <a:t>Action Item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altLang="zh-CN" sz="1600" b="1">
                          <a:solidFill>
                            <a:srgbClr val="FFFFFF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</a:rPr>
                        <a:t>Implementation Plan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altLang="zh-CN" sz="1600" b="1">
                          <a:solidFill>
                            <a:srgbClr val="FFFFFF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</a:rPr>
                        <a:t>Target Date</a:t>
                      </a:r>
                    </a:p>
                  </a:txBody>
                  <a:tcPr marL="73152" marR="73152" marT="45720" marB="45720" anchor="ctr"/>
                </a:tc>
                <a:extLst>
                  <a:ext uri="{0D108BD9-81ED-4DB2-BD59-A6C34878D82A}">
                    <a16:rowId xmlns:a16="http://schemas.microsoft.com/office/drawing/2014/main" val="121777397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sz="1600" altLang="zh-CN" b="0">
                          <a:solidFill>
                            <a:srgbClr val="008000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</a:rPr>
                        <a:t>Justify the one-month service life for dedicated PW hoses</a:t>
                      </a:r>
                    </a:p>
                  </a:txBody>
                  <a:tcPr marL="73152" marR="73152" marT="45720" marB="4572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altLang="zh-CN" sz="1600" kern="1200" b="0">
                          <a:solidFill>
                            <a:schemeClr val="tx1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Practice: weekly cleaning; replacement every six months</a:t>
                      </a:r>
                    </a:p>
                  </a:txBody>
                  <a:tcPr anchor="ctr" marL="73152" marR="73152" marT="45720" marB="4572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altLang="zh-CN" sz="1600" kern="1200" b="0">
                          <a:solidFill>
                            <a:schemeClr val="tx1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10/20/2026</a:t>
                      </a:r>
                    </a:p>
                  </a:txBody>
                  <a:tcPr anchor="ctr" marL="73152" marR="73152" marT="45720" marB="45720"/>
                </a:tc>
                <a:extLst>
                  <a:ext uri="{0D108BD9-81ED-4DB2-BD59-A6C34878D82A}">
                    <a16:rowId xmlns:a16="http://schemas.microsoft.com/office/drawing/2014/main" val="300253717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sz="1600" altLang="zh-CN" b="0">
                          <a:solidFill>
                            <a:srgbClr val="008000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</a:rPr>
                        <a:t>Replace silicone water hoses with PTFE hoses or provide a documented technical justification</a:t>
                      </a:r>
                    </a:p>
                  </a:txBody>
                  <a:tcPr marL="73152" marR="73152" marT="45720" marB="4572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altLang="zh-CN" sz="1600" kern="1200" b="0">
                          <a:solidFill>
                            <a:schemeClr val="tx1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Replace with PTFE hoses: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altLang="zh-CN" sz="1600" kern="1200" b="0">
                          <a:solidFill>
                            <a:schemeClr val="tx1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1. Domestic brand: lead time ~3 weeks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altLang="zh-CN" sz="1600" kern="1200" b="0">
                          <a:solidFill>
                            <a:schemeClr val="tx1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2. Imported brand: lead time ~8 weeks</a:t>
                      </a:r>
                    </a:p>
                  </a:txBody>
                  <a:tcPr anchor="ctr" marL="73152" marR="73152" marT="45720" marB="457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b="0">
                          <a:solidFill>
                            <a:schemeClr val="tx1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1. 10/30/2026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b="0">
                          <a:solidFill>
                            <a:schemeClr val="tx1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2. 11/30/2026</a:t>
                      </a:r>
                    </a:p>
                  </a:txBody>
                  <a:tcPr anchor="ctr" marL="73152" marR="73152" marT="45720" marB="45720"/>
                </a:tc>
                <a:extLst>
                  <a:ext uri="{0D108BD9-81ED-4DB2-BD59-A6C34878D82A}">
                    <a16:rowId xmlns:a16="http://schemas.microsoft.com/office/drawing/2014/main" val="104370211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sz="1600" altLang="zh-CN" b="0">
                          <a:solidFill>
                            <a:srgbClr val="008000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</a:rPr>
                        <a:t>Update procedure to ensure immediate water hose disconnection and controlled storage after use</a:t>
                      </a:r>
                    </a:p>
                  </a:txBody>
                  <a:tcPr marL="73152" marR="73152" marT="45720" marB="4572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altLang="zh-CN" sz="1600" kern="1200" b="0">
                          <a:solidFill>
                            <a:schemeClr val="tx1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Update the procedure documents.</a:t>
                      </a:r>
                    </a:p>
                  </a:txBody>
                  <a:tcPr anchor="ctr" marL="73152" marR="73152" marT="45720" marB="457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b="0">
                          <a:solidFill>
                            <a:schemeClr val="tx1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10/20/2026</a:t>
                      </a:r>
                    </a:p>
                  </a:txBody>
                  <a:tcPr anchor="ctr" marL="73152" marR="73152" marT="45720" marB="45720"/>
                </a:tc>
                <a:extLst>
                  <a:ext uri="{0D108BD9-81ED-4DB2-BD59-A6C34878D82A}">
                    <a16:rowId xmlns:a16="http://schemas.microsoft.com/office/drawing/2014/main" val="24547239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sz="1600" altLang="zh-CN" b="0">
                          <a:solidFill>
                            <a:srgbClr val="008000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</a:rPr>
                        <a:t>Purified Water header throughout the facility does not meet industry guidance - sample point is not representative of POU, no means of pre-use flushing/blowing, etc. Additionally, POU filtration should be provided for any PW supplied to a growth promoting solution via hose connection (upstream of drain line). These filters should have time in use tracked and be replaced frequently (NMT 24 hours).</a:t>
                      </a:r>
                    </a:p>
                    <a:p>
                      <a:pPr fontAlgn="t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sz="1600" altLang="zh-CN" b="0">
                          <a:solidFill>
                            <a:srgbClr val="008000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</a:rPr>
                        <a:t>Implement point-of-use flushing directly to waste and post-use draining and drying for purified-water lines using zero-static valves or minimum-distance tees without creating dead legs</a:t>
                      </a:r>
                    </a:p>
                  </a:txBody>
                  <a:tcPr marL="73152" marR="73152" marT="45720" marB="4572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altLang="zh-CN" sz="1600" kern="1200" b="0">
                          <a:solidFill>
                            <a:schemeClr val="tx1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Submit a change control and carry out the modification per the scheme shown on Slide 1 (valves designed to the 3D principle). Estimated durations: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altLang="zh-CN" sz="1600" kern="1200" b="0">
                          <a:solidFill>
                            <a:schemeClr val="tx1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Procurement: ~6 weeks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altLang="zh-CN" sz="1600" kern="1200" b="0">
                          <a:solidFill>
                            <a:schemeClr val="tx1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Installation: ~3 weeks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altLang="zh-CN" sz="1600" kern="1200" b="0">
                          <a:solidFill>
                            <a:schemeClr val="tx1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Pickling and passivation: ~2 weeks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altLang="zh-CN" sz="1600" kern="1200" b="0">
                          <a:solidFill>
                            <a:schemeClr val="tx1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Continuous sampling validation and incubation: ~3 weeks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altLang="zh-CN" sz="1600" kern="1200" b="0">
                          <a:solidFill>
                            <a:schemeClr val="tx1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Line drying validation: ~2 weeks</a:t>
                      </a:r>
                    </a:p>
                  </a:txBody>
                  <a:tcPr anchor="ctr" marL="73152" marR="73152" marT="45720" marB="4572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altLang="zh-CN" sz="1600" kern="1200" b="0">
                          <a:solidFill>
                            <a:schemeClr val="tx1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01/30/2027</a:t>
                      </a:r>
                    </a:p>
                  </a:txBody>
                  <a:tcPr anchor="ctr" marL="73152" marR="73152" marT="45720" marB="45720"/>
                </a:tc>
                <a:extLst>
                  <a:ext uri="{0D108BD9-81ED-4DB2-BD59-A6C34878D82A}">
                    <a16:rowId xmlns:a16="http://schemas.microsoft.com/office/drawing/2014/main" val="2090675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7135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6445498"/>
              </p:ext>
            </p:extLst>
          </p:nvPr>
        </p:nvGraphicFramePr>
        <p:xfrm>
          <a:off x="192505" y="433136"/>
          <a:ext cx="11640312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0">
                  <a:extLst>
                    <a:ext uri="{9D8B030D-6E8A-4147-A177-3AD203B41FA5}">
                      <a16:colId xmlns:a16="http://schemas.microsoft.com/office/drawing/2014/main" val="23088648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3341615477"/>
                    </a:ext>
                  </a:extLst>
                </a:gridCol>
                <a:gridCol w="1581912">
                  <a:extLst>
                    <a:ext uri="{9D8B030D-6E8A-4147-A177-3AD203B41FA5}">
                      <a16:colId xmlns:a16="http://schemas.microsoft.com/office/drawing/2014/main" val="3029883940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sz="1600" b="1" altLang="zh-CN">
                          <a:solidFill>
                            <a:srgbClr val="FFFFFF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</a:rPr>
                        <a:t>Action Item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altLang="zh-CN" sz="1600" b="1">
                          <a:solidFill>
                            <a:srgbClr val="FFFFFF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</a:rPr>
                        <a:t>Implementation Plan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altLang="zh-CN" sz="1600" b="1">
                          <a:solidFill>
                            <a:srgbClr val="FFFFFF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</a:rPr>
                        <a:t>Target Date</a:t>
                      </a:r>
                    </a:p>
                  </a:txBody>
                  <a:tcPr marL="73152" marR="73152" marT="45720" marB="45720" anchor="ctr"/>
                </a:tc>
                <a:extLst>
                  <a:ext uri="{0D108BD9-81ED-4DB2-BD59-A6C34878D82A}">
                    <a16:rowId xmlns:a16="http://schemas.microsoft.com/office/drawing/2014/main" val="1217773972"/>
                  </a:ext>
                </a:extLst>
              </a:tr>
              <a:tr h="205740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sz="1600" altLang="zh-CN" b="0">
                          <a:solidFill>
                            <a:srgbClr val="008000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</a:rPr>
                        <a:t>Implement the use of permeable film to cover the ends of process and water hoses while stored for drying</a:t>
                      </a:r>
                    </a:p>
                  </a:txBody>
                  <a:tcPr marL="73152" marR="73152" marT="45720" marB="45720"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altLang="zh-CN" sz="1600" kern="1200" b="0">
                          <a:solidFill>
                            <a:schemeClr val="tx1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Permeable film has been procured (see photo at left).</a:t>
                      </a:r>
                    </a:p>
                  </a:txBody>
                  <a:tcPr anchor="ctr" marL="73152" marR="73152" marT="45720" marB="457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b="0">
                          <a:solidFill>
                            <a:schemeClr val="tx1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10/30/2026</a:t>
                      </a:r>
                    </a:p>
                  </a:txBody>
                  <a:tcPr anchor="ctr" marL="73152" marR="73152" marT="45720" marB="45720"/>
                </a:tc>
                <a:extLst>
                  <a:ext uri="{0D108BD9-81ED-4DB2-BD59-A6C34878D82A}">
                    <a16:rowId xmlns:a16="http://schemas.microsoft.com/office/drawing/2014/main" val="61060522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sz="1600" altLang="zh-CN" b="0">
                          <a:solidFill>
                            <a:srgbClr val="008000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</a:rPr>
                        <a:t>Install point-of-use filters for purified water supplied by hose to growth-promoting solutions, track time in use, and replace filters no later than 24 hours</a:t>
                      </a:r>
                    </a:p>
                  </a:txBody>
                  <a:tcPr marL="73152" marR="73152" marT="45720" marB="457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b="0">
                          <a:solidFill>
                            <a:schemeClr val="tx1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Immediate corrective action</a:t>
                      </a:r>
                    </a:p>
                  </a:txBody>
                  <a:tcPr anchor="ctr" marL="73152" marR="73152" marT="45720" marB="4572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altLang="zh-CN" sz="1600" kern="1200" b="0">
                          <a:solidFill>
                            <a:schemeClr val="tx1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09/30/2026</a:t>
                      </a:r>
                    </a:p>
                  </a:txBody>
                  <a:tcPr anchor="ctr" marL="73152" marR="73152" marT="45720" marB="45720"/>
                </a:tc>
                <a:extLst>
                  <a:ext uri="{0D108BD9-81ED-4DB2-BD59-A6C34878D82A}">
                    <a16:rowId xmlns:a16="http://schemas.microsoft.com/office/drawing/2014/main" val="12459001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sz="1600" altLang="zh-CN" b="0">
                          <a:solidFill>
                            <a:srgbClr val="008000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</a:rPr>
                        <a:t>Assess representative sampling from new point-of-use drains and determine whether formal revalidation or an informal verification study is required to confirm water-system quality</a:t>
                      </a:r>
                    </a:p>
                  </a:txBody>
                  <a:tcPr marL="73152" marR="73152" marT="45720" marB="4572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altLang="zh-CN" sz="1600" kern="1200" b="0">
                          <a:solidFill>
                            <a:schemeClr val="tx1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Assessment of sampling points is in progress.</a:t>
                      </a:r>
                    </a:p>
                  </a:txBody>
                  <a:tcPr anchor="ctr" marL="73152" marR="73152" marT="45720" marB="4572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altLang="zh-CN" sz="1600" kern="1200" b="0">
                          <a:solidFill>
                            <a:schemeClr val="tx1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10/30/2026</a:t>
                      </a:r>
                    </a:p>
                  </a:txBody>
                  <a:tcPr anchor="ctr" marL="73152" marR="73152" marT="45720" marB="45720"/>
                </a:tc>
                <a:extLst>
                  <a:ext uri="{0D108BD9-81ED-4DB2-BD59-A6C34878D82A}">
                    <a16:rowId xmlns:a16="http://schemas.microsoft.com/office/drawing/2014/main" val="37790853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sz="1600" altLang="zh-CN" b="0">
                          <a:solidFill>
                            <a:srgbClr val="008000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</a:rPr>
                        <a:t>Store hose ends at least 6 inches off the floor and provide a clear visual indicator confirming compliant storage position</a:t>
                      </a:r>
                    </a:p>
                  </a:txBody>
                  <a:tcPr marL="73152" marR="73152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altLang="zh-CN" sz="1600" kern="1200" b="0">
                          <a:solidFill>
                            <a:schemeClr val="tx1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1. Short term: train on-site personnel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altLang="zh-CN" sz="1600" kern="1200" b="0">
                          <a:solidFill>
                            <a:schemeClr val="tx1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2. Long term: install custom stainless-steel hose racks to keep hose ends more than 6 inches off the floor</a:t>
                      </a:r>
                    </a:p>
                  </a:txBody>
                  <a:tcPr anchor="ctr" marL="73152" marR="73152" marT="45720" marB="457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b="0">
                          <a:solidFill>
                            <a:schemeClr val="tx1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1. 09/30/2026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b="0">
                          <a:solidFill>
                            <a:schemeClr val="tx1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2. 11/30/2026</a:t>
                      </a:r>
                    </a:p>
                  </a:txBody>
                  <a:tcPr anchor="ctr" marL="73152" marR="73152" marT="45720" marB="45720"/>
                </a:tc>
                <a:extLst>
                  <a:ext uri="{0D108BD9-81ED-4DB2-BD59-A6C34878D82A}">
                    <a16:rowId xmlns:a16="http://schemas.microsoft.com/office/drawing/2014/main" val="3084685449"/>
                  </a:ext>
                </a:extLst>
              </a:tr>
            </a:tbl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74" t="35228" r="21430" b="31088"/>
          <a:stretch/>
        </p:blipFill>
        <p:spPr>
          <a:xfrm>
            <a:off x="5134463" y="1656398"/>
            <a:ext cx="1778882" cy="122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872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498</TotalTime>
  <Words>778</Words>
  <Application>Microsoft Office PowerPoint</Application>
  <PresentationFormat>宽屏</PresentationFormat>
  <Paragraphs>57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Helvetica Light</vt:lpstr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Yi Chen16528</dc:creator>
  <cp:lastModifiedBy>Chunpeng Hu16117</cp:lastModifiedBy>
  <cp:revision>51</cp:revision>
  <dcterms:created xsi:type="dcterms:W3CDTF">2026-09-21T09:08:32Z</dcterms:created>
  <dcterms:modified xsi:type="dcterms:W3CDTF">2026-09-24T10:32:48Z</dcterms:modified>
</cp:coreProperties>
</file>