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95" r:id="rId3"/>
    <p:sldId id="286" r:id="rId4"/>
    <p:sldId id="310" r:id="rId5"/>
    <p:sldId id="304" r:id="rId6"/>
    <p:sldId id="305" r:id="rId7"/>
    <p:sldId id="307" r:id="rId8"/>
    <p:sldId id="308" r:id="rId9"/>
    <p:sldId id="30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ixuan Bu17334" initials="Q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5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6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0DE29-530B-4A92-B559-3A8E328F45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0AFF6D-188D-41AE-B623-A5FDCCC46DB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jpe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8.jpeg"/><Relationship Id="rId13" Type="http://schemas.openxmlformats.org/officeDocument/2006/relationships/image" Target="../media/image17.jpeg"/><Relationship Id="rId12" Type="http://schemas.openxmlformats.org/officeDocument/2006/relationships/image" Target="../media/image16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32.png"/><Relationship Id="rId14" Type="http://schemas.openxmlformats.org/officeDocument/2006/relationships/image" Target="../media/image31.png"/><Relationship Id="rId13" Type="http://schemas.openxmlformats.org/officeDocument/2006/relationships/image" Target="../media/image30.png"/><Relationship Id="rId12" Type="http://schemas.openxmlformats.org/officeDocument/2006/relationships/image" Target="../media/image29.png"/><Relationship Id="rId11" Type="http://schemas.openxmlformats.org/officeDocument/2006/relationships/image" Target="../media/image28.png"/><Relationship Id="rId10" Type="http://schemas.openxmlformats.org/officeDocument/2006/relationships/image" Target="../media/image27.jpe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jpeg"/><Relationship Id="rId8" Type="http://schemas.openxmlformats.org/officeDocument/2006/relationships/image" Target="../media/image39.jpeg"/><Relationship Id="rId7" Type="http://schemas.openxmlformats.org/officeDocument/2006/relationships/image" Target="../media/image38.jpeg"/><Relationship Id="rId6" Type="http://schemas.openxmlformats.org/officeDocument/2006/relationships/image" Target="../media/image37.png"/><Relationship Id="rId5" Type="http://schemas.openxmlformats.org/officeDocument/2006/relationships/image" Target="../media/image36.jpeg"/><Relationship Id="rId4" Type="http://schemas.openxmlformats.org/officeDocument/2006/relationships/image" Target="../media/image35.jpeg"/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49.jpeg"/><Relationship Id="rId17" Type="http://schemas.openxmlformats.org/officeDocument/2006/relationships/image" Target="../media/image48.jpeg"/><Relationship Id="rId16" Type="http://schemas.openxmlformats.org/officeDocument/2006/relationships/image" Target="../media/image47.png"/><Relationship Id="rId15" Type="http://schemas.openxmlformats.org/officeDocument/2006/relationships/image" Target="../media/image46.jpeg"/><Relationship Id="rId14" Type="http://schemas.openxmlformats.org/officeDocument/2006/relationships/image" Target="../media/image45.jpeg"/><Relationship Id="rId13" Type="http://schemas.openxmlformats.org/officeDocument/2006/relationships/image" Target="../media/image44.jpeg"/><Relationship Id="rId12" Type="http://schemas.openxmlformats.org/officeDocument/2006/relationships/image" Target="../media/image43.jpeg"/><Relationship Id="rId11" Type="http://schemas.openxmlformats.org/officeDocument/2006/relationships/image" Target="../media/image42.jpeg"/><Relationship Id="rId10" Type="http://schemas.openxmlformats.org/officeDocument/2006/relationships/image" Target="../media/image41.jpe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3467" y="1282335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6" name="图片 11" descr="333"/>
          <p:cNvPicPr>
            <a:picLocks noChangeAspect="1"/>
          </p:cNvPicPr>
          <p:nvPr/>
        </p:nvPicPr>
        <p:blipFill>
          <a:blip r:embed="rId1"/>
          <a:srcRect l="2396" r="3197" b="-1489"/>
          <a:stretch>
            <a:fillRect/>
          </a:stretch>
        </p:blipFill>
        <p:spPr>
          <a:xfrm>
            <a:off x="-1" y="3926127"/>
            <a:ext cx="12192000" cy="2364598"/>
          </a:xfrm>
          <a:prstGeom prst="rect">
            <a:avLst/>
          </a:prstGeom>
          <a:noFill/>
          <a:ln w="9525">
            <a:noFill/>
          </a:ln>
          <a:effectLst>
            <a:outerShdw dist="50800" dir="5400000" algn="ctr" rotWithShape="0">
              <a:srgbClr val="000000">
                <a:alpha val="0"/>
              </a:srgbClr>
            </a:outerShdw>
            <a:softEdge rad="0"/>
          </a:effectLst>
        </p:spPr>
      </p:pic>
      <p:pic>
        <p:nvPicPr>
          <p:cNvPr id="17" name="图片 1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19" y="456302"/>
            <a:ext cx="2663161" cy="4825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Rectangle 111"/>
          <p:cNvSpPr txBox="1"/>
          <p:nvPr/>
        </p:nvSpPr>
        <p:spPr>
          <a:xfrm>
            <a:off x="0" y="5970399"/>
            <a:ext cx="12192000" cy="496996"/>
          </a:xfrm>
          <a:prstGeom prst="rect">
            <a:avLst/>
          </a:prstGeom>
          <a:solidFill>
            <a:srgbClr val="7EB2E6"/>
          </a:solidFill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F5A9E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+mn-cs"/>
                <a:sym typeface="Arial" panose="020B0604020202020204"/>
              </a:rPr>
              <a:t>Green Chemistry is the Future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2F5A9E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+mn-cs"/>
              <a:sym typeface="Arial" panose="020B0604020202020204"/>
            </a:endParaRPr>
          </a:p>
        </p:txBody>
      </p:sp>
      <p:sp>
        <p:nvSpPr>
          <p:cNvPr id="19" name="Rectangle 111"/>
          <p:cNvSpPr txBox="1"/>
          <p:nvPr/>
        </p:nvSpPr>
        <p:spPr>
          <a:xfrm>
            <a:off x="1714500" y="6376451"/>
            <a:ext cx="8763000" cy="456535"/>
          </a:xfrm>
          <a:prstGeom prst="rect">
            <a:avLst/>
          </a:prstGeom>
          <a:noFill/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EB2E6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+mn-cs"/>
                <a:sym typeface="Arial" panose="020B0604020202020204"/>
              </a:rPr>
              <a:t>www.asymchem.com 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7EB2E6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+mn-cs"/>
                <a:sym typeface="Arial" panose="020B0604020202020204"/>
              </a:rPr>
              <a:t>Stock Code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EB2E6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+mn-cs"/>
                <a:sym typeface="Arial" panose="020B0604020202020204"/>
              </a:rPr>
              <a:t>: 002821.SZ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7EB2E6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+mn-cs"/>
              <a:sym typeface="Arial" panose="020B0604020202020204"/>
            </a:endParaRP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115344" y="2059759"/>
            <a:ext cx="1207665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差距识别</a:t>
            </a:r>
            <a:r>
              <a:rPr kumimoji="0" lang="en-US" altLang="zh-CN" sz="5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-</a:t>
            </a:r>
            <a:r>
              <a:rPr kumimoji="0" lang="zh-CN" altLang="en-US" sz="5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超滤部分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Impact" panose="020B080603090205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124997" y="354668"/>
            <a:ext cx="2884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Category3 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管路、设备要求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20435" y="1036865"/>
          <a:ext cx="11692163" cy="54486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2368"/>
                <a:gridCol w="9179795"/>
              </a:tblGrid>
              <a:tr h="2365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  <a:latin typeface="+mn-ea"/>
                          <a:ea typeface="+mn-ea"/>
                        </a:rPr>
                        <a:t>Category 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19052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标准项目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描述 </a:t>
                      </a: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指导要点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359521">
                <a:tc rowSpan="5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 dirty="0">
                          <a:effectLst/>
                          <a:latin typeface="+mn-ea"/>
                          <a:ea typeface="+mn-ea"/>
                        </a:rPr>
                        <a:t>Lines, Connections, Components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管路、连接、</a:t>
                      </a:r>
                      <a:r>
                        <a:rPr lang="zh-CN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部件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・三夹快装接头（实体垫片密封）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181819">
                <a:tc vMerge="1"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・ASME BPE 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规格管材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359521">
                <a:tc vMerge="1"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・球阀：存在风险残留物的系统禁止使用球阀，球体后方积料会成为隐患；球阀可用于溶剂系统隔离工况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181819">
                <a:tc vMerge="1"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・材质 </a:t>
                      </a:r>
                      <a:r>
                        <a:rPr lang="en-US" sz="1000" b="0" u="none" strike="noStrike" dirty="0">
                          <a:effectLst/>
                          <a:latin typeface="+mn-ea"/>
                          <a:ea typeface="+mn-ea"/>
                        </a:rPr>
                        <a:t>MOC：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不锈钢、高合金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342491">
                <a:tc vMerge="1"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u="none" strike="noStrike">
                          <a:effectLst/>
                          <a:latin typeface="+mn-ea"/>
                          <a:ea typeface="+mn-ea"/>
                        </a:rPr>
                        <a:t>・执行 </a:t>
                      </a:r>
                      <a:r>
                        <a:rPr lang="en-US" sz="1000" b="0" u="none" strike="noStrike">
                          <a:effectLst/>
                          <a:latin typeface="+mn-ea"/>
                          <a:ea typeface="+mn-ea"/>
                        </a:rPr>
                        <a:t>ASME BPE </a:t>
                      </a:r>
                      <a:r>
                        <a:rPr lang="zh-CN" altLang="en-US" sz="1000" b="0" u="none" strike="noStrike">
                          <a:effectLst/>
                          <a:latin typeface="+mn-ea"/>
                          <a:ea typeface="+mn-ea"/>
                        </a:rPr>
                        <a:t>标准；若采用其他卫生级标准，需要评估确认其可接受性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181819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 dirty="0">
                          <a:effectLst/>
                          <a:latin typeface="+mn-ea"/>
                          <a:ea typeface="+mn-ea"/>
                        </a:rPr>
                        <a:t>Tanks 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罐体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・材质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：</a:t>
                      </a:r>
                      <a:r>
                        <a:rPr lang="zh-CN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不锈钢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或</a:t>
                      </a:r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高合金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181819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u="none" strike="noStrike">
                          <a:effectLst/>
                          <a:latin typeface="+mn-ea"/>
                          <a:ea typeface="+mn-ea"/>
                        </a:rPr>
                        <a:t>・内表面粗糙度：</a:t>
                      </a:r>
                      <a:r>
                        <a:rPr lang="en-US" sz="1000" b="0" u="none" strike="noStrike">
                          <a:effectLst/>
                          <a:latin typeface="+mn-ea"/>
                          <a:ea typeface="+mn-ea"/>
                        </a:rPr>
                        <a:t>NMT 25Ra（</a:t>
                      </a:r>
                      <a:r>
                        <a:rPr lang="zh-CN" altLang="en-US" sz="1000" b="0" u="none" strike="noStrike">
                          <a:effectLst/>
                          <a:latin typeface="+mn-ea"/>
                          <a:ea typeface="+mn-ea"/>
                        </a:rPr>
                        <a:t>微英寸），即 </a:t>
                      </a:r>
                      <a:r>
                        <a:rPr lang="en-US" altLang="zh-CN" sz="1000" b="0" u="none" strike="noStrike">
                          <a:effectLst/>
                          <a:latin typeface="+mn-ea"/>
                          <a:ea typeface="+mn-ea"/>
                        </a:rPr>
                        <a:t>0.63</a:t>
                      </a:r>
                      <a:r>
                        <a:rPr lang="el-GR" sz="1000" b="0" u="none" strike="noStrike">
                          <a:effectLst/>
                          <a:latin typeface="+mn-ea"/>
                          <a:ea typeface="+mn-ea"/>
                        </a:rPr>
                        <a:t>μ</a:t>
                      </a:r>
                      <a:r>
                        <a:rPr lang="en-US" sz="1000" b="0" u="none" strike="noStrike">
                          <a:effectLst/>
                          <a:latin typeface="+mn-ea"/>
                          <a:ea typeface="+mn-ea"/>
                        </a:rPr>
                        <a:t>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181819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>
                          <a:effectLst/>
                          <a:latin typeface="+mn-ea"/>
                          <a:ea typeface="+mn-ea"/>
                        </a:rPr>
                        <a:t>・三夹快装连接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18922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尽量</a:t>
                      </a:r>
                      <a:r>
                        <a:rPr lang="zh-CN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缩短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罐</a:t>
                      </a:r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封头接管伸出长度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359521">
                <a:tc rowSpan="5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 dirty="0">
                          <a:effectLst/>
                          <a:latin typeface="+mn-ea"/>
                          <a:ea typeface="+mn-ea"/>
                        </a:rPr>
                        <a:t>Cleaning 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清洗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・该标准适用于缓冲液系统：介质为溶剂、不滋生微生物、无物料堆积，不需要开展常规清洗的工况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342491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・尽量减小死管段；若存在死管段，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必须</a:t>
                      </a:r>
                      <a:r>
                        <a:rPr lang="zh-CN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具备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清洗</a:t>
                      </a:r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、换产、排空通路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342491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  ○ 评估死管段执行 </a:t>
                      </a:r>
                      <a:r>
                        <a:rPr lang="en-US" altLang="zh-CN" sz="1000" b="0" u="none" strike="noStrike" dirty="0">
                          <a:effectLst/>
                          <a:latin typeface="+mn-ea"/>
                          <a:ea typeface="+mn-ea"/>
                        </a:rPr>
                        <a:t>BPE 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的</a:t>
                      </a:r>
                      <a:r>
                        <a:rPr lang="en-US" altLang="zh-CN" sz="1000" b="0" u="none" strike="noStrike" dirty="0">
                          <a:effectLst/>
                          <a:latin typeface="+mn-ea"/>
                          <a:ea typeface="+mn-ea"/>
                        </a:rPr>
                        <a:t>2L/D 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指标，需要能够流通冲洗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181819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u="none" strike="noStrike">
                          <a:effectLst/>
                          <a:latin typeface="+mn-ea"/>
                          <a:ea typeface="+mn-ea"/>
                        </a:rPr>
                        <a:t>  ○ 系统正常运行时始终满管状态，允许存在极小死管段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342491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>
                          <a:effectLst/>
                          <a:latin typeface="+mn-ea"/>
                          <a:ea typeface="+mn-ea"/>
                        </a:rPr>
                        <a:t>・罐体、大型非管路部件需要做喷淋覆盖测试，便于冲洗 </a:t>
                      </a:r>
                      <a:r>
                        <a:rPr lang="en-US" altLang="ja-JP" sz="1000" b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ja-JP" altLang="en-US" sz="1000" b="0" u="none" strike="noStrike">
                          <a:effectLst/>
                          <a:latin typeface="+mn-ea"/>
                          <a:ea typeface="+mn-ea"/>
                        </a:rPr>
                        <a:t>换产；不需要开展清洗验证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181819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+mn-ea"/>
                          <a:ea typeface="+mn-ea"/>
                        </a:rPr>
                        <a:t>Surface Finish </a:t>
                      </a:r>
                      <a:r>
                        <a:rPr lang="zh-CN" altLang="en-US" sz="1000" b="0" u="none" strike="noStrike">
                          <a:effectLst/>
                          <a:latin typeface="+mn-ea"/>
                          <a:ea typeface="+mn-ea"/>
                        </a:rPr>
                        <a:t>表面粗糙度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・内表面粗糙度：</a:t>
                      </a:r>
                      <a:r>
                        <a:rPr lang="en-US" sz="1000" b="0" u="none" strike="noStrike" dirty="0">
                          <a:effectLst/>
                          <a:latin typeface="+mn-ea"/>
                          <a:ea typeface="+mn-ea"/>
                        </a:rPr>
                        <a:t>NMT 25Ra（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微英寸）或 </a:t>
                      </a:r>
                      <a:r>
                        <a:rPr lang="en-US" altLang="zh-CN" sz="1000" b="0" u="none" strike="noStrike" dirty="0">
                          <a:effectLst/>
                          <a:latin typeface="+mn-ea"/>
                          <a:ea typeface="+mn-ea"/>
                        </a:rPr>
                        <a:t>0.63 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微米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18922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・</a:t>
                      </a:r>
                      <a:r>
                        <a:rPr lang="zh-CN" altLang="en-US" sz="10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焊缝</a:t>
                      </a:r>
                      <a:r>
                        <a:rPr lang="ja-JP" altLang="en-US" sz="10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内部</a:t>
                      </a:r>
                      <a:r>
                        <a:rPr lang="ja-JP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检查</a:t>
                      </a:r>
                      <a:r>
                        <a:rPr lang="ja-JP" altLang="en-US" sz="10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，</a:t>
                      </a:r>
                      <a:r>
                        <a:rPr lang="zh-CN" altLang="en-US" sz="10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焊缝</a:t>
                      </a:r>
                      <a:r>
                        <a:rPr lang="ja-JP" altLang="en-US" sz="10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内壁</a:t>
                      </a:r>
                      <a:r>
                        <a:rPr lang="ja-JP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光滑，无物料滞留死角</a:t>
                      </a:r>
                      <a:endParaRPr lang="ja-JP" altLang="en-US" sz="1000" b="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696" marR="6696" marT="6696" marB="0" anchor="ctr"/>
                </a:tc>
              </a:tr>
              <a:tr h="181819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+mn-ea"/>
                          <a:ea typeface="+mn-ea"/>
                        </a:rPr>
                        <a:t>Line Slope </a:t>
                      </a:r>
                      <a:r>
                        <a:rPr lang="zh-CN" altLang="en-US" sz="1000" b="0" u="none" strike="noStrike">
                          <a:effectLst/>
                          <a:latin typeface="+mn-ea"/>
                          <a:ea typeface="+mn-ea"/>
                        </a:rPr>
                        <a:t>管路坡度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・不强制管路坡度，但系统必须考虑可排空性能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18922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・根据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需要</a:t>
                      </a:r>
                      <a:r>
                        <a:rPr lang="zh-CN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设置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低</a:t>
                      </a:r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点排放口，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保障</a:t>
                      </a:r>
                      <a:r>
                        <a:rPr lang="zh-CN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设备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有效</a:t>
                      </a:r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冲洗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与</a:t>
                      </a:r>
                      <a:r>
                        <a:rPr lang="zh-CN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换产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181819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+mn-ea"/>
                          <a:ea typeface="+mn-ea"/>
                        </a:rPr>
                        <a:t>Documentation </a:t>
                      </a:r>
                      <a:r>
                        <a:rPr lang="zh-CN" altLang="en-US" sz="1000" b="0" u="none" strike="noStrike">
                          <a:effectLst/>
                          <a:latin typeface="+mn-ea"/>
                          <a:ea typeface="+mn-ea"/>
                        </a:rPr>
                        <a:t>文件资料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+mn-ea"/>
                          <a:ea typeface="+mn-ea"/>
                        </a:rPr>
                        <a:t>・ASME </a:t>
                      </a:r>
                      <a:r>
                        <a:rPr lang="zh-CN" altLang="en-US" sz="1000" b="0" u="none" strike="noStrike">
                          <a:effectLst/>
                          <a:latin typeface="+mn-ea"/>
                          <a:ea typeface="+mn-ea"/>
                        </a:rPr>
                        <a:t>标准全套焊接文件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368983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・接触产品或</a:t>
                      </a:r>
                      <a:r>
                        <a:rPr lang="zh-CN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直接接触物料（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溶剂、缓冲液等）的弹性体，需提供合规文件：</a:t>
                      </a:r>
                      <a:r>
                        <a:rPr lang="en-US" sz="1000" b="0" u="none" strike="noStrike" dirty="0">
                          <a:effectLst/>
                          <a:latin typeface="+mn-ea"/>
                          <a:ea typeface="+mn-ea"/>
                        </a:rPr>
                        <a:t>FDA 21CFR 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或 </a:t>
                      </a:r>
                      <a:r>
                        <a:rPr lang="en-US" sz="1000" b="0" u="none" strike="noStrike" dirty="0">
                          <a:effectLst/>
                          <a:latin typeface="+mn-ea"/>
                          <a:ea typeface="+mn-ea"/>
                        </a:rPr>
                        <a:t>USP Class VI 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材质证明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124997" y="387325"/>
            <a:ext cx="2884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Category4 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管路、设备要求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20436" y="1028703"/>
          <a:ext cx="11673268" cy="5422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1467"/>
                <a:gridCol w="9581801"/>
              </a:tblGrid>
              <a:tr h="2479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  <a:latin typeface="+mn-ea"/>
                          <a:ea typeface="+mn-ea"/>
                        </a:rPr>
                        <a:t>Category 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9642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标准项目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描述 </a:t>
                      </a: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指导要点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354512">
                <a:tc rowSpan="6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Lines, Connections, Components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管路、连接、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部件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・三夹快装接头（实体垫片密封）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vMerge="1"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・ASME BPE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规格管材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vMerge="1"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•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隔膜阀或其他可在位清洗阀门，禁止使用球阀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337721">
                <a:tc vMerge="1"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・采用最小死区管件（零静态阀、集成式无菌 </a:t>
                      </a:r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GMP </a:t>
                      </a: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阀、仪表 </a:t>
                      </a:r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T </a:t>
                      </a: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型接头等）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vMerge="1"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・材质 </a:t>
                      </a:r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MOC：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不锈钢、合金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337721">
                <a:tc vMerge="1"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・遵循 </a:t>
                      </a:r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ASME BPE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标准；采用其他卫生标准时，必须评估其可接受性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Tanks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罐体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・材质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：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不锈钢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或</a:t>
                      </a:r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合金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・内表面粗糙度：</a:t>
                      </a:r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NMT 25Ra（</a:t>
                      </a: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微英寸）</a:t>
                      </a:r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/0.63</a:t>
                      </a:r>
                      <a:r>
                        <a:rPr lang="el-GR" sz="1000" u="none" strike="noStrike">
                          <a:effectLst/>
                          <a:latin typeface="+mn-ea"/>
                          <a:ea typeface="+mn-ea"/>
                        </a:rPr>
                        <a:t>μ</a:t>
                      </a:r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・三夹接头、</a:t>
                      </a:r>
                      <a:r>
                        <a:rPr lang="en-US" sz="1000" u="none" strike="noStrike" dirty="0" err="1">
                          <a:effectLst/>
                          <a:latin typeface="+mn-ea"/>
                          <a:ea typeface="+mn-ea"/>
                        </a:rPr>
                        <a:t>NovAseptic</a:t>
                      </a:r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或同等等级无菌连接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233984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・尽量缩短罐封头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接管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长度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Cleaning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清洗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・产品接触罐体、管路必须做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清洗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验证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  ○ 需要提高清洗频次，加强清洗检查力度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501916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  ○ 根据指导文件，需要设定清洁 </a:t>
                      </a:r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污染存放时限，开展微生物负载取样；系统必须可完全排空冲洗，不能留存微生物滋生基质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501916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・需要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清洗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验证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的</a:t>
                      </a:r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罐体、大型非管路部件，必须做喷淋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覆盖率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测试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；</a:t>
                      </a:r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例：</a:t>
                      </a:r>
                      <a:r>
                        <a:rPr lang="en-US" altLang="ja-JP" sz="1000" u="none" strike="noStrike" dirty="0">
                          <a:effectLst/>
                          <a:latin typeface="+mn-ea"/>
                          <a:ea typeface="+mn-ea"/>
                        </a:rPr>
                        <a:t>AFD 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粉尘过滤器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卸料斜槽、产品手套箱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保证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清洗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验证过程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可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复现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Surface Finish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表面粗糙度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・内表面粗糙度：</a:t>
                      </a:r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NMT 25Ra（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微英寸）或 </a:t>
                      </a:r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0.63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微米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86586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・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焊缝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内部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检查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内壁光滑，无物料滞留死角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865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Line Slope </a:t>
                      </a: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管路坡度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•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强制设置管路坡度，保证管路系统完全排空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Documentation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文件资料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・高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级别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焊接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文件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• 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管路坡度图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7925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•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焊缝分布图 </a:t>
                      </a:r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Weld maps)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86586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・弹性体材质证明（满足 </a:t>
                      </a:r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FDA 21CFR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合规）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92062" y="138793"/>
            <a:ext cx="30203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改造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图纸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储罐部分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-2038798" y="0"/>
          <a:ext cx="14230798" cy="7649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ZWCAD Drawing" r:id="rId2" imgW="11421745" imgH="5117465" progId="ZWCAD.Drawing.2020">
                  <p:embed/>
                </p:oleObj>
              </mc:Choice>
              <mc:Fallback>
                <p:oleObj name="ZWCAD Drawing" r:id="rId2" imgW="11421745" imgH="5117465" progId="ZWCAD.Drawing.2020">
                  <p:embed/>
                  <p:pic>
                    <p:nvPicPr>
                      <p:cNvPr id="0" name="Picture 107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2038798" y="0"/>
                        <a:ext cx="14230798" cy="76491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92062" y="138793"/>
            <a:ext cx="30203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改造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图纸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储罐部分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-1996580" y="-369236"/>
          <a:ext cx="15729732" cy="7934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" name="ZWCAD Drawing" r:id="rId2" imgW="11767820" imgH="6014720" progId="ZWCAD.Drawing.2020">
                  <p:embed/>
                </p:oleObj>
              </mc:Choice>
              <mc:Fallback>
                <p:oleObj name="ZWCAD Drawing" r:id="rId2" imgW="11767820" imgH="6014720" progId="ZWCAD.Drawing.2020">
                  <p:embed/>
                  <p:pic>
                    <p:nvPicPr>
                      <p:cNvPr id="0" name="Picture 209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996580" y="-369236"/>
                        <a:ext cx="15729732" cy="7934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563566" y="261255"/>
            <a:ext cx="2414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Category4 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罐体要求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92016" y="889899"/>
          <a:ext cx="10799244" cy="49963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916"/>
                <a:gridCol w="1199916"/>
                <a:gridCol w="1199916"/>
                <a:gridCol w="1199916"/>
                <a:gridCol w="1199916"/>
                <a:gridCol w="1199916"/>
                <a:gridCol w="1199916"/>
                <a:gridCol w="1199916"/>
                <a:gridCol w="1199916"/>
              </a:tblGrid>
              <a:tr h="66947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项目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材质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阀门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连接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清洁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照明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三通死角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仪表</a:t>
                      </a:r>
                      <a:endParaRPr lang="zh-CN" altLang="en-US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备注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8245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latin typeface="+mn-ea"/>
                          <a:ea typeface="+mn-ea"/>
                        </a:rPr>
                        <a:t>C4</a:t>
                      </a: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标准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latin typeface="+mn-ea"/>
                          <a:ea typeface="+mn-ea"/>
                        </a:rPr>
                        <a:t>316L</a:t>
                      </a: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不锈钢或合金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隔膜阀，或其他可在位清洗阀门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三夹快装接头</a:t>
                      </a:r>
                      <a:r>
                        <a:rPr lang="ja-JP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zh-CN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实体垫片密封</a:t>
                      </a:r>
                      <a:r>
                        <a:rPr lang="ja-JP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ja-JP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可拆卸清洗，可排空，合规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NA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符合</a:t>
                      </a:r>
                      <a:r>
                        <a:rPr lang="en-US" altLang="zh-CN" sz="900" dirty="0" smtClean="0">
                          <a:latin typeface="+mn-ea"/>
                          <a:ea typeface="+mn-ea"/>
                        </a:rPr>
                        <a:t>3D</a:t>
                      </a: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，最小死角设计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安装满足</a:t>
                      </a:r>
                      <a:r>
                        <a:rPr lang="en-US" altLang="zh-CN" sz="900" dirty="0" smtClean="0">
                          <a:latin typeface="+mn-ea"/>
                          <a:ea typeface="+mn-ea"/>
                        </a:rPr>
                        <a:t>3D</a:t>
                      </a: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要求，便于清洁，无死角</a:t>
                      </a: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 smtClean="0">
                          <a:latin typeface="+mn-ea"/>
                          <a:ea typeface="+mn-ea"/>
                        </a:rPr>
                        <a:t>N/A</a:t>
                      </a: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12321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latin typeface="+mn-ea"/>
                          <a:ea typeface="+mn-ea"/>
                        </a:rPr>
                        <a:t>Tank</a:t>
                      </a:r>
                      <a:endParaRPr lang="en-US" altLang="zh-CN" sz="900" dirty="0" smtClean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储罐 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latin typeface="+mn-ea"/>
                          <a:ea typeface="+mn-ea"/>
                        </a:rPr>
                        <a:t>316L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符合要求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符合要求，均为卡盘连接</a:t>
                      </a:r>
                      <a:endParaRPr lang="en-US" altLang="zh-CN" sz="90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符合要求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不符合，无试镜灯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符合要求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不符合，不满足</a:t>
                      </a:r>
                      <a:r>
                        <a:rPr lang="en-US" altLang="zh-CN" sz="900" dirty="0" smtClean="0">
                          <a:latin typeface="+mn-ea"/>
                          <a:ea typeface="+mn-ea"/>
                        </a:rPr>
                        <a:t>3D</a:t>
                      </a: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要求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不符合项</a:t>
                      </a: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需要将储罐整体更换为满足</a:t>
                      </a:r>
                      <a:r>
                        <a:rPr lang="en-US" altLang="zh-CN" sz="900" dirty="0" smtClean="0">
                          <a:latin typeface="+mn-ea"/>
                          <a:ea typeface="+mn-ea"/>
                        </a:rPr>
                        <a:t>BPE</a:t>
                      </a: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需求储罐</a:t>
                      </a:r>
                      <a:r>
                        <a:rPr lang="en-US" altLang="zh-CN" sz="900" dirty="0" smtClean="0">
                          <a:latin typeface="+mn-ea"/>
                          <a:ea typeface="+mn-ea"/>
                        </a:rPr>
                        <a:t>;</a:t>
                      </a:r>
                      <a:endParaRPr lang="en-US" altLang="zh-CN" sz="900" dirty="0" smtClean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物料单独进</a:t>
                      </a:r>
                      <a:r>
                        <a:rPr lang="en-US" altLang="zh-CN" sz="900" dirty="0" smtClean="0">
                          <a:latin typeface="+mn-ea"/>
                          <a:ea typeface="+mn-ea"/>
                        </a:rPr>
                        <a:t>;</a:t>
                      </a:r>
                      <a:endParaRPr lang="en-US" altLang="zh-CN" sz="900" dirty="0" smtClean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储罐增加在线</a:t>
                      </a:r>
                      <a:r>
                        <a:rPr lang="en-US" altLang="zh-CN" sz="900" dirty="0" smtClean="0">
                          <a:latin typeface="+mn-ea"/>
                          <a:ea typeface="+mn-ea"/>
                        </a:rPr>
                        <a:t>CIP</a:t>
                      </a: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清洗，满足清洁需求。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1153916">
                <a:tc vMerge="1"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  <a:p>
                      <a:pPr algn="ctr"/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  <a:p>
                      <a:pPr algn="ctr"/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  <a:p>
                      <a:pPr algn="ctr"/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vMerge="1">
                  <a:tcPr anchor="ctr"/>
                </a:tc>
              </a:tr>
              <a:tr h="625899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latin typeface="+mn-ea"/>
                          <a:ea typeface="+mn-ea"/>
                        </a:rPr>
                        <a:t>TFF</a:t>
                      </a:r>
                      <a:endParaRPr lang="en-US" altLang="zh-CN" sz="900" dirty="0" smtClean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超滤主体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latin typeface="+mn-ea"/>
                          <a:ea typeface="+mn-ea"/>
                        </a:rPr>
                        <a:t>316L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隔膜阀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符合要求，均为卡盘连接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符合要求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符合要求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符合要求</a:t>
                      </a: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符合要求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>
                          <a:latin typeface="+mn-ea"/>
                          <a:ea typeface="+mn-ea"/>
                        </a:rPr>
                        <a:t>N/A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1110123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 vMerge="1">
                  <a:tcPr/>
                </a:tc>
              </a:tr>
            </a:tbl>
          </a:graphicData>
        </a:graphic>
      </p:graphicFrame>
      <p:pic>
        <p:nvPicPr>
          <p:cNvPr id="11" name="图片 1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017005" y="2995374"/>
            <a:ext cx="900000" cy="1080000"/>
          </a:xfrm>
          <a:prstGeom prst="rect">
            <a:avLst/>
          </a:prstGeom>
        </p:spPr>
      </p:pic>
      <p:pic>
        <p:nvPicPr>
          <p:cNvPr id="12" name="图片 1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08219" y="4765409"/>
            <a:ext cx="900000" cy="1080000"/>
          </a:xfrm>
          <a:prstGeom prst="rect">
            <a:avLst/>
          </a:prstGeom>
        </p:spPr>
      </p:pic>
      <p:pic>
        <p:nvPicPr>
          <p:cNvPr id="13" name="图片 12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9410629" y="2995374"/>
            <a:ext cx="900000" cy="1080000"/>
          </a:xfrm>
          <a:prstGeom prst="rect">
            <a:avLst/>
          </a:prstGeom>
        </p:spPr>
      </p:pic>
      <p:pic>
        <p:nvPicPr>
          <p:cNvPr id="14" name="图片 13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9458107" y="4785278"/>
            <a:ext cx="900000" cy="1080000"/>
          </a:xfrm>
          <a:prstGeom prst="rect">
            <a:avLst/>
          </a:prstGeom>
        </p:spPr>
      </p:pic>
      <p:pic>
        <p:nvPicPr>
          <p:cNvPr id="18" name="图片 17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8236020" y="4785278"/>
            <a:ext cx="900000" cy="1080000"/>
          </a:xfrm>
          <a:prstGeom prst="rect">
            <a:avLst/>
          </a:prstGeom>
        </p:spPr>
      </p:pic>
      <p:pic>
        <p:nvPicPr>
          <p:cNvPr id="19" name="图片 18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5846122" y="4806834"/>
            <a:ext cx="900000" cy="1080000"/>
          </a:xfrm>
          <a:prstGeom prst="rect">
            <a:avLst/>
          </a:prstGeom>
        </p:spPr>
      </p:pic>
      <p:pic>
        <p:nvPicPr>
          <p:cNvPr id="20" name="图片 19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8236020" y="2995374"/>
            <a:ext cx="900000" cy="1080000"/>
          </a:xfrm>
          <a:prstGeom prst="rect">
            <a:avLst/>
          </a:prstGeom>
        </p:spPr>
      </p:pic>
      <p:pic>
        <p:nvPicPr>
          <p:cNvPr id="21" name="图片 2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2219958" y="3016920"/>
            <a:ext cx="900000" cy="1080000"/>
          </a:xfrm>
          <a:prstGeom prst="rect">
            <a:avLst/>
          </a:prstGeom>
        </p:spPr>
      </p:pic>
      <p:pic>
        <p:nvPicPr>
          <p:cNvPr id="24" name="图片 23"/>
          <p:cNvPicPr preferRelativeResize="0"/>
          <p:nvPr/>
        </p:nvPicPr>
        <p:blipFill rotWithShape="1">
          <a:blip r:embed="rId9"/>
          <a:srcRect l="-513" t="12323" r="15967" b="10020"/>
          <a:stretch>
            <a:fillRect/>
          </a:stretch>
        </p:blipFill>
        <p:spPr>
          <a:xfrm>
            <a:off x="2271241" y="4765409"/>
            <a:ext cx="900000" cy="1080000"/>
          </a:xfrm>
          <a:prstGeom prst="rect">
            <a:avLst/>
          </a:prstGeom>
        </p:spPr>
      </p:pic>
      <p:pic>
        <p:nvPicPr>
          <p:cNvPr id="25" name="图片 24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4602341" y="4773967"/>
            <a:ext cx="900000" cy="1080000"/>
          </a:xfrm>
          <a:prstGeom prst="rect">
            <a:avLst/>
          </a:prstGeom>
        </p:spPr>
      </p:pic>
      <p:pic>
        <p:nvPicPr>
          <p:cNvPr id="26" name="图片 25"/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3474540" y="4775344"/>
            <a:ext cx="900000" cy="1080000"/>
          </a:xfrm>
          <a:prstGeom prst="rect">
            <a:avLst/>
          </a:prstGeom>
        </p:spPr>
      </p:pic>
      <p:pic>
        <p:nvPicPr>
          <p:cNvPr id="3" name="图片 2"/>
          <p:cNvPicPr preferRelativeResize="0"/>
          <p:nvPr/>
        </p:nvPicPr>
        <p:blipFill>
          <a:blip r:embed="rId12"/>
          <a:stretch>
            <a:fillRect/>
          </a:stretch>
        </p:blipFill>
        <p:spPr>
          <a:xfrm>
            <a:off x="3455773" y="3016920"/>
            <a:ext cx="900000" cy="1080000"/>
          </a:xfrm>
          <a:prstGeom prst="rect">
            <a:avLst/>
          </a:prstGeom>
        </p:spPr>
      </p:pic>
      <p:pic>
        <p:nvPicPr>
          <p:cNvPr id="7" name="图片 6"/>
          <p:cNvPicPr preferRelativeResize="0"/>
          <p:nvPr/>
        </p:nvPicPr>
        <p:blipFill>
          <a:blip r:embed="rId13"/>
          <a:stretch>
            <a:fillRect/>
          </a:stretch>
        </p:blipFill>
        <p:spPr>
          <a:xfrm>
            <a:off x="5846122" y="3016920"/>
            <a:ext cx="900000" cy="1080000"/>
          </a:xfrm>
          <a:prstGeom prst="rect">
            <a:avLst/>
          </a:prstGeom>
        </p:spPr>
      </p:pic>
      <p:pic>
        <p:nvPicPr>
          <p:cNvPr id="8" name="图片 7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4608259" y="3016920"/>
            <a:ext cx="900000" cy="108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126672" y="923808"/>
          <a:ext cx="10001021" cy="51108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9537"/>
                <a:gridCol w="834016"/>
                <a:gridCol w="1032988"/>
                <a:gridCol w="1235491"/>
                <a:gridCol w="687294"/>
                <a:gridCol w="1227309"/>
                <a:gridCol w="940938"/>
                <a:gridCol w="1180906"/>
                <a:gridCol w="1111220"/>
                <a:gridCol w="971322"/>
              </a:tblGrid>
              <a:tr h="48783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项目</a:t>
                      </a:r>
                      <a:endParaRPr lang="zh-CN" altLang="en-US" sz="1200" b="1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+mn-ea"/>
                          <a:ea typeface="+mn-ea"/>
                        </a:rPr>
                        <a:t>材质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+mn-ea"/>
                          <a:ea typeface="+mn-ea"/>
                        </a:rPr>
                        <a:t>阀门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 smtClean="0">
                          <a:effectLst/>
                          <a:latin typeface="+mn-ea"/>
                          <a:ea typeface="+mn-ea"/>
                        </a:rPr>
                        <a:t>连接方式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管路标准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清洁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+mn-ea"/>
                          <a:ea typeface="+mn-ea"/>
                        </a:rPr>
                        <a:t>坡度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 smtClean="0">
                          <a:effectLst/>
                          <a:latin typeface="+mn-ea"/>
                          <a:ea typeface="+mn-ea"/>
                        </a:rPr>
                        <a:t>低点排</a:t>
                      </a:r>
                      <a:r>
                        <a:rPr lang="zh-CN" altLang="en-US" sz="1200" b="1" u="none" strike="noStrike" dirty="0">
                          <a:effectLst/>
                          <a:latin typeface="+mn-ea"/>
                          <a:ea typeface="+mn-ea"/>
                        </a:rPr>
                        <a:t>净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备注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</a:tr>
              <a:tr h="9838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 smtClean="0">
                          <a:effectLst/>
                          <a:latin typeface="+mn-ea"/>
                          <a:ea typeface="+mn-ea"/>
                        </a:rPr>
                        <a:t>C3</a:t>
                      </a:r>
                      <a:r>
                        <a:rPr lang="zh-CN" altLang="en-US" sz="900" b="1" u="none" strike="noStrike" dirty="0" smtClean="0">
                          <a:effectLst/>
                          <a:latin typeface="+mn-ea"/>
                          <a:ea typeface="+mn-ea"/>
                        </a:rPr>
                        <a:t>标准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不锈钢、合金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隔膜阀或其他可在位清洗阀门，禁止使用球阀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三夹快装接头（实体垫片密封）</a:t>
                      </a:r>
                      <a:endParaRPr lang="ja-JP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BPE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规格管材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管路可进行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CIP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清洗，使用３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减少残留死区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坡度大于</a:t>
                      </a:r>
                      <a:r>
                        <a:rPr lang="en-US" altLang="zh-CN" sz="900" dirty="0" smtClean="0">
                          <a:latin typeface="+mn-ea"/>
                          <a:ea typeface="+mn-ea"/>
                        </a:rPr>
                        <a:t>1%</a:t>
                      </a: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，实现完全排空</a:t>
                      </a:r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设置低点排放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</a:tr>
              <a:tr h="24818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Solvent Drum </a:t>
                      </a:r>
                      <a:endParaRPr lang="en-US" sz="9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zh-CN" sz="900" b="1" u="none" strike="noStrike" dirty="0" smtClean="0">
                          <a:effectLst/>
                          <a:latin typeface="+mn-ea"/>
                          <a:ea typeface="+mn-ea"/>
                        </a:rPr>
                        <a:t>→ </a:t>
                      </a:r>
                      <a:endParaRPr lang="en-US" altLang="zh-CN" sz="900" b="1" u="none" strike="noStrike" dirty="0" smtClean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zh-CN" sz="900" b="1" u="none" strike="noStrike" dirty="0" smtClean="0">
                          <a:effectLst/>
                          <a:latin typeface="+mn-ea"/>
                          <a:ea typeface="+mn-ea"/>
                        </a:rPr>
                        <a:t> TJ4S-1211-TFF02</a:t>
                      </a:r>
                      <a:endParaRPr lang="en-US" altLang="zh-CN" sz="900" b="1" u="none" strike="noStrike" dirty="0" smtClean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zh-CN" alt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乙腈</a:t>
                      </a:r>
                      <a:r>
                        <a:rPr lang="en-US" altLang="zh-CN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水管路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316L Stainless Steel/DN25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符合要求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符合，使用卡盘连接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不符合要求，管路需更换为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BPE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管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不符合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改造方案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符合要求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有低点排净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91886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  <a:p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  <a:p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使用符合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3D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的管路减少残留死角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24456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CNC-Solvent  </a:t>
                      </a:r>
                      <a:r>
                        <a:rPr lang="en-US" altLang="zh-CN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900" b="1" u="none" strike="noStrike" dirty="0" smtClean="0">
                          <a:effectLst/>
                          <a:latin typeface="+mn-ea"/>
                          <a:ea typeface="+mn-ea"/>
                        </a:rPr>
                        <a:t>→   </a:t>
                      </a:r>
                      <a:endParaRPr lang="en-US" altLang="zh-CN" sz="900" b="1" u="none" strike="noStrike" dirty="0" smtClean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TJ4S-1211-TFF02-T01</a:t>
                      </a:r>
                      <a:endParaRPr lang="en-US" sz="9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zh-CN" alt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甲醇管路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316L Stainless Steel/DN25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符合要求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符合，使用卡盘连接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不符合要求，管路需更换为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BPE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管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不符合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改造方案</a:t>
                      </a:r>
                      <a:endParaRPr lang="zh-CN" altLang="en-US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符合要求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有低点排净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965297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  <a:p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使用符合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3D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的管路减少残留死角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29700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TJ4S-1211-R02</a:t>
                      </a:r>
                      <a:endParaRPr lang="en-US" sz="9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zh-CN" sz="900" b="1" u="none" strike="noStrike" dirty="0" smtClean="0">
                          <a:effectLst/>
                          <a:latin typeface="+mn-ea"/>
                          <a:ea typeface="+mn-ea"/>
                        </a:rPr>
                        <a:t>→ </a:t>
                      </a:r>
                      <a:endParaRPr lang="en-US" altLang="zh-CN" sz="900" b="1" u="none" strike="noStrike" dirty="0" smtClean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TJ4S-1211-TFF02</a:t>
                      </a:r>
                      <a:endParaRPr lang="en-US" sz="9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zh-CN" alt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氢氧化钠管路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316L Stainless Steel/DN25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符合要求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符合，使用卡盘连接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不符合要求，管路需更换为</a:t>
                      </a: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BPE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管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不符合</a:t>
                      </a:r>
                      <a:endParaRPr lang="zh-CN" altLang="en-US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改造方案</a:t>
                      </a:r>
                      <a:endParaRPr lang="zh-CN" altLang="en-US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符合要求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有低点排净，符合要求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965297">
                <a:tc vMerge="1">
                  <a:tcPr marL="2691" marR="2691" marT="2691" marB="0" anchor="ctr"/>
                </a:tc>
                <a:tc vMerge="1"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更换过滤器，满足排净需求</a:t>
                      </a: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  <a:tc vMerge="1">
                  <a:tcPr/>
                </a:tc>
              </a:tr>
            </a:tbl>
          </a:graphicData>
        </a:graphic>
      </p:graphicFrame>
      <p:pic>
        <p:nvPicPr>
          <p:cNvPr id="3" name="图片 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941434" y="2660534"/>
            <a:ext cx="900000" cy="90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439" y="2646218"/>
            <a:ext cx="965174" cy="883869"/>
          </a:xfrm>
          <a:prstGeom prst="rect">
            <a:avLst/>
          </a:prstGeom>
        </p:spPr>
      </p:pic>
      <p:pic>
        <p:nvPicPr>
          <p:cNvPr id="9" name="图片 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896093" y="2660534"/>
            <a:ext cx="900000" cy="90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8068" y="5088312"/>
            <a:ext cx="751164" cy="835690"/>
          </a:xfrm>
          <a:prstGeom prst="rect">
            <a:avLst/>
          </a:prstGeom>
        </p:spPr>
      </p:pic>
      <p:pic>
        <p:nvPicPr>
          <p:cNvPr id="12" name="图片 11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247882" y="2646218"/>
            <a:ext cx="900000" cy="900000"/>
          </a:xfrm>
          <a:prstGeom prst="rect">
            <a:avLst/>
          </a:prstGeom>
        </p:spPr>
      </p:pic>
      <p:pic>
        <p:nvPicPr>
          <p:cNvPr id="13" name="图片 12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244191" y="3821920"/>
            <a:ext cx="900000" cy="900000"/>
          </a:xfrm>
          <a:prstGeom prst="rect">
            <a:avLst/>
          </a:prstGeom>
        </p:spPr>
      </p:pic>
      <p:pic>
        <p:nvPicPr>
          <p:cNvPr id="14" name="图片 13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8005412" y="2646219"/>
            <a:ext cx="900000" cy="900000"/>
          </a:xfrm>
          <a:prstGeom prst="rect">
            <a:avLst/>
          </a:prstGeom>
        </p:spPr>
      </p:pic>
      <p:pic>
        <p:nvPicPr>
          <p:cNvPr id="15" name="图片 14"/>
          <p:cNvPicPr preferRelativeResize="0"/>
          <p:nvPr/>
        </p:nvPicPr>
        <p:blipFill rotWithShape="1">
          <a:blip r:embed="rId9"/>
          <a:srcRect t="11985"/>
          <a:stretch>
            <a:fillRect/>
          </a:stretch>
        </p:blipFill>
        <p:spPr>
          <a:xfrm>
            <a:off x="8005412" y="5091740"/>
            <a:ext cx="900000" cy="900000"/>
          </a:xfrm>
          <a:prstGeom prst="rect">
            <a:avLst/>
          </a:prstGeom>
        </p:spPr>
      </p:pic>
      <p:pic>
        <p:nvPicPr>
          <p:cNvPr id="16" name="图片 15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8005412" y="3812738"/>
            <a:ext cx="900000" cy="9000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9645207" y="236765"/>
            <a:ext cx="2414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Category3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管路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要求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图片 18" descr="https://weboffice-zjk.docs.dingtalk.com/api/v3/office/copy/Qk9jbzFUNkJDZ05mWHhaV1BnN3BlWlE4M1ZOOXN6cXB1dW1KOGhmdTRrSGpMSUdOQ05NamZEalMwd0YyZ1lTQURydzBvalZJS0Z3aUtJZnl6NVF4Z2F1RWo2WlgwY05kQThNMG5VeW5WWFdqNi9FeWNJQW8yUUpIandDbkpzSmZpTVNueE1hL1JXMW1OMXo5SkZScG9CSDJBdFBIWTRnUFJHZDE4SVBDQys5aTJrdU9kT1ZRSEVhd09kRC9PQjNnK20zajhqVXEzYXJaWUpBR3VhTmV6VHdpdW5tMlhTR0p6OU9BV1RiL2pjNzJITFBMdXY5aDhMZ3RUbnlNSFp1eU1FQjNVb2trUDJjPQ==/attach/object/ac9e4adae7622284ef524de4879b5ca950e75b74?"/>
          <p:cNvPicPr preferRelativeResize="0">
            <a:picLocks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 rot="16200000">
            <a:off x="3941434" y="3830085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 descr="https://weboffice-zjk.docs.dingtalk.com/api/v3/office/copy/Qk9jbzFUNkJDZ05mWHhaV1BnN3BlWlE4M1ZOOXN6cXB1dW1KOGhmdTRrSGpMSUdOQ05NamZEalMwd0YyZ1lTQURydzBvalZJS0Z3aUtJZnl6NVF4Z2F1RWo2WlgwY05kQThNMG5VeW5WWFdqNi9FeWNJQW8yUUpIandDbkpzSmZpTVNueE1hL1JXMW1OMXo5SkZScG9CSDJBdFBIWTRnUFJHZDE4SVBDQys5aTJrdU9kT1ZRSEVhd09kRC9PQjNnK20zajhqVXEzYXJaWUpBR3VhTmV6VHdpdW5tMlhTR0p6OU9BV1RiL2pjNzJITFBMdXY5aDhMZ3RUbnlNSFp1eU1FQjNVb2trUDJjPQ==/attach/object/6293e19f6f6c4350d3b4eb212d8eae595ffcbf0b?"/>
          <p:cNvPicPr preferRelativeResize="0">
            <a:picLocks noChangeArrowheads="1"/>
          </p:cNvPicPr>
          <p:nvPr/>
        </p:nvPicPr>
        <p:blipFill rotWithShape="1">
          <a:blip r:embed="rId12"/>
          <a:srcRect r="16932"/>
          <a:stretch>
            <a:fillRect/>
          </a:stretch>
        </p:blipFill>
        <p:spPr bwMode="auto">
          <a:xfrm rot="5400000">
            <a:off x="3899390" y="5148333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图片 21"/>
          <p:cNvPicPr preferRelativeResize="0"/>
          <p:nvPr/>
        </p:nvPicPr>
        <p:blipFill rotWithShape="1">
          <a:blip r:embed="rId13"/>
          <a:srcRect t="12517" b="9524"/>
          <a:stretch>
            <a:fillRect/>
          </a:stretch>
        </p:blipFill>
        <p:spPr>
          <a:xfrm>
            <a:off x="2796439" y="3825003"/>
            <a:ext cx="900000" cy="900000"/>
          </a:xfrm>
          <a:prstGeom prst="rect">
            <a:avLst/>
          </a:prstGeom>
        </p:spPr>
      </p:pic>
      <p:pic>
        <p:nvPicPr>
          <p:cNvPr id="23" name="图片 22"/>
          <p:cNvPicPr preferRelativeResize="0"/>
          <p:nvPr/>
        </p:nvPicPr>
        <p:blipFill rotWithShape="1">
          <a:blip r:embed="rId14"/>
          <a:srcRect t="7357" b="12947"/>
          <a:stretch>
            <a:fillRect/>
          </a:stretch>
        </p:blipFill>
        <p:spPr>
          <a:xfrm>
            <a:off x="2818093" y="5134654"/>
            <a:ext cx="900000" cy="900000"/>
          </a:xfrm>
          <a:prstGeom prst="rect">
            <a:avLst/>
          </a:prstGeom>
        </p:spPr>
      </p:pic>
      <p:pic>
        <p:nvPicPr>
          <p:cNvPr id="24" name="图片 23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5896093" y="3860744"/>
            <a:ext cx="900000" cy="900000"/>
          </a:xfrm>
          <a:prstGeom prst="rect">
            <a:avLst/>
          </a:prstGeom>
        </p:spPr>
      </p:pic>
      <p:pic>
        <p:nvPicPr>
          <p:cNvPr id="25" name="图片 24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896093" y="5073552"/>
            <a:ext cx="900000" cy="9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555171" y="1102178"/>
          <a:ext cx="11225894" cy="5388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9664"/>
                <a:gridCol w="679533"/>
                <a:gridCol w="888011"/>
                <a:gridCol w="914400"/>
                <a:gridCol w="947057"/>
                <a:gridCol w="1020535"/>
                <a:gridCol w="742950"/>
                <a:gridCol w="980188"/>
                <a:gridCol w="1079918"/>
                <a:gridCol w="1195234"/>
                <a:gridCol w="1195234"/>
                <a:gridCol w="1003170"/>
              </a:tblGrid>
              <a:tr h="68784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项目</a:t>
                      </a:r>
                      <a:endParaRPr lang="zh-CN" altLang="en-US" sz="12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+mn-lt"/>
                        </a:rPr>
                        <a:t>材质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+mn-lt"/>
                        </a:rPr>
                        <a:t>阀门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 smtClean="0">
                          <a:effectLst/>
                          <a:latin typeface="+mn-lt"/>
                        </a:rPr>
                        <a:t>连接方式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charset="-122"/>
                        </a:rPr>
                        <a:t>管路标准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charset="-122"/>
                        </a:rPr>
                        <a:t>清洁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+mn-lt"/>
                        </a:rPr>
                        <a:t>坡度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charset="-122"/>
                        </a:rPr>
                        <a:t>流量计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 smtClean="0">
                          <a:effectLst/>
                          <a:latin typeface="+mn-lt"/>
                        </a:rPr>
                        <a:t>低点排</a:t>
                      </a:r>
                      <a:r>
                        <a:rPr lang="zh-CN" altLang="en-US" sz="1200" b="1" u="none" strike="noStrike" dirty="0">
                          <a:effectLst/>
                          <a:latin typeface="+mn-lt"/>
                        </a:rPr>
                        <a:t>净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charset="-122"/>
                        </a:rPr>
                        <a:t>备注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</a:tr>
              <a:tr h="12493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u="none" strike="noStrike" dirty="0" smtClean="0">
                          <a:effectLst/>
                          <a:latin typeface="+mn-ea"/>
                          <a:ea typeface="+mn-ea"/>
                        </a:rPr>
                        <a:t>C4</a:t>
                      </a:r>
                      <a:r>
                        <a:rPr lang="zh-CN" altLang="en-US" sz="900" b="1" u="none" strike="noStrike" dirty="0" smtClean="0">
                          <a:effectLst/>
                          <a:latin typeface="+mn-ea"/>
                          <a:ea typeface="+mn-ea"/>
                        </a:rPr>
                        <a:t>标准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不锈钢、合金材质，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BPE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隔膜阀或其他可在位清洗阀门，禁止使用球阀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三夹快装接头</a:t>
                      </a:r>
                      <a:r>
                        <a:rPr lang="ja-JP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zh-CN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实体垫片密封</a:t>
                      </a:r>
                      <a:r>
                        <a:rPr lang="ja-JP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ja-JP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BPE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管路可进行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CIP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清洗，使用３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减少残留该死区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坡度大于</a:t>
                      </a: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1%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，实现完全排空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无不可排净的流量计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设置低点排放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2691" marR="2691" marT="2691" marB="0" anchor="ctr"/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管路材质为</a:t>
                      </a: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BPE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，符合要求</a:t>
                      </a:r>
                      <a:endParaRPr lang="en-US" altLang="zh-CN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endParaRPr lang="en-US" altLang="zh-CN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endParaRPr lang="en-US" altLang="zh-CN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zh-CN" altLang="en-US" sz="900" b="1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详情见附件</a:t>
                      </a:r>
                      <a:endParaRPr lang="zh-CN" altLang="en-US" sz="9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</a:tr>
              <a:tr h="28216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TJ4S-1211-HPPC03-AT03  </a:t>
                      </a:r>
                      <a:endParaRPr lang="en-US" sz="9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zh-CN" sz="900" b="1" u="none" strike="noStrike" dirty="0" smtClean="0">
                          <a:effectLst/>
                          <a:latin typeface="+mn-ea"/>
                          <a:ea typeface="+mn-ea"/>
                        </a:rPr>
                        <a:t>→ </a:t>
                      </a:r>
                      <a:endParaRPr lang="en-US" altLang="zh-CN" sz="900" b="1" u="none" strike="noStrike" dirty="0" smtClean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zh-CN" sz="900" b="1" u="none" strike="noStrike" dirty="0" smtClean="0">
                          <a:effectLst/>
                          <a:latin typeface="+mn-ea"/>
                          <a:ea typeface="+mn-ea"/>
                        </a:rPr>
                        <a:t> TJ4S-1211-TFF02-T01</a:t>
                      </a:r>
                      <a:endParaRPr lang="en-US" altLang="zh-CN" sz="900" b="1" u="none" strike="noStrike" dirty="0" smtClean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zh-CN" alt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制备组分加入储罐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符合要求，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BPE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符合，使用隔膜阀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符合，使用卡盘连接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符合要求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不符合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改造方案</a:t>
                      </a:r>
                      <a:endParaRPr lang="zh-CN" altLang="en-US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符合要求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符合，流量计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竖直安装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符合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改造方案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1091547">
                <a:tc vMerge="1">
                  <a:tcPr/>
                </a:tc>
                <a:tc vMerge="1"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改造管路满足</a:t>
                      </a:r>
                      <a:r>
                        <a:rPr lang="en-US" altLang="zh-CN" sz="900" dirty="0" smtClean="0">
                          <a:latin typeface="+mn-ea"/>
                          <a:ea typeface="+mn-ea"/>
                        </a:rPr>
                        <a:t>3D</a:t>
                      </a: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标准，使用</a:t>
                      </a:r>
                      <a:r>
                        <a:rPr lang="en-US" altLang="zh-CN" sz="900" dirty="0" smtClean="0">
                          <a:latin typeface="+mn-ea"/>
                          <a:ea typeface="+mn-ea"/>
                        </a:rPr>
                        <a:t>CIP</a:t>
                      </a: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进行在线清洁</a:t>
                      </a: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  <a:p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N/A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41171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TJ4S-1211-TFF02-T01  </a:t>
                      </a:r>
                      <a:r>
                        <a:rPr lang="en-US" altLang="zh-CN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900" b="1" u="none" strike="noStrike" dirty="0" smtClean="0">
                          <a:effectLst/>
                          <a:latin typeface="+mn-ea"/>
                          <a:ea typeface="+mn-ea"/>
                        </a:rPr>
                        <a:t>→   </a:t>
                      </a:r>
                      <a:endParaRPr lang="en-US" altLang="zh-CN" sz="900" b="1" u="none" strike="noStrike" dirty="0" smtClean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TJ4S-1211-TFF02</a:t>
                      </a:r>
                      <a:endParaRPr lang="en-US" sz="9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zh-CN" alt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甲醇和制备组分加入超滤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符合要求，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BPE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符合，使用隔膜阀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符合，使用卡盘连接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符合要求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不符合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改造方案</a:t>
                      </a: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符合要求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改造方案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不符合，管路无低点排净，过滤器无低点排净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改造方案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1664152">
                <a:tc vMerge="1">
                  <a:tcPr/>
                </a:tc>
                <a:tc vMerge="1"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改造管路满足</a:t>
                      </a:r>
                      <a:r>
                        <a:rPr lang="en-US" altLang="zh-CN" sz="900" dirty="0" smtClean="0">
                          <a:latin typeface="+mn-ea"/>
                          <a:ea typeface="+mn-ea"/>
                        </a:rPr>
                        <a:t>3D</a:t>
                      </a: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标准，使用</a:t>
                      </a:r>
                      <a:r>
                        <a:rPr lang="en-US" altLang="zh-CN" sz="900" dirty="0" smtClean="0">
                          <a:latin typeface="+mn-ea"/>
                          <a:ea typeface="+mn-ea"/>
                        </a:rPr>
                        <a:t>CIP</a:t>
                      </a:r>
                      <a:r>
                        <a:rPr lang="zh-CN" altLang="en-US" sz="900" dirty="0" smtClean="0">
                          <a:latin typeface="+mn-ea"/>
                          <a:ea typeface="+mn-ea"/>
                        </a:rPr>
                        <a:t>进行在线清洁</a:t>
                      </a: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N/A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增加低点排净口；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过滤器增加进液排净口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</a:tbl>
          </a:graphicData>
        </a:graphic>
      </p:graphicFrame>
      <p:pic>
        <p:nvPicPr>
          <p:cNvPr id="22" name="图片 21"/>
          <p:cNvPicPr/>
          <p:nvPr/>
        </p:nvPicPr>
        <p:blipFill>
          <a:blip r:embed="rId2"/>
          <a:stretch>
            <a:fillRect/>
          </a:stretch>
        </p:blipFill>
        <p:spPr>
          <a:xfrm>
            <a:off x="2712003" y="3484834"/>
            <a:ext cx="889775" cy="624689"/>
          </a:xfrm>
          <a:prstGeom prst="rect">
            <a:avLst/>
          </a:prstGeom>
        </p:spPr>
      </p:pic>
      <p:pic>
        <p:nvPicPr>
          <p:cNvPr id="23" name="ID_7056E3DE993849B097D73D71306A319B" descr="upload_post_object_v2_9946852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709" y="5034917"/>
            <a:ext cx="901613" cy="692573"/>
          </a:xfrm>
          <a:prstGeom prst="rect">
            <a:avLst/>
          </a:prstGeom>
        </p:spPr>
      </p:pic>
      <p:pic>
        <p:nvPicPr>
          <p:cNvPr id="24" name="图片 23"/>
          <p:cNvPicPr/>
          <p:nvPr/>
        </p:nvPicPr>
        <p:blipFill>
          <a:blip r:embed="rId4"/>
          <a:stretch>
            <a:fillRect/>
          </a:stretch>
        </p:blipFill>
        <p:spPr>
          <a:xfrm>
            <a:off x="1815242" y="3463876"/>
            <a:ext cx="855445" cy="624689"/>
          </a:xfrm>
          <a:prstGeom prst="rect">
            <a:avLst/>
          </a:prstGeom>
        </p:spPr>
      </p:pic>
      <p:pic>
        <p:nvPicPr>
          <p:cNvPr id="25" name="ID_52347A3A78B044F786719B78E7A0D051" descr="upload_post_object_v2_370093976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5242" y="5046963"/>
            <a:ext cx="855445" cy="697657"/>
          </a:xfrm>
          <a:prstGeom prst="rect">
            <a:avLst/>
          </a:prstGeom>
        </p:spPr>
      </p:pic>
      <p:pic>
        <p:nvPicPr>
          <p:cNvPr id="29" name="图片 28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7468587" y="3502772"/>
            <a:ext cx="864000" cy="648000"/>
          </a:xfrm>
          <a:prstGeom prst="rect">
            <a:avLst/>
          </a:prstGeom>
        </p:spPr>
      </p:pic>
      <p:pic>
        <p:nvPicPr>
          <p:cNvPr id="30" name="图片 29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8539126" y="3489896"/>
            <a:ext cx="864000" cy="648000"/>
          </a:xfrm>
          <a:prstGeom prst="rect">
            <a:avLst/>
          </a:prstGeom>
        </p:spPr>
      </p:pic>
      <p:pic>
        <p:nvPicPr>
          <p:cNvPr id="31" name="ID_EBE94E2721F440F7953A9930A6612DC2" descr="upload_post_object_v2_3206436686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8567509" y="5693499"/>
            <a:ext cx="864000" cy="648000"/>
          </a:xfrm>
          <a:prstGeom prst="rect">
            <a:avLst/>
          </a:prstGeom>
        </p:spPr>
      </p:pic>
      <p:pic>
        <p:nvPicPr>
          <p:cNvPr id="32" name="ID_B21277D4E7644EC19A1FBF04659F3E2E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8545731" y="5017787"/>
            <a:ext cx="864000" cy="64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7567" y="3485686"/>
            <a:ext cx="879520" cy="623837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9588058" y="302077"/>
            <a:ext cx="2414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Category4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管路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要求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图片 18"/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2746047" y="3489896"/>
            <a:ext cx="864000" cy="648000"/>
          </a:xfrm>
          <a:prstGeom prst="rect">
            <a:avLst/>
          </a:prstGeom>
        </p:spPr>
      </p:pic>
      <p:pic>
        <p:nvPicPr>
          <p:cNvPr id="20" name="ID_7056E3DE993849B097D73D71306A319B" descr="upload_post_object_v2_994685274"/>
          <p:cNvPicPr preferRelativeResize="0"/>
          <p:nvPr/>
        </p:nvPicPr>
        <p:blipFill>
          <a:blip r:embed="rId12"/>
          <a:stretch>
            <a:fillRect/>
          </a:stretch>
        </p:blipFill>
        <p:spPr>
          <a:xfrm>
            <a:off x="2703038" y="5052004"/>
            <a:ext cx="864000" cy="648000"/>
          </a:xfrm>
          <a:prstGeom prst="rect">
            <a:avLst/>
          </a:prstGeom>
        </p:spPr>
      </p:pic>
      <p:pic>
        <p:nvPicPr>
          <p:cNvPr id="21" name="图片 20"/>
          <p:cNvPicPr preferRelativeResize="0"/>
          <p:nvPr/>
        </p:nvPicPr>
        <p:blipFill>
          <a:blip r:embed="rId13"/>
          <a:stretch>
            <a:fillRect/>
          </a:stretch>
        </p:blipFill>
        <p:spPr>
          <a:xfrm>
            <a:off x="1831570" y="3480962"/>
            <a:ext cx="864000" cy="648000"/>
          </a:xfrm>
          <a:prstGeom prst="rect">
            <a:avLst/>
          </a:prstGeom>
        </p:spPr>
      </p:pic>
      <p:pic>
        <p:nvPicPr>
          <p:cNvPr id="33" name="ID_52347A3A78B044F786719B78E7A0D051" descr="upload_post_object_v2_3700939767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1810964" y="5045499"/>
            <a:ext cx="864000" cy="648000"/>
          </a:xfrm>
          <a:prstGeom prst="rect">
            <a:avLst/>
          </a:prstGeom>
        </p:spPr>
      </p:pic>
      <p:pic>
        <p:nvPicPr>
          <p:cNvPr id="34" name="ID_63A1A211A4FB4BE3ABC66FEC16AA1969" descr="upload_post_object_v2_2086610487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3638873" y="5045499"/>
            <a:ext cx="864000" cy="648000"/>
          </a:xfrm>
          <a:prstGeom prst="rect">
            <a:avLst/>
          </a:prstGeom>
        </p:spPr>
      </p:pic>
      <p:pic>
        <p:nvPicPr>
          <p:cNvPr id="35" name="图片 34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4645511" y="3489896"/>
            <a:ext cx="864000" cy="648000"/>
          </a:xfrm>
          <a:prstGeom prst="rect">
            <a:avLst/>
          </a:prstGeom>
        </p:spPr>
      </p:pic>
      <p:pic>
        <p:nvPicPr>
          <p:cNvPr id="36" name="ID_B21277D4E7644EC19A1FBF04659F3E2E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4607058" y="5052004"/>
            <a:ext cx="864000" cy="648000"/>
          </a:xfrm>
          <a:prstGeom prst="rect">
            <a:avLst/>
          </a:prstGeom>
        </p:spPr>
      </p:pic>
      <p:pic>
        <p:nvPicPr>
          <p:cNvPr id="37" name="图片 36"/>
          <p:cNvPicPr preferRelativeResize="0"/>
          <p:nvPr/>
        </p:nvPicPr>
        <p:blipFill>
          <a:blip r:embed="rId16"/>
          <a:stretch>
            <a:fillRect/>
          </a:stretch>
        </p:blipFill>
        <p:spPr>
          <a:xfrm>
            <a:off x="6398048" y="3502772"/>
            <a:ext cx="864000" cy="648000"/>
          </a:xfrm>
          <a:prstGeom prst="rect">
            <a:avLst/>
          </a:prstGeom>
        </p:spPr>
      </p:pic>
      <p:pic>
        <p:nvPicPr>
          <p:cNvPr id="38" name="图片 37"/>
          <p:cNvPicPr preferRelativeResize="0"/>
          <p:nvPr/>
        </p:nvPicPr>
        <p:blipFill>
          <a:blip r:embed="rId17"/>
          <a:stretch>
            <a:fillRect/>
          </a:stretch>
        </p:blipFill>
        <p:spPr>
          <a:xfrm>
            <a:off x="6398048" y="5064050"/>
            <a:ext cx="864000" cy="648000"/>
          </a:xfrm>
          <a:prstGeom prst="rect">
            <a:avLst/>
          </a:prstGeom>
        </p:spPr>
      </p:pic>
      <p:pic>
        <p:nvPicPr>
          <p:cNvPr id="39" name="图片 38"/>
          <p:cNvPicPr preferRelativeResize="0"/>
          <p:nvPr/>
        </p:nvPicPr>
        <p:blipFill>
          <a:blip r:embed="rId18"/>
          <a:stretch>
            <a:fillRect/>
          </a:stretch>
        </p:blipFill>
        <p:spPr>
          <a:xfrm>
            <a:off x="3683896" y="3502772"/>
            <a:ext cx="864000" cy="64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3848</Words>
  <Application>WPS Presentation</Application>
  <PresentationFormat>宽屏</PresentationFormat>
  <Paragraphs>598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宋体</vt:lpstr>
      <vt:lpstr>Wingdings</vt:lpstr>
      <vt:lpstr>等线</vt:lpstr>
      <vt:lpstr>Arial</vt:lpstr>
      <vt:lpstr>Calibri</vt:lpstr>
      <vt:lpstr>微软雅黑</vt:lpstr>
      <vt:lpstr>Impact</vt:lpstr>
      <vt:lpstr>Times New Roman</vt:lpstr>
      <vt:lpstr>Arial Unicode MS</vt:lpstr>
      <vt:lpstr>等线 Light</vt:lpstr>
      <vt:lpstr>Yu Gothic</vt:lpstr>
      <vt:lpstr>MS PGothic</vt:lpstr>
      <vt:lpstr>Office 主题​​</vt:lpstr>
      <vt:lpstr>ZWCAD.Drawing.2020</vt:lpstr>
      <vt:lpstr>ZWCAD.Drawing.2020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Qixuan Bu17334</dc:creator>
  <cp:lastModifiedBy>李涛</cp:lastModifiedBy>
  <cp:revision>266</cp:revision>
  <dcterms:created xsi:type="dcterms:W3CDTF">2026-08-11T10:09:00Z</dcterms:created>
  <dcterms:modified xsi:type="dcterms:W3CDTF">2026-10-08T09:37:37Z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0DCB919A02A34C62ABF594452A88776B_12</vt:lpwstr>
  </property>
  <property fmtid="{D5CDD505-2E9C-101B-9397-08002B2CF9AE}" pid="3" name="KSOProductBuildVer">
    <vt:lpwstr>1033-12.1.0.28485</vt:lpwstr>
  </property>
</Properties>
</file>