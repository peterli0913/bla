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5" r:id="rId3"/>
    <p:sldId id="286" r:id="rId4"/>
    <p:sldId id="310" r:id="rId5"/>
    <p:sldId id="304" r:id="rId6"/>
    <p:sldId id="305" r:id="rId7"/>
    <p:sldId id="307" r:id="rId8"/>
    <p:sldId id="308" r:id="rId9"/>
    <p:sldId id="30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xuan Bu17334" initials="Q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5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DE29-530B-4A92-B559-3A8E328F45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AFF6D-188D-41AE-B623-A5FDCCC46D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emf"/><Relationship Id="rId4" Type="http://schemas.openxmlformats.org/officeDocument/2006/relationships/slideLayout" Target="../slideLayouts/slideLayout1.xml"/><Relationship Id="rId5" Type="http://schemas.openxmlformats.org/officeDocument/2006/relationships/vmlDrawing" Target="../drawings/vmlDrawing1.v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oleObject" Target="../embeddings/oleObject2.bin"/><Relationship Id="rId3" Type="http://schemas.openxmlformats.org/officeDocument/2006/relationships/image" Target="../media/image5.emf"/><Relationship Id="rId4" Type="http://schemas.openxmlformats.org/officeDocument/2006/relationships/slideLayout" Target="../slideLayouts/slideLayout1.xml"/><Relationship Id="rId5" Type="http://schemas.openxmlformats.org/officeDocument/2006/relationships/vmlDrawing" Target="../drawings/vmlDrawing2.v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jpe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jpeg"/><Relationship Id="rId14" Type="http://schemas.openxmlformats.org/officeDocument/2006/relationships/image" Target="../media/image18.jpeg"/><Relationship Id="rId15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jpe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33.jpeg"/><Relationship Id="rId3" Type="http://schemas.openxmlformats.org/officeDocument/2006/relationships/image" Target="../media/image34.jpeg"/><Relationship Id="rId4" Type="http://schemas.openxmlformats.org/officeDocument/2006/relationships/image" Target="../media/image35.jpeg"/><Relationship Id="rId5" Type="http://schemas.openxmlformats.org/officeDocument/2006/relationships/image" Target="../media/image36.jpeg"/><Relationship Id="rId6" Type="http://schemas.openxmlformats.org/officeDocument/2006/relationships/image" Target="../media/image37.png"/><Relationship Id="rId7" Type="http://schemas.openxmlformats.org/officeDocument/2006/relationships/image" Target="../media/image38.jpeg"/><Relationship Id="rId8" Type="http://schemas.openxmlformats.org/officeDocument/2006/relationships/image" Target="../media/image39.jpeg"/><Relationship Id="rId9" Type="http://schemas.openxmlformats.org/officeDocument/2006/relationships/image" Target="../media/image40.jpeg"/><Relationship Id="rId10" Type="http://schemas.openxmlformats.org/officeDocument/2006/relationships/image" Target="../media/image41.jpeg"/><Relationship Id="rId11" Type="http://schemas.openxmlformats.org/officeDocument/2006/relationships/image" Target="../media/image42.jpeg"/><Relationship Id="rId12" Type="http://schemas.openxmlformats.org/officeDocument/2006/relationships/image" Target="../media/image43.jpeg"/><Relationship Id="rId13" Type="http://schemas.openxmlformats.org/officeDocument/2006/relationships/image" Target="../media/image44.jpeg"/><Relationship Id="rId14" Type="http://schemas.openxmlformats.org/officeDocument/2006/relationships/image" Target="../media/image45.jpeg"/><Relationship Id="rId15" Type="http://schemas.openxmlformats.org/officeDocument/2006/relationships/image" Target="../media/image46.jpeg"/><Relationship Id="rId16" Type="http://schemas.openxmlformats.org/officeDocument/2006/relationships/image" Target="../media/image47.png"/><Relationship Id="rId17" Type="http://schemas.openxmlformats.org/officeDocument/2006/relationships/image" Target="../media/image48.jpeg"/><Relationship Id="rId18" Type="http://schemas.openxmlformats.org/officeDocument/2006/relationships/image" Target="../media/image49.jpeg"/><Relationship Id="rId19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3467" y="1282335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6" name="图片 11" descr="333"/>
          <p:cNvPicPr>
            <a:picLocks noChangeAspect="1"/>
          </p:cNvPicPr>
          <p:nvPr/>
        </p:nvPicPr>
        <p:blipFill>
          <a:blip r:embed="rId1"/>
          <a:srcRect l="2396" r="3197" b="-1489"/>
          <a:stretch>
            <a:fillRect/>
          </a:stretch>
        </p:blipFill>
        <p:spPr>
          <a:xfrm>
            <a:off x="-1" y="3926127"/>
            <a:ext cx="12192000" cy="2364598"/>
          </a:xfrm>
          <a:prstGeom prst="rect">
            <a:avLst/>
          </a:prstGeom>
          <a:noFill/>
          <a:ln w="9525">
            <a:noFill/>
          </a:ln>
          <a:effectLst>
            <a:outerShdw dist="50800" dir="5400000" algn="ctr" rotWithShape="0">
              <a:srgbClr val="000000">
                <a:alpha val="0"/>
              </a:srgbClr>
            </a:outerShdw>
            <a:softEdge rad="0"/>
          </a:effectLst>
        </p:spPr>
      </p:pic>
      <p:pic>
        <p:nvPicPr>
          <p:cNvPr id="17" name="图片 1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19" y="456302"/>
            <a:ext cx="2663161" cy="4825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Rectangle 111"/>
          <p:cNvSpPr txBox="1"/>
          <p:nvPr/>
        </p:nvSpPr>
        <p:spPr>
          <a:xfrm>
            <a:off x="0" y="5970399"/>
            <a:ext cx="12192000" cy="496996"/>
          </a:xfrm>
          <a:prstGeom prst="rect">
            <a:avLst/>
          </a:prstGeom>
          <a:solidFill>
            <a:srgbClr val="7EB2E6"/>
          </a:solidFill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Green Chemistry is the Future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2F5A9E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+mn-cs"/>
              <a:sym typeface="Arial" panose="020B0604020202020204"/>
            </a:endParaRPr>
          </a:p>
        </p:txBody>
      </p:sp>
      <p:sp>
        <p:nvSpPr>
          <p:cNvPr id="19" name="Rectangle 111"/>
          <p:cNvSpPr txBox="1"/>
          <p:nvPr/>
        </p:nvSpPr>
        <p:spPr>
          <a:xfrm>
            <a:off x="1714500" y="6376451"/>
            <a:ext cx="8763000" cy="456535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EB2E6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www.asymchem.com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7EB2E6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Stock Code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EB2E6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: 002821.SZ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7EB2E6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+mn-cs"/>
              <a:sym typeface="Arial" panose="020B0604020202020204"/>
            </a:endParaRP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15344" y="2059759"/>
            <a:ext cx="1207665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Impact" panose="020B0806030902050204" pitchFamily="34" charset="0"/>
              </a:rPr>
              <a:t>Gap Identification – TFF</a:t>
            </a:r>
            <a:endParaRPr kumimoji="0" lang="en-US" sz="5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Impact" panose="020B080603090205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10514" y="354668"/>
            <a:ext cx="5298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z="1800">
                <a:latin typeface="Times New Roman"/>
                <a:ea typeface="Times New Roman"/>
                <a:cs typeface="Times New Roman"/>
              </a:rPr>
              <a:t>Category 3 Piping and Equipment Requirements</a:t>
            </a:r>
            <a:endParaRPr lang="en-US" b="1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20435" y="1036865"/>
          <a:ext cx="11692163" cy="54486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2368"/>
                <a:gridCol w="9179795"/>
              </a:tblGrid>
              <a:tr h="2365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Category 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1905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Standard Item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Description / Guidance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59521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Lines, Connections, Components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Tri-clamp connections (solid gasket seal)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ASME BPE tubing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59521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Ball valves: not permitted in systems at risk of residue, as material trapped behind the ball is a hazard; ball valves may be used for isolation in solvent systems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MOC: stainless steel, high alloy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42491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Follow ASME BPE; if another sanitary standard is used, its acceptability must be assessed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Tanks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Material: stainless steel or high alloy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Internal surface finish: NMT 25 µin Ra, i.e. 0.63 µm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Tri-clamp connections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18922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Minimize the projection length of nozzles on tank heads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59521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Cleaning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Applies to buffer systems: solvent media, not growth-promoting, no product build-up, no routine cleaning required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42491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Minimize dead legs; where a dead leg exists, it must have a path for cleaning, changeover and draining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42491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 ○ Assess dead legs against the BPE 2 L/D criterion; they must be flushable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 ○ Very small dead legs are acceptable where the system is always liquid-full in normal operation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42491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Tanks and large non-piping components require a spray coverage test to support flushing / changeover; cleaning validation not required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Surface Finish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Internal surface finish: NMT 25 µin Ra or 0.63 µm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18922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Internal weld inspection: smooth internal weld surface, no dead spots for product hold-up</a:t>
                      </a:r>
                      <a:endParaRPr lang="en-US" sz="1000" b="0" u="none" strike="noStrike" kern="1200">
                        <a:solidFill>
                          <a:schemeClr val="dk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Line Slope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Line slope not mandatory, but the system must be designed to be drainable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18922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Provide low-point drains as needed to ensure effective flushing and changeover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Documentation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Full set of ASME weld documentation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6898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Elastomers in contact with product or process materials (solvents, buffers, etc.) require compliance documents: FDA 21 CFR or USP Class VI material certificates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10514" y="387325"/>
            <a:ext cx="5298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z="1800">
                <a:latin typeface="Times New Roman"/>
                <a:ea typeface="Times New Roman"/>
                <a:cs typeface="Times New Roman"/>
              </a:rPr>
              <a:t>Category 4 Piping and Equipment Requirements</a:t>
            </a:r>
            <a:endParaRPr lang="en-US" b="1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20436" y="1028703"/>
          <a:ext cx="11673268" cy="5422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1467"/>
                <a:gridCol w="9581801"/>
              </a:tblGrid>
              <a:tr h="2479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Category 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964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Standard Item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Description / Guidance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354512"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Lines, Connections, Components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Tri-clamp connections (solid gasket seal)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ASME BPE tubing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Diaphragm valves or other clean-in-place valves; ball valves prohibited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337721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Minimum dead-leg fittings (zero-static valves, integrated aseptic GMP valves, instrument tees, etc.)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MOC: stainless steel, alloy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337721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Follow ASME BPE; where another sanitary standard is used, its acceptability must be assessed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Tanks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Material: stainless steel or alloy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Internal surface finish: NMT 25 µin Ra / 0.63 µm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Tri-clamp, NovAseptic or equivalent aseptic connections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233984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Minimize nozzle length on tank heads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Cleaning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Product-contact tanks and piping require cleaning validation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 ○ Higher cleaning frequency and more rigorous cleaning inspection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501916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 ○ Per guidance, establish clean / dirty hold times and perform bioburden sampling; the system must be fully drainable and flushable, leaving no substrate for microbial growth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501916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Tanks and large non-piping components requiring cleaning validation must pass a spray coverage test (e.g. AFD dust filter, discharge chute, product glovebox) so that cleaning validation is reproducible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Surface Finish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Internal surface finish: NMT 25 µin Ra or 0.63 µm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86586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Internal weld inspection: smooth internal surface, no dead spots for product hold-up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865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Line Slope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Line slope mandatory to ensure the piping system is fully drainable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Documentation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Enhanced weld documentation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Line slope drawings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Weld maps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86586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Elastomer material certificates (FDA 21 CFR compliant)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565069" y="138793"/>
            <a:ext cx="4447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Times New Roman"/>
                <a:ea typeface="Times New Roman"/>
                <a:cs typeface="Times New Roman"/>
              </a:rPr>
              <a:t>P&amp;ID before Retrofit – Tank Section</a:t>
            </a:r>
            <a:endParaRPr lang="en-US" sz="2000" b="1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-2038798" y="0"/>
          <a:ext cx="14230798" cy="7649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ZWCAD Drawing" r:id="rId2" imgW="11421745" imgH="5117465" progId="ZWCAD.Drawing.2020">
                  <p:embed/>
                </p:oleObj>
              </mc:Choice>
              <mc:Fallback>
                <p:oleObj name="ZWCAD Drawing" r:id="rId2" imgW="11421745" imgH="5117465" progId="ZWCAD.Drawing.2020">
                  <p:embed/>
                  <p:pic>
                    <p:nvPicPr>
                      <p:cNvPr id="0" name="Picture 107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2038798" y="0"/>
                        <a:ext cx="14230798" cy="7649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EN retrofit notes"/>
          <p:cNvSpPr/>
          <p:nvPr/>
        </p:nvSpPr>
        <p:spPr>
          <a:xfrm>
            <a:off x="8940800" y="942340"/>
            <a:ext cx="3200400" cy="19278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5400" rIns="25400" tIns="0" bIns="0"/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1. Replace the tank with a BPE-compliant tank;</a:t>
            </a:r>
          </a:p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2. Replace the DP level transmitter with a radar level transmitter;</a:t>
            </a:r>
          </a:p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3. Feed each material through a separate inlet;</a:t>
            </a:r>
          </a:p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4. Remove the pressure gauge root valve;</a:t>
            </a:r>
          </a:p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5. Add in-line CIP cleaning to the tank;</a:t>
            </a:r>
          </a:p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6. Change the dip-tube thermometer to bottom-outlet measurement;</a:t>
            </a:r>
          </a:p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7. Modify the tank bottom outlet valve.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748036" y="138793"/>
            <a:ext cx="4264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Times New Roman"/>
                <a:ea typeface="Times New Roman"/>
                <a:cs typeface="Times New Roman"/>
              </a:rPr>
              <a:t>P&amp;ID after Retrofit – Tank Section</a:t>
            </a:r>
            <a:endParaRPr lang="en-US" sz="2000" b="1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-1996580" y="-369236"/>
          <a:ext cx="15729732" cy="7934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name="ZWCAD Drawing" r:id="rId2" imgW="11767820" imgH="6014720" progId="ZWCAD.Drawing.2020">
                  <p:embed/>
                </p:oleObj>
              </mc:Choice>
              <mc:Fallback>
                <p:oleObj name="ZWCAD Drawing" r:id="rId2" imgW="11767820" imgH="6014720" progId="ZWCAD.Drawing.2020">
                  <p:embed/>
                  <p:pic>
                    <p:nvPicPr>
                      <p:cNvPr id="0" name="Picture 209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996580" y="-369236"/>
                        <a:ext cx="15729732" cy="7934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EN retrofit notes"/>
          <p:cNvSpPr/>
          <p:nvPr/>
        </p:nvSpPr>
        <p:spPr>
          <a:xfrm>
            <a:off x="8750300" y="990600"/>
            <a:ext cx="33909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5400" rIns="25400" tIns="0" bIns="0"/>
          <a:lstStyle/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1. Replace the tank with a BPE-compliant tank;</a:t>
            </a:r>
          </a:p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2. Replace the DP level transmitter with a radar level transmitter;</a:t>
            </a:r>
          </a:p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3. Feed each material through a separate inlet;</a:t>
            </a:r>
          </a:p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4. Remove the pressure gauge root valve;</a:t>
            </a:r>
          </a:p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5. Add in-line CIP cleaning to the tank;</a:t>
            </a:r>
          </a:p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6. Change the dip-tube thermometer to bottom-outlet measurement;</a:t>
            </a:r>
          </a:p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7. Modify the tank bottom outlet valve.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165277" y="261255"/>
            <a:ext cx="38127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Times New Roman"/>
                <a:ea typeface="Times New Roman"/>
                <a:cs typeface="Times New Roman"/>
              </a:rPr>
              <a:t>Category 4 Tank Requirements</a:t>
            </a:r>
            <a:endParaRPr lang="en-US" sz="2000" b="1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92016" y="889899"/>
          <a:ext cx="10799244" cy="4996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916"/>
                <a:gridCol w="1199916"/>
                <a:gridCol w="1199916"/>
                <a:gridCol w="1199916"/>
                <a:gridCol w="1199916"/>
                <a:gridCol w="1199916"/>
                <a:gridCol w="1199916"/>
                <a:gridCol w="1199916"/>
                <a:gridCol w="1199916"/>
              </a:tblGrid>
              <a:tr h="66947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Item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Material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Valves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Connection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Cleaning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Lighting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Tee Dead Legs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Instruments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Remarks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2459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C4 Standard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316L stainless steel or alloy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Diaphragm valve or other clean-in-place valve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Tri-clamp connections (solid gasket seal)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Removable for cleaning, drainable, 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NA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3D compliant, minimum dead-leg design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Installed to meet 3D, easy to clean, no dead legs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12321"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Tank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316L</a:t>
                      </a:r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Compliant, all clamp connections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Non-compliant, no sight-glass light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Non-compliant, does not meet 3D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</a:rPr>
                        <a:t>Non-compliance:</a:t>
                      </a:r>
                      <a:endParaRPr lang="en-US" sz="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</a:rPr>
                        <a:t>Replace the entire tank with a BPE-compliant tank;</a:t>
                      </a:r>
                      <a:endParaRPr lang="en-US" sz="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</a:rPr>
                        <a:t>Separate inlet for each material;</a:t>
                      </a:r>
                      <a:endParaRPr lang="en-US" sz="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</a:rPr>
                        <a:t>Add in-line CIP to the tank to meet cleaning needs.</a:t>
                      </a:r>
                      <a:endParaRPr lang="en-US" sz="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1153916">
                <a:tc v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vMerge="1">
                  <a:tcPr anchor="ctr"/>
                </a:tc>
              </a:tr>
              <a:tr h="625899"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TFF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TFF Skid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316L</a:t>
                      </a:r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Diaphragm valves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Compliant, all clamp connections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1110123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 vMerge="1">
                  <a:tcPr/>
                </a:tc>
              </a:tr>
            </a:tbl>
          </a:graphicData>
        </a:graphic>
      </p:graphicFrame>
      <p:pic>
        <p:nvPicPr>
          <p:cNvPr id="11" name="图片 1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017005" y="2995374"/>
            <a:ext cx="900000" cy="1080000"/>
          </a:xfrm>
          <a:prstGeom prst="rect">
            <a:avLst/>
          </a:prstGeom>
        </p:spPr>
      </p:pic>
      <p:pic>
        <p:nvPicPr>
          <p:cNvPr id="12" name="图片 1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08219" y="4765409"/>
            <a:ext cx="900000" cy="1080000"/>
          </a:xfrm>
          <a:prstGeom prst="rect">
            <a:avLst/>
          </a:prstGeom>
        </p:spPr>
      </p:pic>
      <p:pic>
        <p:nvPicPr>
          <p:cNvPr id="13" name="图片 1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9410629" y="2995374"/>
            <a:ext cx="900000" cy="1080000"/>
          </a:xfrm>
          <a:prstGeom prst="rect">
            <a:avLst/>
          </a:prstGeom>
        </p:spPr>
      </p:pic>
      <p:pic>
        <p:nvPicPr>
          <p:cNvPr id="14" name="图片 1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458107" y="4785278"/>
            <a:ext cx="900000" cy="1080000"/>
          </a:xfrm>
          <a:prstGeom prst="rect">
            <a:avLst/>
          </a:prstGeom>
        </p:spPr>
      </p:pic>
      <p:pic>
        <p:nvPicPr>
          <p:cNvPr id="18" name="图片 17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8236020" y="4785278"/>
            <a:ext cx="900000" cy="1080000"/>
          </a:xfrm>
          <a:prstGeom prst="rect">
            <a:avLst/>
          </a:prstGeom>
        </p:spPr>
      </p:pic>
      <p:pic>
        <p:nvPicPr>
          <p:cNvPr id="19" name="图片 18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846122" y="4806834"/>
            <a:ext cx="900000" cy="1080000"/>
          </a:xfrm>
          <a:prstGeom prst="rect">
            <a:avLst/>
          </a:prstGeom>
        </p:spPr>
      </p:pic>
      <p:pic>
        <p:nvPicPr>
          <p:cNvPr id="20" name="图片 19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8236020" y="2995374"/>
            <a:ext cx="900000" cy="1080000"/>
          </a:xfrm>
          <a:prstGeom prst="rect">
            <a:avLst/>
          </a:prstGeom>
        </p:spPr>
      </p:pic>
      <p:pic>
        <p:nvPicPr>
          <p:cNvPr id="21" name="图片 2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2219958" y="3016920"/>
            <a:ext cx="900000" cy="1080000"/>
          </a:xfrm>
          <a:prstGeom prst="rect">
            <a:avLst/>
          </a:prstGeom>
        </p:spPr>
      </p:pic>
      <p:pic>
        <p:nvPicPr>
          <p:cNvPr id="24" name="图片 23"/>
          <p:cNvPicPr preferRelativeResize="0"/>
          <p:nvPr/>
        </p:nvPicPr>
        <p:blipFill rotWithShape="1">
          <a:blip r:embed="rId9"/>
          <a:srcRect l="-513" t="12323" r="15967" b="10020"/>
          <a:stretch>
            <a:fillRect/>
          </a:stretch>
        </p:blipFill>
        <p:spPr>
          <a:xfrm>
            <a:off x="2271241" y="4765409"/>
            <a:ext cx="900000" cy="1080000"/>
          </a:xfrm>
          <a:prstGeom prst="rect">
            <a:avLst/>
          </a:prstGeom>
        </p:spPr>
      </p:pic>
      <p:pic>
        <p:nvPicPr>
          <p:cNvPr id="25" name="图片 24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4602341" y="4773967"/>
            <a:ext cx="900000" cy="1080000"/>
          </a:xfrm>
          <a:prstGeom prst="rect">
            <a:avLst/>
          </a:prstGeom>
        </p:spPr>
      </p:pic>
      <p:pic>
        <p:nvPicPr>
          <p:cNvPr id="26" name="图片 25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3474540" y="4775344"/>
            <a:ext cx="900000" cy="1080000"/>
          </a:xfrm>
          <a:prstGeom prst="rect">
            <a:avLst/>
          </a:prstGeom>
        </p:spPr>
      </p:pic>
      <p:pic>
        <p:nvPicPr>
          <p:cNvPr id="3" name="图片 2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3455773" y="3016920"/>
            <a:ext cx="900000" cy="1080000"/>
          </a:xfrm>
          <a:prstGeom prst="rect">
            <a:avLst/>
          </a:prstGeom>
        </p:spPr>
      </p:pic>
      <p:pic>
        <p:nvPicPr>
          <p:cNvPr id="7" name="图片 6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5846122" y="3016920"/>
            <a:ext cx="900000" cy="1080000"/>
          </a:xfrm>
          <a:prstGeom prst="rect">
            <a:avLst/>
          </a:prstGeom>
        </p:spPr>
      </p:pic>
      <p:pic>
        <p:nvPicPr>
          <p:cNvPr id="8" name="图片 7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4608259" y="3016920"/>
            <a:ext cx="900000" cy="10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26672" y="923808"/>
          <a:ext cx="10001021" cy="51108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9537"/>
                <a:gridCol w="834016"/>
                <a:gridCol w="1032988"/>
                <a:gridCol w="1235491"/>
                <a:gridCol w="687294"/>
                <a:gridCol w="1227309"/>
                <a:gridCol w="940938"/>
                <a:gridCol w="1180906"/>
                <a:gridCol w="1111220"/>
                <a:gridCol w="971322"/>
              </a:tblGrid>
              <a:tr h="48783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1" u="none" strike="noStrike" kern="1200">
                          <a:solidFill>
                            <a:schemeClr val="dk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Item</a:t>
                      </a:r>
                      <a:endParaRPr lang="en-US" sz="1200" b="1" u="none" strike="noStrike" kern="1200">
                        <a:solidFill>
                          <a:schemeClr val="dk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Material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Valves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Connection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Piping Standard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Cleaning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Slope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Low-Point Drain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Remarks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</a:tr>
              <a:tr h="983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C3 Standard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Stainless steel, alloy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Diaphragm valves or other clean-in-place valves; ball valves prohibited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Tri-clamp connections (solid gasket seal)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BPE tubing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Piping can be CIP-cleaned; 3D design to minimize residual dead legs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Slope &gt; 1%, fully drainable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Low-point drains provided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</a:tr>
              <a:tr h="24818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Solvent Drum 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→ </a:t>
                      </a:r>
                      <a:endParaRPr lang="en-US" sz="9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TJ4S-1211-TFF02</a:t>
                      </a:r>
                      <a:endParaRPr lang="en-US" sz="9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ACN / Water Line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316L Stainless Steel/DN25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clamp joints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Non-compliant; replace with BPE tubing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Has low-point drain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91886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Use 3D-compliant piping to minimize residual dead legs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24456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CNC-Solvent   →    </a:t>
                      </a:r>
                      <a:endParaRPr lang="en-US" sz="9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TJ4S-1211-TFF02-T01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Methanol Line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</a:rPr>
                        <a:t>316L Stainless Steel/DN25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clamp joints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Non-compliant; replace with BPE tubing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Has low-point drain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965297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Use 3D-compliant piping to minimize residual dead legs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2970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TJ4S-1211-R02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→ </a:t>
                      </a:r>
                      <a:endParaRPr lang="en-US" sz="9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TJ4S-1211-TFF02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NaOH Line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</a:rPr>
                        <a:t>316L Stainless Steel/DN25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clamp joints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Non-compliant; replace with BPE tubing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Has low-point drain, compliant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965297">
                <a:tc vMerge="1">
                  <a:tcPr marL="2691" marR="2691" marT="2691" marB="0" anchor="ctr"/>
                </a:tc>
                <a:tc vMerge="1"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Replace filter to meet drainage requirement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 vMerge="1">
                  <a:tcPr/>
                </a:tc>
              </a:tr>
            </a:tbl>
          </a:graphicData>
        </a:graphic>
      </p:graphicFrame>
      <p:pic>
        <p:nvPicPr>
          <p:cNvPr id="3" name="图片 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941434" y="2660534"/>
            <a:ext cx="900000" cy="90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439" y="2646218"/>
            <a:ext cx="965174" cy="883869"/>
          </a:xfrm>
          <a:prstGeom prst="rect">
            <a:avLst/>
          </a:prstGeom>
        </p:spPr>
      </p:pic>
      <p:pic>
        <p:nvPicPr>
          <p:cNvPr id="9" name="图片 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896093" y="2660534"/>
            <a:ext cx="900000" cy="90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068" y="5088312"/>
            <a:ext cx="751164" cy="835690"/>
          </a:xfrm>
          <a:prstGeom prst="rect">
            <a:avLst/>
          </a:prstGeom>
        </p:spPr>
      </p:pic>
      <p:pic>
        <p:nvPicPr>
          <p:cNvPr id="12" name="图片 1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247882" y="2646218"/>
            <a:ext cx="900000" cy="900000"/>
          </a:xfrm>
          <a:prstGeom prst="rect">
            <a:avLst/>
          </a:prstGeom>
        </p:spPr>
      </p:pic>
      <p:pic>
        <p:nvPicPr>
          <p:cNvPr id="13" name="图片 12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244191" y="3821920"/>
            <a:ext cx="900000" cy="900000"/>
          </a:xfrm>
          <a:prstGeom prst="rect">
            <a:avLst/>
          </a:prstGeom>
        </p:spPr>
      </p:pic>
      <p:pic>
        <p:nvPicPr>
          <p:cNvPr id="14" name="图片 13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8005412" y="2646219"/>
            <a:ext cx="900000" cy="900000"/>
          </a:xfrm>
          <a:prstGeom prst="rect">
            <a:avLst/>
          </a:prstGeom>
        </p:spPr>
      </p:pic>
      <p:pic>
        <p:nvPicPr>
          <p:cNvPr id="15" name="图片 14"/>
          <p:cNvPicPr preferRelativeResize="0"/>
          <p:nvPr/>
        </p:nvPicPr>
        <p:blipFill rotWithShape="1">
          <a:blip r:embed="rId9"/>
          <a:srcRect t="11985"/>
          <a:stretch>
            <a:fillRect/>
          </a:stretch>
        </p:blipFill>
        <p:spPr>
          <a:xfrm>
            <a:off x="8005412" y="5091740"/>
            <a:ext cx="900000" cy="900000"/>
          </a:xfrm>
          <a:prstGeom prst="rect">
            <a:avLst/>
          </a:prstGeom>
        </p:spPr>
      </p:pic>
      <p:pic>
        <p:nvPicPr>
          <p:cNvPr id="16" name="图片 15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8005412" y="3812738"/>
            <a:ext cx="900000" cy="9000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079759" y="236765"/>
            <a:ext cx="3979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Times New Roman"/>
                <a:ea typeface="Times New Roman"/>
                <a:cs typeface="Times New Roman"/>
              </a:rPr>
              <a:t>Category 3 Piping Requirements</a:t>
            </a:r>
            <a:endParaRPr lang="en-US" sz="2000"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图片 18" descr="https://weboffice-zjk.docs.dingtalk.com/api/v3/office/copy/Qk9jbzFUNkJDZ05mWHhaV1BnN3BlWlE4M1ZOOXN6cXB1dW1KOGhmdTRrSGpMSUdOQ05NamZEalMwd0YyZ1lTQURydzBvalZJS0Z3aUtJZnl6NVF4Z2F1RWo2WlgwY05kQThNMG5VeW5WWFdqNi9FeWNJQW8yUUpIandDbkpzSmZpTVNueE1hL1JXMW1OMXo5SkZScG9CSDJBdFBIWTRnUFJHZDE4SVBDQys5aTJrdU9kT1ZRSEVhd09kRC9PQjNnK20zajhqVXEzYXJaWUpBR3VhTmV6VHdpdW5tMlhTR0p6OU9BV1RiL2pjNzJITFBMdXY5aDhMZ3RUbnlNSFp1eU1FQjNVb2trUDJjPQ==/attach/object/ac9e4adae7622284ef524de4879b5ca950e75b74?"/>
          <p:cNvPicPr preferRelativeResize="0">
            <a:picLocks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 rot="16200000">
            <a:off x="3941434" y="383008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 descr="https://weboffice-zjk.docs.dingtalk.com/api/v3/office/copy/Qk9jbzFUNkJDZ05mWHhaV1BnN3BlWlE4M1ZOOXN6cXB1dW1KOGhmdTRrSGpMSUdOQ05NamZEalMwd0YyZ1lTQURydzBvalZJS0Z3aUtJZnl6NVF4Z2F1RWo2WlgwY05kQThNMG5VeW5WWFdqNi9FeWNJQW8yUUpIandDbkpzSmZpTVNueE1hL1JXMW1OMXo5SkZScG9CSDJBdFBIWTRnUFJHZDE4SVBDQys5aTJrdU9kT1ZRSEVhd09kRC9PQjNnK20zajhqVXEzYXJaWUpBR3VhTmV6VHdpdW5tMlhTR0p6OU9BV1RiL2pjNzJITFBMdXY5aDhMZ3RUbnlNSFp1eU1FQjNVb2trUDJjPQ==/attach/object/6293e19f6f6c4350d3b4eb212d8eae595ffcbf0b?"/>
          <p:cNvPicPr preferRelativeResize="0">
            <a:picLocks noChangeArrowheads="1"/>
          </p:cNvPicPr>
          <p:nvPr/>
        </p:nvPicPr>
        <p:blipFill rotWithShape="1">
          <a:blip r:embed="rId12"/>
          <a:srcRect r="16932"/>
          <a:stretch>
            <a:fillRect/>
          </a:stretch>
        </p:blipFill>
        <p:spPr bwMode="auto">
          <a:xfrm rot="5400000">
            <a:off x="3899390" y="5148333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/>
          <p:cNvPicPr preferRelativeResize="0"/>
          <p:nvPr/>
        </p:nvPicPr>
        <p:blipFill rotWithShape="1">
          <a:blip r:embed="rId13"/>
          <a:srcRect t="12517" b="9524"/>
          <a:stretch>
            <a:fillRect/>
          </a:stretch>
        </p:blipFill>
        <p:spPr>
          <a:xfrm>
            <a:off x="2796439" y="3825003"/>
            <a:ext cx="900000" cy="900000"/>
          </a:xfrm>
          <a:prstGeom prst="rect">
            <a:avLst/>
          </a:prstGeom>
        </p:spPr>
      </p:pic>
      <p:pic>
        <p:nvPicPr>
          <p:cNvPr id="23" name="图片 22"/>
          <p:cNvPicPr preferRelativeResize="0"/>
          <p:nvPr/>
        </p:nvPicPr>
        <p:blipFill rotWithShape="1">
          <a:blip r:embed="rId14"/>
          <a:srcRect t="7357" b="12947"/>
          <a:stretch>
            <a:fillRect/>
          </a:stretch>
        </p:blipFill>
        <p:spPr>
          <a:xfrm>
            <a:off x="2818093" y="5134654"/>
            <a:ext cx="900000" cy="900000"/>
          </a:xfrm>
          <a:prstGeom prst="rect">
            <a:avLst/>
          </a:prstGeom>
        </p:spPr>
      </p:pic>
      <p:pic>
        <p:nvPicPr>
          <p:cNvPr id="24" name="图片 23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5896093" y="3860744"/>
            <a:ext cx="900000" cy="900000"/>
          </a:xfrm>
          <a:prstGeom prst="rect">
            <a:avLst/>
          </a:prstGeom>
        </p:spPr>
      </p:pic>
      <p:pic>
        <p:nvPicPr>
          <p:cNvPr id="25" name="图片 24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896093" y="5073552"/>
            <a:ext cx="900000" cy="9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55171" y="1102178"/>
          <a:ext cx="11225894" cy="5388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9664"/>
                <a:gridCol w="679533"/>
                <a:gridCol w="888011"/>
                <a:gridCol w="914400"/>
                <a:gridCol w="947057"/>
                <a:gridCol w="1020535"/>
                <a:gridCol w="742950"/>
                <a:gridCol w="980188"/>
                <a:gridCol w="1079918"/>
                <a:gridCol w="1195234"/>
                <a:gridCol w="1195234"/>
                <a:gridCol w="1003170"/>
              </a:tblGrid>
              <a:tr h="68784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1" u="none" strike="noStrike" kern="1200">
                          <a:solidFill>
                            <a:schemeClr val="dk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Item</a:t>
                      </a:r>
                      <a:endParaRPr lang="en-US" sz="1200" b="1" u="none" strike="noStrike" kern="1200">
                        <a:solidFill>
                          <a:schemeClr val="dk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Material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Valves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Connection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Piping Standard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Cleaning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Slope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Flowmeter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Low-Point Drain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Remarks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</a:tr>
              <a:tr h="12493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C4 Standard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Stainless steel or alloy, BPE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Diaphragm valves or other clean-in-place valves; ball valves prohibited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Tri-clamp connections (solid gasket seal)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BPE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Piping can be CIP-cleaned; 3D design to minimize residual dead legs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Slope &gt; 1%, fully drainable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 non-drainable flowmeters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Low-point drains provided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91" marR="2691" marT="2691" marB="0" anchor="ctr"/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1. Piping material is BPE, compliant;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sz="900" b="1" i="0" u="none" strike="noStrike" kern="1200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See attachment for details</a:t>
                      </a:r>
                      <a:endParaRPr lang="en-US" sz="900" b="1" i="0" u="none" strike="noStrike" kern="120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</a:tr>
              <a:tr h="2821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TJ4S-1211-HPPC03-AT03   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→ </a:t>
                      </a:r>
                      <a:endParaRPr lang="en-US" sz="9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TJ4S-1211-TFF02-T01</a:t>
                      </a:r>
                      <a:endParaRPr lang="en-US" sz="9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Prep Fraction Feed to Tank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BPE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diaphragm valves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clamp joints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flowmeter installed vertically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1091547">
                <a:tc vMerge="1">
                  <a:tcPr/>
                </a:tc>
                <a:tc vMerge="1"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Retrofitted piping meets 3D; cleaned in place by CIP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41171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TJ4S-1211-TFF02-T01   →    </a:t>
                      </a:r>
                      <a:endParaRPr lang="en-US" sz="9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TJ4S-1211-TFF02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Methanol and Prep Fraction Feed to TFF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BPE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diaphragm valves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clamp joints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Non-compliant: no low-point drain on piping or filter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1664152">
                <a:tc vMerge="1">
                  <a:tcPr/>
                </a:tc>
                <a:tc vMerge="1"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Retrofitted piping meets 3D; cleaned in place by CIP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Add a low-point drain;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Add an inlet drain to the filter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</a:tbl>
          </a:graphicData>
        </a:graphic>
      </p:graphicFrame>
      <p:pic>
        <p:nvPicPr>
          <p:cNvPr id="22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2712003" y="3484834"/>
            <a:ext cx="889775" cy="624689"/>
          </a:xfrm>
          <a:prstGeom prst="rect">
            <a:avLst/>
          </a:prstGeom>
        </p:spPr>
      </p:pic>
      <p:pic>
        <p:nvPicPr>
          <p:cNvPr id="23" name="ID_7056E3DE993849B097D73D71306A319B" descr="upload_post_object_v2_9946852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709" y="5034917"/>
            <a:ext cx="901613" cy="692573"/>
          </a:xfrm>
          <a:prstGeom prst="rect">
            <a:avLst/>
          </a:prstGeom>
        </p:spPr>
      </p:pic>
      <p:pic>
        <p:nvPicPr>
          <p:cNvPr id="24" name="图片 23"/>
          <p:cNvPicPr/>
          <p:nvPr/>
        </p:nvPicPr>
        <p:blipFill>
          <a:blip r:embed="rId4"/>
          <a:stretch>
            <a:fillRect/>
          </a:stretch>
        </p:blipFill>
        <p:spPr>
          <a:xfrm>
            <a:off x="1815242" y="3463876"/>
            <a:ext cx="855445" cy="624689"/>
          </a:xfrm>
          <a:prstGeom prst="rect">
            <a:avLst/>
          </a:prstGeom>
        </p:spPr>
      </p:pic>
      <p:pic>
        <p:nvPicPr>
          <p:cNvPr id="25" name="ID_52347A3A78B044F786719B78E7A0D051" descr="upload_post_object_v2_37009397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242" y="5046963"/>
            <a:ext cx="855445" cy="697657"/>
          </a:xfrm>
          <a:prstGeom prst="rect">
            <a:avLst/>
          </a:prstGeom>
        </p:spPr>
      </p:pic>
      <p:pic>
        <p:nvPicPr>
          <p:cNvPr id="29" name="图片 28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468587" y="3502772"/>
            <a:ext cx="864000" cy="648000"/>
          </a:xfrm>
          <a:prstGeom prst="rect">
            <a:avLst/>
          </a:prstGeom>
        </p:spPr>
      </p:pic>
      <p:pic>
        <p:nvPicPr>
          <p:cNvPr id="30" name="图片 29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8539126" y="3489896"/>
            <a:ext cx="864000" cy="648000"/>
          </a:xfrm>
          <a:prstGeom prst="rect">
            <a:avLst/>
          </a:prstGeom>
        </p:spPr>
      </p:pic>
      <p:pic>
        <p:nvPicPr>
          <p:cNvPr id="31" name="ID_EBE94E2721F440F7953A9930A6612DC2" descr="upload_post_object_v2_3206436686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8567509" y="5693499"/>
            <a:ext cx="864000" cy="648000"/>
          </a:xfrm>
          <a:prstGeom prst="rect">
            <a:avLst/>
          </a:prstGeom>
        </p:spPr>
      </p:pic>
      <p:pic>
        <p:nvPicPr>
          <p:cNvPr id="32" name="ID_B21277D4E7644EC19A1FBF04659F3E2E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8545731" y="5017787"/>
            <a:ext cx="864000" cy="64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7567" y="3485686"/>
            <a:ext cx="879520" cy="623837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022610" y="302077"/>
            <a:ext cx="3979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Times New Roman"/>
                <a:ea typeface="Times New Roman"/>
                <a:cs typeface="Times New Roman"/>
              </a:rPr>
              <a:t>Category 4 Piping Requirements</a:t>
            </a:r>
            <a:endParaRPr lang="en-US" sz="2000"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图片 18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2746047" y="3489896"/>
            <a:ext cx="864000" cy="648000"/>
          </a:xfrm>
          <a:prstGeom prst="rect">
            <a:avLst/>
          </a:prstGeom>
        </p:spPr>
      </p:pic>
      <p:pic>
        <p:nvPicPr>
          <p:cNvPr id="20" name="ID_7056E3DE993849B097D73D71306A319B" descr="upload_post_object_v2_994685274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2703038" y="5052004"/>
            <a:ext cx="864000" cy="648000"/>
          </a:xfrm>
          <a:prstGeom prst="rect">
            <a:avLst/>
          </a:prstGeom>
        </p:spPr>
      </p:pic>
      <p:pic>
        <p:nvPicPr>
          <p:cNvPr id="21" name="图片 20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1831570" y="3480962"/>
            <a:ext cx="864000" cy="648000"/>
          </a:xfrm>
          <a:prstGeom prst="rect">
            <a:avLst/>
          </a:prstGeom>
        </p:spPr>
      </p:pic>
      <p:pic>
        <p:nvPicPr>
          <p:cNvPr id="33" name="ID_52347A3A78B044F786719B78E7A0D051" descr="upload_post_object_v2_3700939767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1810964" y="5045499"/>
            <a:ext cx="864000" cy="648000"/>
          </a:xfrm>
          <a:prstGeom prst="rect">
            <a:avLst/>
          </a:prstGeom>
        </p:spPr>
      </p:pic>
      <p:pic>
        <p:nvPicPr>
          <p:cNvPr id="34" name="ID_63A1A211A4FB4BE3ABC66FEC16AA1969" descr="upload_post_object_v2_2086610487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3638873" y="5045499"/>
            <a:ext cx="864000" cy="648000"/>
          </a:xfrm>
          <a:prstGeom prst="rect">
            <a:avLst/>
          </a:prstGeom>
        </p:spPr>
      </p:pic>
      <p:pic>
        <p:nvPicPr>
          <p:cNvPr id="35" name="图片 34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645511" y="3489896"/>
            <a:ext cx="864000" cy="648000"/>
          </a:xfrm>
          <a:prstGeom prst="rect">
            <a:avLst/>
          </a:prstGeom>
        </p:spPr>
      </p:pic>
      <p:pic>
        <p:nvPicPr>
          <p:cNvPr id="36" name="ID_B21277D4E7644EC19A1FBF04659F3E2E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4607058" y="5052004"/>
            <a:ext cx="864000" cy="648000"/>
          </a:xfrm>
          <a:prstGeom prst="rect">
            <a:avLst/>
          </a:prstGeom>
        </p:spPr>
      </p:pic>
      <p:pic>
        <p:nvPicPr>
          <p:cNvPr id="37" name="图片 36"/>
          <p:cNvPicPr preferRelativeResize="0"/>
          <p:nvPr/>
        </p:nvPicPr>
        <p:blipFill>
          <a:blip r:embed="rId16"/>
          <a:stretch>
            <a:fillRect/>
          </a:stretch>
        </p:blipFill>
        <p:spPr>
          <a:xfrm>
            <a:off x="6398048" y="3502772"/>
            <a:ext cx="864000" cy="648000"/>
          </a:xfrm>
          <a:prstGeom prst="rect">
            <a:avLst/>
          </a:prstGeom>
        </p:spPr>
      </p:pic>
      <p:pic>
        <p:nvPicPr>
          <p:cNvPr id="38" name="图片 37"/>
          <p:cNvPicPr preferRelativeResize="0"/>
          <p:nvPr/>
        </p:nvPicPr>
        <p:blipFill>
          <a:blip r:embed="rId17"/>
          <a:stretch>
            <a:fillRect/>
          </a:stretch>
        </p:blipFill>
        <p:spPr>
          <a:xfrm>
            <a:off x="6398048" y="5064050"/>
            <a:ext cx="864000" cy="648000"/>
          </a:xfrm>
          <a:prstGeom prst="rect">
            <a:avLst/>
          </a:prstGeom>
        </p:spPr>
      </p:pic>
      <p:pic>
        <p:nvPicPr>
          <p:cNvPr id="39" name="图片 38"/>
          <p:cNvPicPr preferRelativeResize="0"/>
          <p:nvPr/>
        </p:nvPicPr>
        <p:blipFill>
          <a:blip r:embed="rId18"/>
          <a:stretch>
            <a:fillRect/>
          </a:stretch>
        </p:blipFill>
        <p:spPr>
          <a:xfrm>
            <a:off x="3683896" y="3502772"/>
            <a:ext cx="864000" cy="64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3848</Words>
  <Application>WPS Presentation</Application>
  <PresentationFormat>宽屏</PresentationFormat>
  <Paragraphs>598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等线</vt:lpstr>
      <vt:lpstr>Arial</vt:lpstr>
      <vt:lpstr>Calibri</vt:lpstr>
      <vt:lpstr>微软雅黑</vt:lpstr>
      <vt:lpstr>Impact</vt:lpstr>
      <vt:lpstr>Times New Roman</vt:lpstr>
      <vt:lpstr>Arial Unicode MS</vt:lpstr>
      <vt:lpstr>等线 Light</vt:lpstr>
      <vt:lpstr>Yu Gothic</vt:lpstr>
      <vt:lpstr>MS PGothic</vt:lpstr>
      <vt:lpstr>Office 主题​​</vt:lpstr>
      <vt:lpstr>ZWCAD.Drawing.2020</vt:lpstr>
      <vt:lpstr>ZWCAD.Drawing.2020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Qixuan Bu17334</dc:creator>
  <cp:lastModifiedBy>李涛</cp:lastModifiedBy>
  <cp:revision>266</cp:revision>
  <dcterms:created xsi:type="dcterms:W3CDTF">2026-08-11T10:09:00Z</dcterms:created>
  <dcterms:modified xsi:type="dcterms:W3CDTF">2026-10-08T09:37:37Z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0DCB919A02A34C62ABF594452A88776B_12</vt:lpwstr>
  </property>
  <property fmtid="{D5CDD505-2E9C-101B-9397-08002B2CF9AE}" pid="3" name="KSOProductBuildVer">
    <vt:lpwstr>1033-12.1.0.28485</vt:lpwstr>
  </property>
</Properties>
</file>