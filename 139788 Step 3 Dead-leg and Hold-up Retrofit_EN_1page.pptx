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46304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2332"/>
                </a:solidFill>
                <a:latin typeface="DejaVu Sans"/>
                <a:ea typeface="DejaVu Sans"/>
                <a:cs typeface="DejaVu Sans"/>
              </a:rPr>
              <a:t>139788 Step 3 — Dead-leg and hold-up retrofit</a:t>
            </a:r>
            <a:endParaRPr sz="2000" b="1">
              <a:solidFill>
                <a:srgbClr val="1A233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59536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Demo: Option 1    Pre-PPQ and PPQ: Option 2    Commercial: Option 3</a:t>
            </a:r>
            <a:endParaRPr sz="1200" b="0">
              <a:solidFill>
                <a:srgbClr val="5D6D7E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804672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606040"/>
                <a:gridCol w="2880360"/>
                <a:gridCol w="2880360"/>
                <a:gridCol w="1051560"/>
                <a:gridCol w="141732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</a:t>
                      </a:r>
                      <a:endParaRPr sz="12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it covers</a:t>
                      </a:r>
                      <a:endParaRPr sz="12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 risk</a:t>
                      </a:r>
                      <a:endParaRPr sz="12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Mitigation</a:t>
                      </a:r>
                      <a:endParaRPr sz="12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mitigation</a:t>
                      </a:r>
                      <a:endParaRPr sz="12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Due</a:t>
                      </a:r>
                      <a:endParaRPr sz="12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  <a:endParaRPr sz="16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2D8B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833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Dead legs outside the 2D/3D criterion, diaphragm valves that are not self-draining, and non-BPE piping stay in place.</a:t>
                      </a:r>
                      <a:endParaRPr sz="1300" b="0">
                        <a:solidFill>
                          <a:srgbClr val="1C2833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833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Hold-up can degrade material, support microbial growth, or cause cross-contamination. Flush, drain, purge, and disassembly after each use are not defined.</a:t>
                      </a:r>
                      <a:endParaRPr sz="1300" b="0">
                        <a:solidFill>
                          <a:srgbClr val="1C2833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833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After each system transfer, flush or clean with process solvent, supported by bioburden data. Define those steps in the procedures.</a:t>
                      </a:r>
                      <a:endParaRPr sz="1300" b="0">
                        <a:solidFill>
                          <a:srgbClr val="1C2833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6B4A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Low</a:t>
                      </a:r>
                      <a:endParaRPr sz="1300" b="1">
                        <a:solidFill>
                          <a:srgbClr val="1F6B4A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E8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833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Nov 5, 2026</a:t>
                      </a:r>
                      <a:endParaRPr sz="1300" b="0">
                        <a:solidFill>
                          <a:srgbClr val="1C2833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  <a:endParaRPr sz="16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2D8B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833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Rebuild piping and vessels with hygienic T-valves and 3D short-outlet tees. Control dead legs, slope, and drainability. Reserve CIP tie-in valves.</a:t>
                      </a:r>
                      <a:endParaRPr sz="1300" b="0">
                        <a:solidFill>
                          <a:srgbClr val="1C2833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833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New change control, with a concern for product quality. Pre-use and post-use steps may still be insufficient.</a:t>
                      </a:r>
                      <a:endParaRPr sz="1300" b="0">
                        <a:solidFill>
                          <a:srgbClr val="1C2833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833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Qualify the modified piping. Define the operating and cleaning sequence and update the records.</a:t>
                      </a:r>
                      <a:endParaRPr sz="1300" b="0">
                        <a:solidFill>
                          <a:srgbClr val="1C2833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6B4A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Low</a:t>
                      </a:r>
                      <a:endParaRPr sz="1300" b="1">
                        <a:solidFill>
                          <a:srgbClr val="1F6B4A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E8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833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Feb 6, 2027</a:t>
                      </a:r>
                      <a:endParaRPr sz="1300" b="0">
                        <a:solidFill>
                          <a:srgbClr val="1C2833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F7FBFB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  <a:endParaRPr sz="16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2D8B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833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Add clean-in-place on the Option 2 piping, including slope, drainage, dead-leg removal, and pre-use flush, cleaning, disinfection, and purge.</a:t>
                      </a:r>
                      <a:endParaRPr sz="1300" b="0">
                        <a:solidFill>
                          <a:srgbClr val="1C2833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833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The design may be incomplete, and the CIP sequence and controls may be incomplete.</a:t>
                      </a:r>
                      <a:endParaRPr sz="1300" b="0">
                        <a:solidFill>
                          <a:srgbClr val="1C2833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833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Qualify the system as a whole. Update the SOP and bring the requirements into routine use.</a:t>
                      </a:r>
                      <a:endParaRPr sz="1300" b="0">
                        <a:solidFill>
                          <a:srgbClr val="1C2833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6B4A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Low</a:t>
                      </a:r>
                      <a:endParaRPr sz="1300" b="1">
                        <a:solidFill>
                          <a:srgbClr val="1F6B4A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E8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C2833"/>
                          </a:solidFill>
                          <a:latin typeface="Calibri" panose="020F0502020204030204" charset="0"/>
                          <a:ea typeface="DejaVu Sans"/>
                          <a:cs typeface="Calibri" panose="020F0502020204030204" charset="0"/>
                        </a:rPr>
                        <a:t>5 months after Option 2</a:t>
                      </a:r>
                      <a:endParaRPr sz="1300" b="0">
                        <a:solidFill>
                          <a:srgbClr val="1C2833"/>
                        </a:solidFill>
                        <a:latin typeface="Calibri" panose="020F0502020204030204" charset="0"/>
                        <a:ea typeface="DejaVu Sans"/>
                        <a:cs typeface="Calibri" panose="020F0502020204030204" charset="0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5010912"/>
          <a:ext cx="11612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011680"/>
                <a:gridCol w="2011680"/>
                <a:gridCol w="2011680"/>
                <a:gridCol w="201168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Process step</a:t>
                      </a:r>
                      <a:endParaRPr sz="12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Demo</a:t>
                      </a:r>
                      <a:endParaRPr sz="12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Pre-PPQ</a:t>
                      </a:r>
                      <a:endParaRPr sz="12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PPQ</a:t>
                      </a:r>
                      <a:endParaRPr sz="12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</a:t>
                      </a:r>
                      <a:endParaRPr sz="1200" b="1">
                        <a:solidFill>
                          <a:srgbClr val="FFFFFF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1A233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Preparative buffer preparation</a:t>
                      </a:r>
                      <a:endParaRPr sz="1200" b="1">
                        <a:solidFill>
                          <a:srgbClr val="1A2332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  <a:endParaRPr sz="1200" b="1">
                        <a:solidFill>
                          <a:srgbClr val="2D8B8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2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2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  <a:endParaRPr sz="1200" b="1">
                        <a:solidFill>
                          <a:srgbClr val="1F6B4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8F2E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Preparative chromatography</a:t>
                      </a:r>
                      <a:endParaRPr sz="1200" b="1">
                        <a:solidFill>
                          <a:srgbClr val="1A2332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  <a:endParaRPr sz="1200" b="1">
                        <a:solidFill>
                          <a:srgbClr val="2D8B8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2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2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  <a:endParaRPr sz="1200" b="1">
                        <a:solidFill>
                          <a:srgbClr val="1F6B4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8F2E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TFF</a:t>
                      </a:r>
                      <a:endParaRPr sz="1200" b="1">
                        <a:solidFill>
                          <a:srgbClr val="1A2332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  <a:endParaRPr sz="1200" b="1">
                        <a:solidFill>
                          <a:srgbClr val="2D8B8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2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2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  <a:endParaRPr sz="1200" b="1">
                        <a:solidFill>
                          <a:srgbClr val="1F6B4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8F2E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Precipitation</a:t>
                      </a:r>
                      <a:endParaRPr sz="1200" b="1">
                        <a:solidFill>
                          <a:srgbClr val="1A2332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  <a:endParaRPr sz="1200" b="1">
                        <a:solidFill>
                          <a:srgbClr val="2D8B8B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2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  <a:endParaRPr sz="1200" b="1">
                        <a:solidFill>
                          <a:srgbClr val="1C2833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  <a:endParaRPr sz="1200" b="1">
                        <a:solidFill>
                          <a:srgbClr val="1F6B4A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marR="73152" marT="54864" marB="54864" anchor="ctr">
                    <a:solidFill>
                      <a:srgbClr val="E8F2E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658368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139788 Step 3  ·  Dead-leg and hold-up retrofit</a:t>
            </a:r>
            <a:endParaRPr sz="1000" b="0">
              <a:solidFill>
                <a:srgbClr val="5D6D7E"/>
              </a:solidFill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1580</Words>
  <Application>WPS Presentation</Application>
  <PresentationFormat>On-screen Show (4:3)</PresentationFormat>
  <Paragraphs>104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DejaVu Sans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139788 Step 3 Dead-leg and Hold-up Retrofit — one page</dc:title>
  <dc:creator>Asymchem</dc:creator>
  <dc:description>generated using python-pptx</dc:description>
  <cp:lastModifiedBy>litao0056</cp:lastModifiedBy>
  <cp:revision>4</cp:revision>
  <dcterms:created xsi:type="dcterms:W3CDTF">2013-01-27T09:14:00Z</dcterms:created>
  <dcterms:modified xsi:type="dcterms:W3CDTF">2026-10-27T01:51:35Z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9BA5084EF57844A9A98621193AF3C5A8_12</vt:lpwstr>
  </property>
  <property fmtid="{D5CDD505-2E9C-101B-9397-08002B2CF9AE}" pid="3" name="KSOProductBuildVer">
    <vt:lpwstr>1033-12.1.0.29162</vt:lpwstr>
  </property>
</Properties>
</file>