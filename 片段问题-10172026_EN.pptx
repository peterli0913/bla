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  <p:sldMasterId id="2147483670" r:id="rId3"/>
    <p:sldMasterId id="2147483682" r:id="rId4"/>
    <p:sldMasterId id="2147483694" r:id="rId5"/>
    <p:sldMasterId id="2147483706" r:id="rId6"/>
    <p:sldMasterId id="2147483718" r:id="rId7"/>
    <p:sldMasterId id="2147483730" r:id="rId8"/>
    <p:sldMasterId id="2147483741" r:id="rId9"/>
    <p:sldMasterId id="2147483752" r:id="rId10"/>
    <p:sldMasterId id="2147483764" r:id="rId11"/>
    <p:sldMasterId id="2147483776" r:id="rId12"/>
    <p:sldMasterId id="2147483788" r:id="rId13"/>
    <p:sldMasterId id="2147483814" r:id="rId14"/>
  </p:sldMasterIdLst>
  <p:notesMasterIdLst>
    <p:notesMasterId r:id="rId23"/>
  </p:notesMasterIdLst>
  <p:sldIdLst>
    <p:sldId id="876" r:id="rId15"/>
    <p:sldId id="884" r:id="rId16"/>
    <p:sldId id="882" r:id="rId17"/>
    <p:sldId id="881" r:id="rId18"/>
    <p:sldId id="880" r:id="rId19"/>
    <p:sldId id="879" r:id="rId20"/>
    <p:sldId id="883" r:id="rId21"/>
    <p:sldId id="878" r:id="rId22"/>
  </p:sldIdLst>
  <p:sldSz cx="24384000" cy="13716000"/>
  <p:notesSz cx="6858000" cy="9144000"/>
  <p:defaultTextStyle>
    <a:defPPr>
      <a:defRPr lang="en-US"/>
    </a:defPPr>
    <a:lvl1pPr marL="0" lvl="0" indent="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1pPr>
    <a:lvl2pPr marL="0" lvl="1" indent="2286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2pPr>
    <a:lvl3pPr marL="0" lvl="2" indent="4572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3pPr>
    <a:lvl4pPr marL="0" lvl="3" indent="6858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4pPr>
    <a:lvl5pPr marL="0" lvl="4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lvl="5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6pPr>
    <a:lvl7pPr marL="2743200" lvl="6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7pPr>
    <a:lvl8pPr marL="3200400" lvl="7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8pPr>
    <a:lvl9pPr marL="3657600" lvl="8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7680">
          <p15:clr>
            <a:srgbClr val="A4A3A4"/>
          </p15:clr>
        </p15:guide>
        <p15:guide id="2" orient="horz" pos="43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Yonggang Shi" initials="YS" lastIdx="1" clrIdx="0"/>
  <p:cmAuthor id="4" name="Qichen Liu" initials="QL" lastIdx="3" clrIdx="1"/>
  <p:cmAuthor id="5" name="Kai Liu9244" initials="KL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5B9BD5"/>
    <a:srgbClr val="EAEFF7"/>
    <a:srgbClr val="D2DEEF"/>
    <a:srgbClr val="EAF0F7"/>
    <a:srgbClr val="3A6DB4"/>
    <a:srgbClr val="00356A"/>
    <a:srgbClr val="3F6E9A"/>
    <a:srgbClr val="CDDCEA"/>
    <a:srgbClr val="6897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55" autoAdjust="0"/>
    <p:restoredTop sz="94012" autoAdjust="0"/>
  </p:normalViewPr>
  <p:slideViewPr>
    <p:cSldViewPr snapToGrid="0" snapToObjects="1" showGuides="1">
      <p:cViewPr varScale="1">
        <p:scale>
          <a:sx n="34" d="100"/>
          <a:sy n="34" d="100"/>
        </p:scale>
        <p:origin x="572" y="84"/>
      </p:cViewPr>
      <p:guideLst>
        <p:guide pos="768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6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67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1pPr>
    <a:lvl2pPr indent="228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2pPr>
    <a:lvl3pPr indent="457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3pPr>
    <a:lvl4pPr indent="685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4pPr>
    <a:lvl5pPr indent="9144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5pPr>
    <a:lvl6pPr indent="11430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43000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e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e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e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e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jpe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jpe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jpe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jpe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jpeg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jpeg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t>‹#›</a:t>
            </a:fld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t>‹#›</a:t>
            </a:fld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33919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60914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54652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98810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70154123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907521398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470337024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514995262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3" name="Линия">
            <a:extLst>
              <a:ext uri="{FF2B5EF4-FFF2-40B4-BE49-F238E27FC236}">
                <a16:creationId xmlns:a16="http://schemas.microsoft.com/office/drawing/2014/main" id="{549862F7-E668-78F8-8665-2291CCA64764}"/>
              </a:ext>
            </a:extLst>
          </p:cNvPr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410898014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830067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880868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1.xml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2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8.xml"/><Relationship Id="rId6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0.xml"/><Relationship Id="rId8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4.xml"/><Relationship Id="rId12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4.xml"/><Relationship Id="rId1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2.xml"/><Relationship Id="rId8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16.xml"/><Relationship Id="rId12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2.xml"/><Relationship Id="rId7" Type="http://schemas.openxmlformats.org/officeDocument/2006/relationships/slideLayout" Target="../slideLayouts/slideLayout123.xml"/><Relationship Id="rId8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27.xml"/><Relationship Id="rId12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8.xml"/><Relationship Id="rId2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32.xml"/><Relationship Id="rId6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4.xml"/><Relationship Id="rId8" Type="http://schemas.openxmlformats.org/officeDocument/2006/relationships/slideLayout" Target="../slideLayouts/slideLayout135.xml"/><Relationship Id="rId9" Type="http://schemas.openxmlformats.org/officeDocument/2006/relationships/slideLayout" Target="../slideLayouts/slideLayout136.xml"/><Relationship Id="rId10" Type="http://schemas.openxmlformats.org/officeDocument/2006/relationships/slideLayout" Target="../slideLayouts/slideLayout137.xml"/><Relationship Id="rId11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48.xml"/><Relationship Id="rId12" Type="http://schemas.openxmlformats.org/officeDocument/2006/relationships/theme" Target="../theme/theme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36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31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8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8.xml"/><Relationship Id="rId2" Type="http://schemas.openxmlformats.org/officeDocument/2006/relationships/image" Target="../media/image8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8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B17F8C1-CFD8-1314-B9D2-44E259DAA423}"/>
              </a:ext>
            </a:extLst>
          </p:cNvPr>
          <p:cNvSpPr txBox="1"/>
          <p:nvPr/>
        </p:nvSpPr>
        <p:spPr>
          <a:xfrm>
            <a:off x="8588077" y="294769"/>
            <a:ext cx="15074411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dirty="0">
                <a:solidFill>
                  <a:schemeClr val="accent1">
                    <a:lumMod val="50000"/>
                  </a:schemeClr>
                </a:solidFill>
              </a:rPr>
              <a:t>Spray-ball installation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31130" y="1990988"/>
            <a:ext cx="175385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>1. Spray-ball installation, coverage test, riboflavin cleaning, and particulate check for AT09/AT01.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/>
            </a:r>
            <a:endParaRPr lang="zh-CN" altLang="zh-CN" sz="3200" dirty="0">
              <a:solidFill>
                <a:schemeClr val="tx1"/>
              </a:solidFill>
              <a:latin typeface="+mn-lt"/>
              <a:ea typeface="+mn-ea"/>
            </a:endParaRPr>
          </a:p>
          <a:p>
            <a:endParaRPr lang="zh-CN" alt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1575530" y="3006651"/>
            <a:ext cx="2143687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00FF"/>
                </a:solidFill>
                <a:latin typeface="+mn-lt"/>
                <a:ea typeface="+mn-ea"/>
              </a:rPr>
              <a:t>ASYM</a:t>
            </a:r>
            <a:r>
              <a:rPr lang="en-US" altLang="zh-CN" sz="3200" dirty="0" smtClean="0">
                <a:solidFill>
                  <a:srgbClr val="0000FF"/>
                </a:solidFill>
                <a:latin typeface="+mn-lt"/>
                <a:ea typeface="+mn-ea"/>
              </a:rPr>
              <a:t>:</a:t>
            </a:r>
          </a:p>
          <a:p>
            <a:r>
              <a:rPr lang="en-US" altLang="zh-CN" sz="3200" dirty="0" smtClean="0">
                <a:solidFill>
                  <a:srgbClr val="0000FF"/>
                </a:solidFill>
                <a:latin typeface="+mn-lt"/>
                <a:ea typeface="+mn-ea"/>
              </a:rPr>
              <a:t>1</a:t>
            </a:r>
            <a:r>
              <a:rPr lang="en-US" altLang="zh-CN" sz="3200" dirty="0">
                <a:solidFill>
                  <a:srgbClr val="0000FF"/>
                </a:solidFill>
                <a:latin typeface="+mn-lt"/>
                <a:ea typeface="+mn-ea"/>
              </a:rPr>
              <a:t>. A stainless steel spray ball was used for the spray coverage test on mixing vessel AT09. Iodine is not compatible with prolonged stainless-steel contact, so this spray ball will be used only as a temporary accessory and will not remain in the vessel</a:t>
            </a:r>
            <a:r>
              <a:rPr lang="en-US" altLang="zh-CN" sz="3200" dirty="0" smtClean="0">
                <a:solidFill>
                  <a:srgbClr val="0000FF"/>
                </a:solidFill>
                <a:latin typeface="+mn-lt"/>
                <a:ea typeface="+mn-ea"/>
              </a:rPr>
              <a:t>.</a:t>
            </a:r>
          </a:p>
          <a:p>
            <a:endParaRPr lang="en-US" altLang="zh-CN" sz="3200" dirty="0">
              <a:solidFill>
                <a:srgbClr val="0000FF"/>
              </a:solidFill>
              <a:latin typeface="+mn-lt"/>
              <a:ea typeface="+mn-ea"/>
            </a:endParaRPr>
          </a:p>
          <a:p>
            <a:r>
              <a:rPr lang="en-US" altLang="zh-CN" sz="3200" dirty="0">
                <a:solidFill>
                  <a:srgbClr val="0000FF"/>
                </a:solidFill>
                <a:latin typeface="+mn-lt"/>
                <a:ea typeface="+mn-ea"/>
              </a:rPr>
              <a:t>2. A PTFE spray ball has been purchased for mixing vessel AT09, following Lilly's recommendation and material-compatibility assessment. Given the project timeline, we recommend a trial run and completion of the supplemental spray-coverage verification and cleaning confirmation before this vessel is used for the project</a:t>
            </a:r>
            <a:r>
              <a:rPr lang="en-US" altLang="zh-CN" sz="3200" dirty="0" smtClean="0">
                <a:solidFill>
                  <a:srgbClr val="0000FF"/>
                </a:solidFill>
                <a:latin typeface="+mn-lt"/>
                <a:ea typeface="+mn-ea"/>
              </a:rPr>
              <a:t>.</a:t>
            </a:r>
          </a:p>
          <a:p>
            <a:endParaRPr lang="en-US" altLang="zh-CN" sz="3200" dirty="0">
              <a:solidFill>
                <a:srgbClr val="0000FF"/>
              </a:solidFill>
              <a:latin typeface="+mn-lt"/>
              <a:ea typeface="+mn-ea"/>
            </a:endParaRPr>
          </a:p>
          <a:p>
            <a:r>
              <a:rPr lang="en-US" altLang="zh-CN" sz="3200" dirty="0">
                <a:solidFill>
                  <a:srgbClr val="0000FF"/>
                </a:solidFill>
                <a:latin typeface="+mn-lt"/>
                <a:ea typeface="+mn-ea"/>
              </a:rPr>
              <a:t>Proposed completion date: </a:t>
            </a:r>
            <a:r>
              <a:rPr lang="en-US" altLang="zh-CN" sz="3200" dirty="0" smtClean="0">
                <a:solidFill>
                  <a:srgbClr val="0000FF"/>
                </a:solidFill>
                <a:latin typeface="+mn-lt"/>
                <a:ea typeface="+mn-ea"/>
              </a:rPr>
              <a:t>10/22/2026</a:t>
            </a:r>
          </a:p>
          <a:p>
            <a:endParaRPr lang="en-US" altLang="zh-CN" sz="3200" dirty="0">
              <a:solidFill>
                <a:srgbClr val="0000FF"/>
              </a:solidFill>
              <a:latin typeface="+mn-lt"/>
              <a:ea typeface="+mn-ea"/>
            </a:endParaRPr>
          </a:p>
          <a:p>
            <a:r>
              <a:rPr lang="en-US" altLang="zh-CN" sz="3200" dirty="0">
                <a:solidFill>
                  <a:srgbClr val="0000FF"/>
                </a:solidFill>
                <a:latin typeface="+mn-lt"/>
                <a:ea typeface="+mn-ea"/>
              </a:rPr>
              <a:t>3. Mixing vessel AT01 is equipped with a spray ball and has completed spray coverage testing. The missing on-site identification tag has been corrected. </a:t>
            </a:r>
            <a:endParaRPr lang="zh-CN" altLang="en-US" sz="3200" dirty="0">
              <a:solidFill>
                <a:srgbClr val="0000FF"/>
              </a:solidFill>
              <a:latin typeface="+mn-lt"/>
              <a:ea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529484" y="9103843"/>
            <a:ext cx="3320866" cy="3945467"/>
            <a:chOff x="9436100" y="9143999"/>
            <a:chExt cx="2959100" cy="394546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36100" y="9143999"/>
              <a:ext cx="2959100" cy="3945467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9906000" y="12649200"/>
              <a:ext cx="2119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TJ4S-1200-AT01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2198430" y="9103843"/>
            <a:ext cx="5499679" cy="3811281"/>
            <a:chOff x="8302961" y="9397928"/>
            <a:chExt cx="5101553" cy="341117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961" y="9397928"/>
              <a:ext cx="2558378" cy="341117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61339" y="9418199"/>
              <a:ext cx="2543175" cy="3390900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8639320" y="12361334"/>
              <a:ext cx="4444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TJ4S-1213-AT09</a:t>
              </a:r>
              <a:r>
                <a:rPr lang="en-US" altLang="zh-CN" dirty="0">
                  <a:solidFill>
                    <a:srgbClr val="FF0000"/>
                  </a:solidFill>
                </a:rPr>
                <a:t>Dedicated spray ball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147344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/>
          <a:p>
            <a:pPr>
              <a:defRPr/>
            </a:pPr>
            <a:r>
              <a:rPr lang="en-US" altLang="zh-CN" dirty="0"/>
              <a:t>-</a:t>
            </a:r>
            <a:fld id="{FAEDECE0-B3E3-4E93-9B91-9F10B30F5B07}" type="slidenum">
              <a:rPr lang="en-US" altLang="zh-CN" smtClean="0"/>
              <a:t>2</a:t>
            </a:fld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6831896" y="714644"/>
            <a:ext cx="5652509" cy="7694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b="1" dirty="0" smtClean="0">
                <a:solidFill>
                  <a:srgbClr val="3C6CB3"/>
                </a:solidFill>
                <a:latin typeface="+mj-ea"/>
                <a:ea typeface="+mj-ea"/>
              </a:rPr>
              <a:t>SPPS option review</a:t>
            </a:r>
            <a:r>
              <a:rPr lang="zh-CN" altLang="en-US" sz="4400" b="1" dirty="0" smtClean="0">
                <a:solidFill>
                  <a:srgbClr val="3C6CB3"/>
                </a:solidFill>
                <a:latin typeface="+mj-ea"/>
                <a:ea typeface="+mj-ea"/>
              </a:rPr>
              <a:t/>
            </a:r>
            <a:endParaRPr lang="zh-CN" altLang="en-US" sz="4400" b="1" dirty="0">
              <a:solidFill>
                <a:srgbClr val="3C6CB3"/>
              </a:solidFill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49" y="2652774"/>
            <a:ext cx="12472667" cy="60285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77706" y="4917355"/>
            <a:ext cx="6745856" cy="10179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218222"/>
              </p:ext>
            </p:extLst>
          </p:nvPr>
        </p:nvGraphicFramePr>
        <p:xfrm>
          <a:off x="490451" y="8591424"/>
          <a:ext cx="12472665" cy="4574530"/>
        </p:xfrm>
        <a:graphic>
          <a:graphicData uri="http://schemas.openxmlformats.org/drawingml/2006/table">
            <a:tbl>
              <a:tblPr/>
              <a:tblGrid>
                <a:gridCol w="1316377">
                  <a:extLst>
                    <a:ext uri="{9D8B030D-6E8A-4147-A177-3AD203B41FA5}">
                      <a16:colId xmlns:a16="http://schemas.microsoft.com/office/drawing/2014/main" val="4231785485"/>
                    </a:ext>
                  </a:extLst>
                </a:gridCol>
                <a:gridCol w="2316598">
                  <a:extLst>
                    <a:ext uri="{9D8B030D-6E8A-4147-A177-3AD203B41FA5}">
                      <a16:colId xmlns:a16="http://schemas.microsoft.com/office/drawing/2014/main" val="1118872730"/>
                    </a:ext>
                  </a:extLst>
                </a:gridCol>
                <a:gridCol w="908522">
                  <a:extLst>
                    <a:ext uri="{9D8B030D-6E8A-4147-A177-3AD203B41FA5}">
                      <a16:colId xmlns:a16="http://schemas.microsoft.com/office/drawing/2014/main" val="4186127771"/>
                    </a:ext>
                  </a:extLst>
                </a:gridCol>
                <a:gridCol w="1316377">
                  <a:extLst>
                    <a:ext uri="{9D8B030D-6E8A-4147-A177-3AD203B41FA5}">
                      <a16:colId xmlns:a16="http://schemas.microsoft.com/office/drawing/2014/main" val="1760775270"/>
                    </a:ext>
                  </a:extLst>
                </a:gridCol>
                <a:gridCol w="1316377">
                  <a:extLst>
                    <a:ext uri="{9D8B030D-6E8A-4147-A177-3AD203B41FA5}">
                      <a16:colId xmlns:a16="http://schemas.microsoft.com/office/drawing/2014/main" val="3188875527"/>
                    </a:ext>
                  </a:extLst>
                </a:gridCol>
                <a:gridCol w="2272928">
                  <a:extLst>
                    <a:ext uri="{9D8B030D-6E8A-4147-A177-3AD203B41FA5}">
                      <a16:colId xmlns:a16="http://schemas.microsoft.com/office/drawing/2014/main" val="4178731468"/>
                    </a:ext>
                  </a:extLst>
                </a:gridCol>
                <a:gridCol w="1709109">
                  <a:extLst>
                    <a:ext uri="{9D8B030D-6E8A-4147-A177-3AD203B41FA5}">
                      <a16:colId xmlns:a16="http://schemas.microsoft.com/office/drawing/2014/main" val="4290337702"/>
                    </a:ext>
                  </a:extLst>
                </a:gridCol>
                <a:gridCol w="1316377">
                  <a:extLst>
                    <a:ext uri="{9D8B030D-6E8A-4147-A177-3AD203B41FA5}">
                      <a16:colId xmlns:a16="http://schemas.microsoft.com/office/drawing/2014/main" val="3178622526"/>
                    </a:ext>
                  </a:extLst>
                </a:gridCol>
              </a:tblGrid>
              <a:tr h="914906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Qualification options and charging schedule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286841"/>
                  </a:ext>
                </a:extLst>
              </a:tr>
              <a:tr h="91490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269041"/>
                  </a:ext>
                </a:extLst>
              </a:tr>
              <a:tr h="91490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Option 1</a:t>
                      </a:r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Software upgrade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Verification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Iodine trial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Charge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013910"/>
                  </a:ext>
                </a:extLst>
              </a:tr>
              <a:tr h="91490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Option 2</a:t>
                      </a:r>
                      <a:r>
                        <a:rPr lang="en-US" altLang="zh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Coverage test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Iodine trial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Charge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423112"/>
                  </a:ext>
                </a:extLst>
              </a:tr>
              <a:tr h="91490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Option 3</a:t>
                      </a:r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Iodine trial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Charge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Coverage test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Vessel cleaning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985861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3646989" y="2589838"/>
            <a:ext cx="4744528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latin typeface="+mj-ea"/>
                <a:ea typeface="+mj-ea"/>
              </a:rPr>
              <a:t>Option assessment</a:t>
            </a:r>
            <a:endParaRPr lang="zh-CN" altLang="en-US" sz="2400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646989" y="3101694"/>
            <a:ext cx="9661584" cy="120032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 smtClean="0">
                <a:latin typeface="+mj-ea"/>
                <a:ea typeface="+mj-ea"/>
              </a:rPr>
              <a:t>1. Option 1 has audible and visual HH/LL alarms, plus H/L warnings. Floor response is immediate, so an excursion outside the process range is seen at once.</a:t>
            </a:r>
            <a:r>
              <a:rPr lang="zh-CN" altLang="en-US" sz="2400" dirty="0" smtClean="0">
                <a:latin typeface="+mj-ea"/>
                <a:ea typeface="+mj-ea"/>
              </a:rPr>
              <a:t/>
            </a:r>
            <a:r>
              <a:rPr lang="en-US" altLang="zh-CN" sz="2400" dirty="0" smtClean="0">
                <a:latin typeface="+mj-ea"/>
                <a:ea typeface="+mj-ea"/>
              </a:rPr>
              <a:t/>
            </a:r>
            <a:r>
              <a:rPr lang="zh-CN" altLang="en-US" sz="2400" dirty="0" smtClean="0">
                <a:latin typeface="+mj-ea"/>
                <a:ea typeface="+mj-ea"/>
              </a:rPr>
              <a:t/>
            </a:r>
            <a:r>
              <a:rPr lang="zh-CN" altLang="en-US" sz="2400" dirty="0">
                <a:latin typeface="+mj-ea"/>
                <a:ea typeface="+mj-ea"/>
              </a:rPr>
              <a:t/>
            </a:r>
          </a:p>
        </p:txBody>
      </p:sp>
      <p:sp>
        <p:nvSpPr>
          <p:cNvPr id="9" name="矩形 8"/>
          <p:cNvSpPr/>
          <p:nvPr/>
        </p:nvSpPr>
        <p:spPr>
          <a:xfrm>
            <a:off x="13646989" y="4337988"/>
            <a:ext cx="9661585" cy="286232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 smtClean="0">
                <a:latin typeface="+mj-ea"/>
                <a:ea typeface="+mj-ea"/>
              </a:rPr>
              <a:t>2. Options 2 and 3</a:t>
            </a:r>
            <a:r>
              <a:rPr lang="zh-CN" altLang="en-US" sz="2400" dirty="0" smtClean="0">
                <a:latin typeface="+mj-ea"/>
                <a:ea typeface="+mj-ea"/>
              </a:rPr>
              <a:t/>
            </a:r>
            <a:r>
              <a:rPr lang="zh-CN" altLang="en-US" sz="2400" dirty="0">
                <a:latin typeface="+mj-ea"/>
                <a:ea typeface="+mj-ea"/>
              </a:rPr>
              <a:t/>
            </a:r>
            <a:r>
              <a:rPr lang="en-US" altLang="zh-CN" sz="2400" dirty="0">
                <a:latin typeface="+mj-ea"/>
                <a:ea typeface="+mj-ea"/>
              </a:rPr>
              <a:t/>
            </a:r>
            <a:r>
              <a:rPr lang="zh-CN" altLang="en-US" sz="2400" dirty="0">
                <a:latin typeface="+mj-ea"/>
                <a:ea typeface="+mj-ea"/>
              </a:rPr>
              <a:t/>
            </a:r>
            <a:r>
              <a:rPr lang="en-US" altLang="zh-CN" sz="2400" dirty="0">
                <a:latin typeface="+mj-ea"/>
                <a:ea typeface="+mj-ea"/>
              </a:rPr>
              <a:t/>
            </a:r>
            <a:endParaRPr lang="en-US" altLang="zh-CN" sz="2400" dirty="0" smtClean="0">
              <a:latin typeface="+mj-ea"/>
              <a:ea typeface="+mj-ea"/>
            </a:endParaRPr>
          </a:p>
          <a:p>
            <a:pPr>
              <a:lnSpc>
                <a:spcPct val="110000"/>
              </a:lnSpc>
            </a:pPr>
            <a:r>
              <a:rPr lang="en-US" altLang="zh-CN" sz="2400" dirty="0" smtClean="0">
                <a:latin typeface="+mj-ea"/>
                <a:ea typeface="+mj-ea"/>
              </a:rPr>
              <a:t>a. High/low alarms only, set as warnings. Personnel respond on the floor. An excursion is confirmed by checking the OR against the electronic data.</a:t>
            </a:r>
            <a:r>
              <a:rPr lang="zh-CN" altLang="en-US" sz="2400" dirty="0" smtClean="0">
                <a:latin typeface="+mj-ea"/>
                <a:ea typeface="+mj-ea"/>
              </a:rPr>
              <a:t/>
            </a:r>
            <a:r>
              <a:rPr lang="zh-CN" altLang="en-US" sz="2400" dirty="0">
                <a:latin typeface="+mj-ea"/>
                <a:ea typeface="+mj-ea"/>
              </a:rPr>
              <a:t/>
            </a:r>
          </a:p>
          <a:p>
            <a:pPr>
              <a:lnSpc>
                <a:spcPct val="110000"/>
              </a:lnSpc>
            </a:pPr>
            <a:r>
              <a:rPr lang="en-US" altLang="zh-CN" sz="2400" dirty="0" smtClean="0">
                <a:latin typeface="+mj-ea"/>
                <a:ea typeface="+mj-ea"/>
              </a:rPr>
              <a:t>b. The MOR already records the minimum and maximum temperature for each operation, so a missed excursion is unlikely.</a:t>
            </a:r>
            <a:r>
              <a:rPr lang="zh-CN" altLang="en-US" sz="2400" dirty="0" smtClean="0">
                <a:latin typeface="+mj-ea"/>
                <a:ea typeface="+mj-ea"/>
              </a:rPr>
              <a:t/>
            </a:r>
            <a:r>
              <a:rPr lang="zh-CN" altLang="en-US" sz="2400" dirty="0">
                <a:latin typeface="+mj-ea"/>
                <a:ea typeface="+mj-ea"/>
              </a:rPr>
              <a:t/>
            </a:r>
          </a:p>
        </p:txBody>
      </p:sp>
      <p:sp>
        <p:nvSpPr>
          <p:cNvPr id="10" name="矩形 9"/>
          <p:cNvSpPr/>
          <p:nvPr/>
        </p:nvSpPr>
        <p:spPr>
          <a:xfrm>
            <a:off x="13646988" y="7236275"/>
            <a:ext cx="10023894" cy="175432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 smtClean="0">
                <a:latin typeface="+mj-ea"/>
                <a:ea typeface="+mj-ea"/>
              </a:rPr>
              <a:t>3. Options 2 and 3 differ only in when the mixing-vessel coverage test is done. The vessel is used for about 7 days after charging; the test and cleaning take about 2 days and do not stop the synthesizer. Option 3 has less impact.</a:t>
            </a:r>
            <a:r>
              <a:rPr lang="zh-CN" altLang="en-US" sz="2400" dirty="0" smtClean="0">
                <a:latin typeface="+mj-ea"/>
                <a:ea typeface="+mj-ea"/>
              </a:rPr>
              <a:t/>
            </a:r>
            <a:r>
              <a:rPr lang="zh-CN" altLang="en-US" sz="2400" dirty="0">
                <a:latin typeface="+mj-ea"/>
                <a:ea typeface="+mj-ea"/>
              </a:rPr>
              <a:t/>
            </a:r>
          </a:p>
        </p:txBody>
      </p:sp>
      <p:sp>
        <p:nvSpPr>
          <p:cNvPr id="11" name="矩形 10"/>
          <p:cNvSpPr/>
          <p:nvPr/>
        </p:nvSpPr>
        <p:spPr>
          <a:xfrm>
            <a:off x="13646989" y="9635208"/>
            <a:ext cx="10023894" cy="4616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Based on the charging date, we recommend Option 3.</a:t>
            </a:r>
            <a:r>
              <a:rPr lang="en-US" altLang="zh-CN" sz="2400" dirty="0" smtClean="0">
                <a:solidFill>
                  <a:srgbClr val="FF0000"/>
                </a:solidFill>
                <a:latin typeface="+mj-ea"/>
                <a:ea typeface="+mj-ea"/>
              </a:rPr>
              <a:t/>
            </a:r>
            <a:endParaRPr lang="zh-CN" altLang="en-US" sz="24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11683" y="4119229"/>
            <a:ext cx="2432649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+mj-ea"/>
                <a:ea typeface="+mj-ea"/>
              </a:rPr>
              <a:t>Software update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37991" y="1799012"/>
            <a:ext cx="15171141" cy="584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>2. Add high-high and low-low jacket-temperature alarms for synthesizer SY16 to the PLC.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/>
            </a:r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/>
            </a:r>
            <a:endParaRPr lang="zh-CN" altLang="en-US" sz="3200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18062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931130" y="2100497"/>
            <a:ext cx="140746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>3. Dead-leg removal from unused branches of the iodine-solution transfer line.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/>
            </a:r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/>
            </a:r>
            <a:endParaRPr lang="zh-CN" altLang="zh-CN" sz="32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31130" y="3072872"/>
            <a:ext cx="13861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0000FF"/>
                </a:solidFill>
                <a:latin typeface="+mn-lt"/>
                <a:ea typeface="+mn-ea"/>
              </a:rPr>
              <a:t>ASYM: Completed. The redundant valve was removed, and a tagged PTFE blind flange was installed.</a:t>
            </a:r>
            <a:r>
              <a:rPr lang="zh-CN" altLang="en-US" sz="3200" dirty="0">
                <a:solidFill>
                  <a:srgbClr val="0000FF"/>
                </a:solidFill>
                <a:latin typeface="+mn-lt"/>
                <a:ea typeface="+mn-ea"/>
              </a:rPr>
              <a:t/>
            </a:r>
            <a:r>
              <a:rPr lang="zh-CN" altLang="en-US" sz="3200" dirty="0" smtClean="0">
                <a:solidFill>
                  <a:srgbClr val="0000FF"/>
                </a:solidFill>
                <a:latin typeface="+mn-lt"/>
                <a:ea typeface="+mn-ea"/>
              </a:rPr>
              <a:t/>
            </a:r>
            <a:r>
              <a:rPr lang="en-US" altLang="zh-CN" sz="3200" dirty="0" smtClean="0">
                <a:solidFill>
                  <a:srgbClr val="0000FF"/>
                </a:solidFill>
                <a:latin typeface="+mn-lt"/>
                <a:ea typeface="+mn-ea"/>
              </a:rPr>
              <a:t/>
            </a:r>
            <a:r>
              <a:rPr lang="zh-CN" altLang="en-US" sz="3200" dirty="0" smtClean="0">
                <a:solidFill>
                  <a:srgbClr val="0000FF"/>
                </a:solidFill>
                <a:latin typeface="+mn-lt"/>
                <a:ea typeface="+mn-ea"/>
              </a:rPr>
              <a:t/>
            </a:r>
            <a:endParaRPr lang="zh-CN" altLang="en-US" sz="3200" dirty="0">
              <a:solidFill>
                <a:srgbClr val="0000FF"/>
              </a:solidFill>
              <a:latin typeface="+mn-lt"/>
              <a:ea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2896850" y="4438650"/>
            <a:ext cx="10344150" cy="7758113"/>
            <a:chOff x="12896850" y="4438650"/>
            <a:chExt cx="10344150" cy="7758113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96850" y="4438650"/>
              <a:ext cx="10344150" cy="7758113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14801850" y="8610600"/>
              <a:ext cx="1943100" cy="131445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5B17F8C1-CFD8-1314-B9D2-44E259DAA423}"/>
              </a:ext>
            </a:extLst>
          </p:cNvPr>
          <p:cNvSpPr txBox="1"/>
          <p:nvPr/>
        </p:nvSpPr>
        <p:spPr>
          <a:xfrm>
            <a:off x="8588077" y="294769"/>
            <a:ext cx="15074411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dirty="0" smtClean="0">
                <a:solidFill>
                  <a:schemeClr val="accent1">
                    <a:lumMod val="50000"/>
                  </a:schemeClr>
                </a:solidFill>
              </a:rPr>
              <a:t>Piping correction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7657039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968501" y="2049539"/>
            <a:ext cx="149314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>4. Qualification of iodine-solution nitrogen transfer time before the solvent run.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/>
            </a:r>
            <a:endParaRPr lang="zh-CN" altLang="zh-CN" sz="3200" dirty="0">
              <a:solidFill>
                <a:schemeClr val="tx1"/>
              </a:solidFill>
              <a:latin typeface="+mn-lt"/>
              <a:ea typeface="+mn-ea"/>
            </a:endParaRPr>
          </a:p>
          <a:p>
            <a:endParaRPr lang="zh-CN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2311400" y="3430657"/>
            <a:ext cx="19583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00FF"/>
                </a:solidFill>
              </a:rPr>
              <a:t>ASYM: Nitrogen transfer of the iodine solution to the synthesizer will be performed during the solvent run.</a:t>
            </a:r>
            <a:r>
              <a:rPr lang="zh-CN" altLang="en-US" sz="3200" dirty="0">
                <a:solidFill>
                  <a:srgbClr val="0000FF"/>
                </a:solidFill>
              </a:rPr>
              <a:t/>
            </a:r>
            <a:endParaRPr lang="en-US" altLang="zh-CN" sz="3200" dirty="0">
              <a:solidFill>
                <a:srgbClr val="0000FF"/>
              </a:solidFill>
            </a:endParaRPr>
          </a:p>
          <a:p>
            <a:endParaRPr lang="zh-CN" altLang="en-US" sz="3200" dirty="0">
              <a:solidFill>
                <a:srgbClr val="0000FF"/>
              </a:solidFill>
            </a:endParaRPr>
          </a:p>
          <a:p>
            <a:r>
              <a:rPr lang="zh-CN" altLang="en-US" sz="3200" dirty="0">
                <a:solidFill>
                  <a:srgbClr val="0000FF"/>
                </a:solidFill>
              </a:rPr>
              <a:t>Proposed completion date: 10/22/2026</a:t>
            </a:r>
          </a:p>
        </p:txBody>
      </p:sp>
    </p:spTree>
    <p:extLst>
      <p:ext uri="{BB962C8B-B14F-4D97-AF65-F5344CB8AC3E}">
        <p14:creationId xmlns:p14="http://schemas.microsoft.com/office/powerpoint/2010/main" val="83795227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949451" y="2113360"/>
            <a:ext cx="146245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5. Post-oxidation DMF cooling-time qualification in the activation tank, during the solvent run.</a:t>
            </a:r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/>
            </a:r>
            <a:endParaRPr lang="zh-CN" altLang="zh-CN" sz="3200" dirty="0">
              <a:solidFill>
                <a:schemeClr val="tx1"/>
              </a:solidFill>
              <a:latin typeface="+mn-lt"/>
              <a:ea typeface="+mn-ea"/>
            </a:endParaRPr>
          </a:p>
          <a:p>
            <a:endParaRPr lang="zh-CN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1949450" y="3204051"/>
            <a:ext cx="207073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0000FF"/>
                </a:solidFill>
              </a:rPr>
              <a:t>ASYM: The post-oxidation DMF cooling-time test in the activation tank will be performed during the solvent run.</a:t>
            </a:r>
            <a:r>
              <a:rPr lang="zh-CN" altLang="en-US" sz="3200" dirty="0">
                <a:solidFill>
                  <a:srgbClr val="0000FF"/>
                </a:solidFill>
              </a:rPr>
              <a:t/>
            </a:r>
          </a:p>
          <a:p>
            <a:pPr>
              <a:lnSpc>
                <a:spcPct val="150000"/>
              </a:lnSpc>
            </a:pPr>
            <a:r>
              <a:rPr lang="zh-CN" altLang="en-US" sz="3200" dirty="0">
                <a:solidFill>
                  <a:srgbClr val="0000FF"/>
                </a:solidFill>
              </a:rPr>
              <a:t>Proposed completion date: 10/22/2026</a:t>
            </a:r>
          </a:p>
        </p:txBody>
      </p:sp>
    </p:spTree>
    <p:extLst>
      <p:ext uri="{BB962C8B-B14F-4D97-AF65-F5344CB8AC3E}">
        <p14:creationId xmlns:p14="http://schemas.microsoft.com/office/powerpoint/2010/main" val="419588077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23493" y="2094272"/>
            <a:ext cx="23160507" cy="107721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>6. Pre-production rinse/swab acceptance for the equipment train, or an equivalent criterion in the CCS.</a:t>
            </a:r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/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/>
            </a:r>
            <a:endParaRPr lang="zh-CN" altLang="zh-CN" sz="3200" dirty="0">
              <a:solidFill>
                <a:schemeClr val="tx1"/>
              </a:solidFill>
              <a:latin typeface="+mn-lt"/>
              <a:ea typeface="+mn-ea"/>
            </a:endParaRPr>
          </a:p>
          <a:p>
            <a:endParaRPr lang="zh-CN" altLang="en-US" sz="32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23493" y="3152745"/>
            <a:ext cx="16644300" cy="230832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 smtClean="0">
                <a:solidFill>
                  <a:srgbClr val="0000FF"/>
                </a:solidFill>
              </a:rPr>
              <a:t>ASYM:</a:t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endParaRPr lang="en-US" altLang="zh-CN" sz="3200" dirty="0" smtClean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 smtClean="0">
                <a:solidFill>
                  <a:srgbClr val="0000FF"/>
                </a:solidFill>
              </a:rPr>
              <a:t>1. Post-passivation cleaning of the equipment train is complete, and TOC testing is complete.</a:t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r>
              <a:rPr lang="zh-CN" altLang="en-US" sz="3200" dirty="0">
                <a:solidFill>
                  <a:srgbClr val="0000FF"/>
                </a:solidFill>
              </a:rPr>
              <a:t/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r>
              <a:rPr lang="en-US" altLang="zh-CN" sz="3200" dirty="0">
                <a:solidFill>
                  <a:srgbClr val="0000FF"/>
                </a:solidFill>
              </a:rPr>
              <a:t/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endParaRPr lang="en-US" altLang="zh-CN" sz="3200" dirty="0" smtClean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 smtClean="0">
                <a:solidFill>
                  <a:srgbClr val="0000FF"/>
                </a:solidFill>
              </a:rPr>
              <a:t>2. The solvent trial used elemental iodine. After cleaning, iodine residue will be checked with test strips.</a:t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r>
              <a:rPr lang="zh-CN" altLang="en-US" sz="3200" dirty="0">
                <a:solidFill>
                  <a:srgbClr val="0000FF"/>
                </a:solidFill>
              </a:rPr>
              <a:t/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endParaRPr lang="zh-CN" altLang="en-US" sz="3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99338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16100" y="2007913"/>
            <a:ext cx="20434300" cy="206210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>7. Investigation of the contaminated sampling tool in the L3 synthesizer SY16 glovebox and the yellow solid in the L2 synthesizer SY15 glovebox. Contaminant identification is strongly recommended. At a minimum, show that contamination is limited to the glovebox and rule out contamination inside the synthesizer.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/>
            </a:r>
            <a:endParaRPr lang="zh-CN" altLang="zh-CN" sz="32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16100" y="4306907"/>
            <a:ext cx="20434300" cy="230832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 smtClean="0">
                <a:solidFill>
                  <a:srgbClr val="0000FF"/>
                </a:solidFill>
              </a:rPr>
              <a:t>ASYM:</a:t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endParaRPr lang="en-US" altLang="zh-CN" sz="3200" dirty="0" smtClean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 smtClean="0">
                <a:solidFill>
                  <a:srgbClr val="0000FF"/>
                </a:solidFill>
              </a:rPr>
              <a:t>1. SY15 last ran 140020 Step 1 solid-phase synthesis. The yellow solid in the glovebox matches the 140020 peptide resin by IR. No residue was found inside the synthesizer.</a:t>
            </a:r>
            <a:r>
              <a:rPr lang="en-US" altLang="zh-CN" sz="3200" dirty="0">
                <a:solidFill>
                  <a:srgbClr val="0000FF"/>
                </a:solidFill>
              </a:rPr>
              <a:t/>
            </a:r>
            <a:r>
              <a:rPr lang="zh-CN" altLang="en-US" sz="3200" dirty="0">
                <a:solidFill>
                  <a:srgbClr val="0000FF"/>
                </a:solidFill>
              </a:rPr>
              <a:t/>
            </a:r>
            <a:r>
              <a:rPr lang="en-US" altLang="zh-CN" sz="3200" dirty="0" smtClean="0">
                <a:solidFill>
                  <a:srgbClr val="0000FF"/>
                </a:solidFill>
              </a:rPr>
              <a:t/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r>
              <a:rPr lang="zh-CN" altLang="en-US" sz="3200" dirty="0">
                <a:solidFill>
                  <a:srgbClr val="0000FF"/>
                </a:solidFill>
              </a:rPr>
              <a:t/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r>
              <a:rPr lang="en-US" altLang="zh-CN" sz="3200" dirty="0" smtClean="0">
                <a:solidFill>
                  <a:srgbClr val="0000FF"/>
                </a:solidFill>
              </a:rPr>
              <a:t/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r>
              <a:rPr lang="en-US" altLang="zh-CN" sz="3200" dirty="0" smtClean="0">
                <a:solidFill>
                  <a:srgbClr val="0000FF"/>
                </a:solidFill>
              </a:rPr>
              <a:t/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endParaRPr lang="zh-CN" altLang="en-US" sz="3200" dirty="0">
              <a:solidFill>
                <a:srgbClr val="0000FF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97976" y="6852122"/>
            <a:ext cx="23188047" cy="4723809"/>
            <a:chOff x="696762" y="7502829"/>
            <a:chExt cx="23188047" cy="4723809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6762" y="7502829"/>
              <a:ext cx="11495238" cy="4723809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37190" y="7528229"/>
              <a:ext cx="11447619" cy="4657143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/>
        </p:nvSpPr>
        <p:spPr>
          <a:xfrm>
            <a:off x="5905854" y="11575931"/>
            <a:ext cx="1891946" cy="83099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000FF"/>
                </a:solidFill>
              </a:rPr>
              <a:t>Reference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443200" y="11444793"/>
            <a:ext cx="5842000" cy="83099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 smtClean="0">
                <a:solidFill>
                  <a:srgbClr val="0000FF"/>
                </a:solidFill>
              </a:rPr>
              <a:t>Yellow solid, SY15 glovebox</a:t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endParaRPr lang="zh-CN" altLang="en-US" sz="3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60908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16100" y="2007913"/>
            <a:ext cx="20434300" cy="206210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altLang="zh-CN" sz="3200" dirty="0" smtClean="0">
                <a:solidFill>
                  <a:schemeClr val="tx1"/>
                </a:solidFill>
                <a:latin typeface="+mn-lt"/>
                <a:ea typeface="+mn-ea"/>
              </a:rPr>
              <a:t>7. Investigation of the contaminated sampling tool in the L3 synthesizer SY16 glovebox and the yellow solid in the L2 synthesizer SY15 glovebox. Contaminant identification is strongly recommended. At a minimum, show that contamination is limited to the glovebox and rule out contamination inside the synthesizer.</a:t>
            </a:r>
            <a:r>
              <a:rPr lang="en-US" altLang="zh-CN" sz="3200" dirty="0">
                <a:solidFill>
                  <a:schemeClr val="tx1"/>
                </a:solidFill>
                <a:latin typeface="+mn-lt"/>
                <a:ea typeface="+mn-ea"/>
              </a:rPr>
              <a:t/>
            </a:r>
            <a:endParaRPr lang="zh-CN" altLang="zh-CN" sz="32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16100" y="4306907"/>
            <a:ext cx="20434300" cy="378565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 smtClean="0">
                <a:solidFill>
                  <a:srgbClr val="0000FF"/>
                </a:solidFill>
              </a:rPr>
              <a:t>ASYM:</a:t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endParaRPr lang="en-US" altLang="zh-CN" sz="3200" dirty="0" smtClean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0000FF"/>
                </a:solidFill>
              </a:rPr>
              <a:t>2. IR of the contaminant on the SY16 LDPE sampler bag matches ethylene glycol. DMF was the other low-volatility reference. No residue was found inside the synthesizer.</a:t>
            </a:r>
            <a:r>
              <a:rPr lang="en-US" altLang="zh-CN" sz="3200" dirty="0" smtClean="0">
                <a:solidFill>
                  <a:srgbClr val="0000FF"/>
                </a:solidFill>
              </a:rPr>
              <a:t/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r>
              <a:rPr lang="en-US" altLang="zh-CN" sz="3200" dirty="0" smtClean="0">
                <a:solidFill>
                  <a:srgbClr val="0000FF"/>
                </a:solidFill>
              </a:rPr>
              <a:t/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r>
              <a:rPr lang="zh-CN" altLang="en-US" sz="3200" dirty="0">
                <a:solidFill>
                  <a:srgbClr val="0000FF"/>
                </a:solidFill>
              </a:rPr>
              <a:t/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r>
              <a:rPr lang="zh-CN" altLang="en-US" sz="3200" dirty="0">
                <a:solidFill>
                  <a:srgbClr val="0000FF"/>
                </a:solidFill>
              </a:rPr>
              <a:t/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r>
              <a:rPr lang="en-US" altLang="zh-CN" sz="3200" dirty="0" smtClean="0">
                <a:solidFill>
                  <a:srgbClr val="0000FF"/>
                </a:solidFill>
              </a:rPr>
              <a:t/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r>
              <a:rPr lang="zh-CN" altLang="en-US" sz="3200" dirty="0" smtClean="0">
                <a:solidFill>
                  <a:srgbClr val="0000FF"/>
                </a:solidFill>
              </a:rPr>
              <a:t/>
            </a:r>
            <a:endParaRPr lang="en-US" altLang="zh-CN" sz="3200" dirty="0" smtClean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3200" dirty="0">
              <a:solidFill>
                <a:srgbClr val="0000FF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610945"/>
            <a:ext cx="11087931" cy="45036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4096" y="6610945"/>
            <a:ext cx="11161510" cy="450360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6800000" y="11275668"/>
            <a:ext cx="3600000" cy="73975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000FF"/>
                </a:solidFill>
              </a:rPr>
              <a:t>Ethylene glycol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714750" y="11134797"/>
            <a:ext cx="6472759" cy="83099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 smtClean="0">
                <a:solidFill>
                  <a:srgbClr val="0000FF"/>
                </a:solidFill>
              </a:rPr>
              <a:t>LDPE contaminant, SY16 glovebox</a:t>
            </a:r>
            <a:r>
              <a:rPr lang="zh-CN" altLang="en-US" sz="2200" dirty="0" smtClean="0">
                <a:solidFill>
                  <a:srgbClr val="0000FF"/>
                </a:solidFill>
              </a:rPr>
              <a:t/>
            </a:r>
            <a:r>
              <a:rPr lang="en-US" altLang="zh-CN" sz="2200" dirty="0" smtClean="0">
                <a:solidFill>
                  <a:srgbClr val="0000FF"/>
                </a:solidFill>
              </a:rPr>
              <a:t/>
            </a:r>
            <a:r>
              <a:rPr lang="zh-CN" altLang="en-US" sz="2200" dirty="0" smtClean="0">
                <a:solidFill>
                  <a:srgbClr val="0000FF"/>
                </a:solidFill>
              </a:rPr>
              <a:t/>
            </a:r>
            <a:endParaRPr lang="zh-CN" altLang="en-US" sz="3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3048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12924</TotalTime>
  <Words>850</Words>
  <Application>Microsoft Office PowerPoint</Application>
  <PresentationFormat>自定义</PresentationFormat>
  <Paragraphs>76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14</vt:i4>
      </vt:variant>
      <vt:variant>
        <vt:lpstr>幻灯片标题</vt:lpstr>
      </vt:variant>
      <vt:variant>
        <vt:i4>8</vt:i4>
      </vt:variant>
    </vt:vector>
  </HeadingPairs>
  <TitlesOfParts>
    <vt:vector size="27" baseType="lpstr">
      <vt:lpstr>Helvetica Light</vt:lpstr>
      <vt:lpstr>Helvetica Neue</vt:lpstr>
      <vt:lpstr>Open Sans</vt:lpstr>
      <vt:lpstr>微软雅黑</vt:lpstr>
      <vt:lpstr>Arial</vt:lpstr>
      <vt:lpstr>webwppDefTheme</vt:lpstr>
      <vt:lpstr>1_webwppDefTheme</vt:lpstr>
      <vt:lpstr>2_webwppDefTheme</vt:lpstr>
      <vt:lpstr>3_webwppDefTheme</vt:lpstr>
      <vt:lpstr>4_webwppDefTheme</vt:lpstr>
      <vt:lpstr>5_webwppDefTheme</vt:lpstr>
      <vt:lpstr>6_webwppDefTheme</vt:lpstr>
      <vt:lpstr>10_webwppDefTheme</vt:lpstr>
      <vt:lpstr>11_webwppDefTheme</vt:lpstr>
      <vt:lpstr>7_webwppDefTheme</vt:lpstr>
      <vt:lpstr>8_webwppDefTheme</vt:lpstr>
      <vt:lpstr>9_webwppDefTheme</vt:lpstr>
      <vt:lpstr>12_webwppDefTheme</vt:lpstr>
      <vt:lpstr>13_webwppDefTheme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Zechen Wei14669</dc:creator>
  <cp:lastModifiedBy>Zhongyao Zhang</cp:lastModifiedBy>
  <cp:revision>399</cp:revision>
  <dcterms:created xsi:type="dcterms:W3CDTF">2025-10-27T09:32:28Z</dcterms:created>
  <dcterms:modified xsi:type="dcterms:W3CDTF">2026-10-19T04:31:48Z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/>
  </property>
</Properties>
</file>