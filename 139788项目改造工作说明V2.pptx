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7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8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9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0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1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2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3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4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5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6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7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18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87" r:id="rId2"/>
    <p:sldMasterId id="2147483699" r:id="rId3"/>
    <p:sldMasterId id="2147483710" r:id="rId4"/>
    <p:sldMasterId id="2147483721" r:id="rId5"/>
    <p:sldMasterId id="2147483732" r:id="rId6"/>
    <p:sldMasterId id="2147483744" r:id="rId7"/>
    <p:sldMasterId id="2147483755" r:id="rId8"/>
    <p:sldMasterId id="2147483766" r:id="rId9"/>
    <p:sldMasterId id="2147483777" r:id="rId10"/>
    <p:sldMasterId id="2147483788" r:id="rId11"/>
    <p:sldMasterId id="2147483799" r:id="rId12"/>
    <p:sldMasterId id="2147483811" r:id="rId13"/>
    <p:sldMasterId id="2147483823" r:id="rId14"/>
    <p:sldMasterId id="2147483835" r:id="rId15"/>
    <p:sldMasterId id="2147483847" r:id="rId16"/>
    <p:sldMasterId id="2147483859" r:id="rId17"/>
    <p:sldMasterId id="2147483871" r:id="rId18"/>
    <p:sldMasterId id="2147483883" r:id="rId19"/>
  </p:sldMasterIdLst>
  <p:notesMasterIdLst>
    <p:notesMasterId r:id="rId25"/>
  </p:notesMasterIdLst>
  <p:sldIdLst>
    <p:sldId id="306" r:id="rId20"/>
    <p:sldId id="3679" r:id="rId21"/>
    <p:sldId id="3661" r:id="rId22"/>
    <p:sldId id="3680" r:id="rId23"/>
    <p:sldId id="3422" r:id="rId24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959">
          <p15:clr>
            <a:srgbClr val="A4A3A4"/>
          </p15:clr>
        </p15:guide>
        <p15:guide id="2" orient="horz" pos="8062">
          <p15:clr>
            <a:srgbClr val="A4A3A4"/>
          </p15:clr>
        </p15:guide>
        <p15:guide id="3" orient="horz" pos="691">
          <p15:clr>
            <a:srgbClr val="A4A3A4"/>
          </p15:clr>
        </p15:guide>
        <p15:guide id="4" orient="horz" pos="38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2CDFD"/>
    <a:srgbClr val="2F5A9E"/>
    <a:srgbClr val="386DB4"/>
    <a:srgbClr val="49A0D4"/>
    <a:srgbClr val="3C6CB3"/>
    <a:srgbClr val="6FB5AB"/>
    <a:srgbClr val="789E45"/>
    <a:srgbClr val="CACC87"/>
    <a:srgbClr val="E95E5C"/>
    <a:srgbClr val="82C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99" autoAdjust="0"/>
  </p:normalViewPr>
  <p:slideViewPr>
    <p:cSldViewPr snapToGrid="0" snapToObjects="1">
      <p:cViewPr>
        <p:scale>
          <a:sx n="25" d="100"/>
          <a:sy n="25" d="100"/>
        </p:scale>
        <p:origin x="1244" y="684"/>
      </p:cViewPr>
      <p:guideLst>
        <p:guide pos="14959"/>
        <p:guide orient="horz" pos="8062"/>
        <p:guide orient="horz" pos="691"/>
        <p:guide orient="horz" pos="38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-5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824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9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771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3141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3422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64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40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7187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43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597468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769771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8656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24937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00142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20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726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0976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526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2633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04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773608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3884201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473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0789828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6881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4672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927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685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4518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894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503558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8657849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1359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417932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054730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364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3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4155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675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251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9548392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98962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49650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061972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078484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55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98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6298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32621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6903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7414861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321163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95178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3878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8176152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1076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6" y="1310004"/>
            <a:ext cx="17397096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8708"/>
            <a:ext cx="24384000" cy="569387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90" y="12948708"/>
            <a:ext cx="1662112" cy="5693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1" y="608331"/>
            <a:ext cx="5297806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440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9765" y="4617765"/>
            <a:ext cx="21704474" cy="1798334"/>
          </a:xfrm>
        </p:spPr>
        <p:txBody>
          <a:bodyPr rIns="25400" anchor="t"/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页脚占位符 1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4FD400-94D0-4ED6-A93C-2AA40A9E242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3210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3CC825-4656-41F6-80A0-7E51930C27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0641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162450"/>
            <a:ext cx="21704474" cy="1296000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33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BEC6C6-CFC1-4311-8680-D8482A992C9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732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80210" y="1455420"/>
            <a:ext cx="7863840" cy="2230120"/>
          </a:xfrm>
        </p:spPr>
        <p:txBody>
          <a:bodyPr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3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83D53C-7B98-40C6-BDD8-A8CE1D0D47B0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2033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339850" y="11210293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3"/>
            <a:ext cx="21704300" cy="911225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DE270C-350D-4C0E-9AA1-D96931F46A5C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38530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3" y="0"/>
            <a:ext cx="24392890" cy="1373632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DE95A2-CF63-4AAD-9B3D-C96FA9AF783D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2190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smtClean="0">
                <a:sym typeface="+mn-ea"/>
              </a:rPr>
              <a:t>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072DD-68B9-4B53-BD4B-86545AD4649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10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9765" y="1247185"/>
            <a:ext cx="21704474" cy="1798334"/>
          </a:xfrm>
        </p:spPr>
        <p:txBody>
          <a:bodyPr rIns="25400"/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lang="zh-CN" altLang="en-US" smtClean="0"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3235F8-AC07-453E-8759-D74DE3E6FDD7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4062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9842164" y="13154026"/>
            <a:ext cx="5068888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spcFirstLastPara="1" lIns="45720" tIns="45720" rIns="45720" bIns="45720" spcCol="3810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3" name="直线连接符 3"/>
          <p:cNvCxnSpPr/>
          <p:nvPr userDrawn="1"/>
        </p:nvCxnSpPr>
        <p:spPr>
          <a:xfrm>
            <a:off x="6540501" y="1830388"/>
            <a:ext cx="17129126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967" y="13192129"/>
            <a:ext cx="1465262" cy="323850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52319E4B-6ED2-4FA3-91E3-3367D62E902F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83222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dirty="0"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938005-03C5-4A75-AE7D-2E7992612E23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380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628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123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88626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3939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2952007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262593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19750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79455521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6669765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108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93582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37584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700129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24507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681002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44266041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50806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410233876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8976227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30927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20585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34884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32125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9613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94185531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7311052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350975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53836934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2231740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729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2700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1749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444589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5400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61001202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092791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365755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0246551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2842621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393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0826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81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776625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1636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10181002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65602838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35246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5698055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9133662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88989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57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86739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01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414019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63417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74078859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691116811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220061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58814838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4252087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3211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53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10726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79861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699444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3532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09101158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69043727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857109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31992585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0724890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6911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877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7791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5040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82422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161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3942811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917953578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2839977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103036278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4408310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48181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457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37568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52874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654208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33524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3048377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7970544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3413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2164165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0951054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16527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54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87003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32449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584121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97417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53653253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3969095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625178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2975059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4620011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43843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6986905" y="1310004"/>
            <a:ext cx="17397095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12949238"/>
            <a:ext cx="24384000" cy="56832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2721889" y="12949238"/>
            <a:ext cx="1662112" cy="568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38100" tIns="38100" rIns="38100" bIns="38100" numCol="1" spcCol="38100" rtlCol="0" anchor="ctr" forceAA="0">
            <a:spAutoFit/>
          </a:bodyPr>
          <a:lstStyle/>
          <a:p>
            <a:pPr marL="0" marR="0" lvl="0" indent="0" algn="ctr" defTabSz="8255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510" y="608330"/>
            <a:ext cx="5297805" cy="105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668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16221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099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83788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17224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BC47A4-756D-490B-A52F-7D9E2C9FC05F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651592598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313675579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1549714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290920694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fld id="{FAEDECE0-B3E3-4E93-9B91-9F10B30F5B07}" type="slidenum"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pPr marL="0" marR="0" lvl="0" indent="0" algn="ct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704020202020204" pitchFamily="34" charset="0"/>
              </a:rPr>
              <a:t>-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7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97766804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10511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5" y="4617763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440999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11897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1488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1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1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123571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1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1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6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87342686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6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80595858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6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6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864770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5" y="1247183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818192655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7" y="13192235"/>
            <a:ext cx="1464946" cy="323166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 smtClean="0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5" y="13153762"/>
            <a:ext cx="5068390" cy="4001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3" y="1830048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0515651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60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theme" Target="../theme/theme10.xml"/><Relationship Id="rId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9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1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theme" Target="../theme/theme18.xml"/><Relationship Id="rId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2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theme" Target="../theme/theme19.xml"/><Relationship Id="rId5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56" r:id="rId10"/>
    <p:sldLayoutId id="2147483894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29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353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37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7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9106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895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777" y="12700003"/>
            <a:ext cx="7918450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 dirty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700003"/>
            <a:ext cx="5400676" cy="63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smtClean="0">
                <a:solidFill>
                  <a:schemeClr val="tx1">
                    <a:tint val="75000"/>
                  </a:schemeClr>
                </a:solidFill>
                <a:latin typeface="+mn-ea"/>
                <a:ea typeface="Helvetica Neue" pitchFamily="2" charset="0"/>
                <a:cs typeface="Helvetica Neue" pitchFamily="2" charset="0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3C2648-72DC-43D6-B661-2D93F402C08B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850" y="1162050"/>
            <a:ext cx="21704300" cy="1296988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3"/>
            <a:ext cx="21704300" cy="949801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64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</p:sldLayoutIdLst>
  <p:hf hdr="0" ftr="0" dt="0"/>
  <p:txStyles>
    <p:titleStyle>
      <a:lvl1pPr algn="l" defTabSz="1828800" rtl="0" fontAlgn="base">
        <a:spcBef>
          <a:spcPct val="0"/>
        </a:spcBef>
        <a:spcAft>
          <a:spcPct val="0"/>
        </a:spcAft>
        <a:defRPr sz="5600" b="1" kern="1200" spc="200">
          <a:solidFill>
            <a:schemeClr val="tx1"/>
          </a:solidFill>
          <a:latin typeface="+mn-ea"/>
          <a:ea typeface="+mn-ea"/>
          <a:cs typeface="+mj-cs"/>
        </a:defRPr>
      </a:lvl1pPr>
      <a:lvl2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1828800" rtl="0" fontAlgn="base">
        <a:spcBef>
          <a:spcPct val="0"/>
        </a:spcBef>
        <a:spcAft>
          <a:spcPct val="0"/>
        </a:spcAft>
        <a:defRPr sz="56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572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1pPr>
      <a:lvl2pPr marL="13716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2pPr>
      <a:lvl3pPr marL="22860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3pPr>
      <a:lvl4pPr marL="32004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4pPr>
      <a:lvl5pPr marL="4114800" indent="-457200" algn="l" defTabSz="1828800" rtl="0" fontAlgn="base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kern="1200" spc="150">
          <a:solidFill>
            <a:schemeClr val="tx1"/>
          </a:solidFill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32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762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865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56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0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70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4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7227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802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604020202020204" pitchFamily="34" charset="0"/>
              </a:rPr>
              <a:pPr marL="0" marR="0" lvl="0" indent="0" algn="r" defTabSz="8255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319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l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marL="0" marR="0" lvl="0" indent="0" algn="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cs typeface="+mn-cs"/>
                <a:sym typeface="Arial" panose="020B0704020202020204" pitchFamily="34" charset="0"/>
              </a:rPr>
              <a:pPr marL="0" marR="0" lvl="0" indent="0" algn="r" defTabSz="8255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55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7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69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1828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1828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5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1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15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419484" y="4058437"/>
            <a:ext cx="21948148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algn="ctr" eaLnBrk="1">
              <a:buFont typeface="Arial" panose="020B0604020202020204" pitchFamily="34" charset="0"/>
              <a:buNone/>
            </a:pPr>
            <a:r>
              <a:rPr lang="en-US" altLang="zh-CN" sz="11500" b="1" dirty="0" smtClean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139788BLA</a:t>
            </a:r>
            <a:r>
              <a:rPr lang="zh-CN" altLang="en-US" sz="11500" b="1" dirty="0" smtClean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改造方案汇报</a:t>
            </a:r>
            <a:endParaRPr lang="zh-CN" altLang="en-US" sz="11500" b="1" dirty="0">
              <a:solidFill>
                <a:srgbClr val="386D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  <p:sp>
        <p:nvSpPr>
          <p:cNvPr id="7" name="Rectangle 111">
            <a:extLst>
              <a:ext uri="{FF2B5EF4-FFF2-40B4-BE49-F238E27FC236}">
                <a16:creationId xmlns:a16="http://schemas.microsoft.com/office/drawing/2014/main" id="{0CD1D470-D656-E345-8FE7-6A26C128270C}"/>
              </a:ext>
            </a:extLst>
          </p:cNvPr>
          <p:cNvSpPr txBox="1"/>
          <p:nvPr/>
        </p:nvSpPr>
        <p:spPr>
          <a:xfrm>
            <a:off x="2148288" y="12402700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dirty="0" err="1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     Stock Code: 002821.SZ / 6821.HK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5D7E75-2AF4-0B42-8DD7-1762EE917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3934" y="1591206"/>
            <a:ext cx="10360072" cy="1798765"/>
          </a:xfrm>
          <a:prstGeom prst="rect">
            <a:avLst/>
          </a:prstGeom>
        </p:spPr>
      </p:pic>
      <p:sp>
        <p:nvSpPr>
          <p:cNvPr id="8" name="Rectangle 111">
            <a:extLst>
              <a:ext uri="{FF2B5EF4-FFF2-40B4-BE49-F238E27FC236}">
                <a16:creationId xmlns:a16="http://schemas.microsoft.com/office/drawing/2014/main" id="{D2B016D7-8BC7-BE4D-809F-F93FFF2B176A}"/>
              </a:ext>
            </a:extLst>
          </p:cNvPr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bg1"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Conﬁdential | </a:t>
            </a:r>
            <a:r>
              <a:rPr lang="zh-CN" altLang="en-US" sz="2800" dirty="0">
                <a:solidFill>
                  <a:schemeClr val="bg1"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保密文件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2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8F7B16-9CFC-536C-9F75-97145FE781A1}"/>
              </a:ext>
            </a:extLst>
          </p:cNvPr>
          <p:cNvSpPr txBox="1"/>
          <p:nvPr/>
        </p:nvSpPr>
        <p:spPr>
          <a:xfrm>
            <a:off x="12594590" y="981729"/>
            <a:ext cx="1019001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r" eaLnBrk="0" hangingPunct="0"/>
            <a:r>
              <a:rPr lang="zh-CN" altLang="en-US" sz="4800" b="1" dirty="0" smtClean="0">
                <a:solidFill>
                  <a:srgbClr val="2F5A9E"/>
                </a:solidFill>
                <a:latin typeface="+mj-ea"/>
                <a:ea typeface="+mj-ea"/>
              </a:rPr>
              <a:t>三种改造方案</a:t>
            </a:r>
            <a:r>
              <a:rPr lang="en-US" altLang="zh-CN" sz="4800" b="1" dirty="0" smtClean="0">
                <a:solidFill>
                  <a:srgbClr val="2F5A9E"/>
                </a:solidFill>
                <a:latin typeface="+mj-ea"/>
                <a:ea typeface="+mj-ea"/>
              </a:rPr>
              <a:t>-</a:t>
            </a:r>
            <a:r>
              <a:rPr lang="zh-CN" altLang="en-US" sz="4800" b="1" dirty="0" smtClean="0">
                <a:solidFill>
                  <a:srgbClr val="2F5A9E"/>
                </a:solidFill>
                <a:latin typeface="+mj-ea"/>
                <a:ea typeface="+mj-ea"/>
              </a:rPr>
              <a:t>完成时间</a:t>
            </a:r>
            <a:r>
              <a:rPr lang="en-US" altLang="zh-CN" sz="4800" b="1" dirty="0" smtClean="0">
                <a:solidFill>
                  <a:srgbClr val="2F5A9E"/>
                </a:solidFill>
                <a:latin typeface="+mj-ea"/>
                <a:ea typeface="+mj-ea"/>
              </a:rPr>
              <a:t>-</a:t>
            </a:r>
            <a:r>
              <a:rPr lang="zh-CN" altLang="en-US" sz="4800" b="1" dirty="0" smtClean="0">
                <a:solidFill>
                  <a:srgbClr val="2F5A9E"/>
                </a:solidFill>
                <a:latin typeface="+mj-ea"/>
                <a:ea typeface="+mj-ea"/>
              </a:rPr>
              <a:t>优缺点</a:t>
            </a:r>
            <a:endParaRPr lang="en-US" altLang="zh-CN" sz="4800" b="1" dirty="0">
              <a:solidFill>
                <a:srgbClr val="2F5A9E"/>
              </a:solidFill>
              <a:latin typeface="+mj-ea"/>
              <a:ea typeface="+mj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02037"/>
              </p:ext>
            </p:extLst>
          </p:nvPr>
        </p:nvGraphicFramePr>
        <p:xfrm>
          <a:off x="1579416" y="2119745"/>
          <a:ext cx="20927292" cy="10681856"/>
        </p:xfrm>
        <a:graphic>
          <a:graphicData uri="http://schemas.openxmlformats.org/drawingml/2006/table">
            <a:tbl>
              <a:tblPr/>
              <a:tblGrid>
                <a:gridCol w="1537857">
                  <a:extLst>
                    <a:ext uri="{9D8B030D-6E8A-4147-A177-3AD203B41FA5}">
                      <a16:colId xmlns:a16="http://schemas.microsoft.com/office/drawing/2014/main" val="1073713812"/>
                    </a:ext>
                  </a:extLst>
                </a:gridCol>
                <a:gridCol w="9206345">
                  <a:extLst>
                    <a:ext uri="{9D8B030D-6E8A-4147-A177-3AD203B41FA5}">
                      <a16:colId xmlns:a16="http://schemas.microsoft.com/office/drawing/2014/main" val="1378831734"/>
                    </a:ext>
                  </a:extLst>
                </a:gridCol>
                <a:gridCol w="2680855">
                  <a:extLst>
                    <a:ext uri="{9D8B030D-6E8A-4147-A177-3AD203B41FA5}">
                      <a16:colId xmlns:a16="http://schemas.microsoft.com/office/drawing/2014/main" val="2320156243"/>
                    </a:ext>
                  </a:extLst>
                </a:gridCol>
                <a:gridCol w="7502235">
                  <a:extLst>
                    <a:ext uri="{9D8B030D-6E8A-4147-A177-3AD203B41FA5}">
                      <a16:colId xmlns:a16="http://schemas.microsoft.com/office/drawing/2014/main" val="2671582599"/>
                    </a:ext>
                  </a:extLst>
                </a:gridCol>
              </a:tblGrid>
              <a:tr h="9710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改造方案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改造内容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完成时间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改造后的有优缺点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96703"/>
                  </a:ext>
                </a:extLst>
              </a:tr>
              <a:tr h="3236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方案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b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（改造管路预留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排净，最短方案）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哈式合金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R05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釜重新安装一套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标准设备。配液的储罐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个更换为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材质储罐。制备操作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个接收桶需要更换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个侧部取样的小接桶，区域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台储罐改造符合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的罐口。超滤区域更换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的原液罐为符合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搅拌储罐，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管路未考虑搭设建立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。沉淀区域更换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的搅拌罐为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DN1200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三合一改造罐口，其他主设备保持不变。所有配置的管道、仪表、阀门、计量泵、隔膜泵等改为离心泵、四元隔膜泵、仪表、阀门、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计、流量计符合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要求，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储罐接口和水体系不满足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，流动相的没有强制要求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12/17/2026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优点：只对制备配液、制备组分、沉淀区域设备以旧换新以及部分罐口改造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要求，对管路配件改为离心泵、四元隔膜泵、仪表、阀门、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计、流量计符合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要求且有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净，改造时间短设备验证项目少；</a:t>
                      </a:r>
                      <a:b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缺点：没有对部分三合一、反应釜、储罐设备材质本身进行符合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更换，大部分连接管路没有考虑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体系改造，需要评估后续审计风险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501304"/>
                  </a:ext>
                </a:extLst>
              </a:tr>
              <a:tr h="3236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方案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b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（改造管路预留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清洗阀门）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哈式合金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R05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釜重新安装一套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标准设备。配液的储罐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个更换为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材质储罐。制备操作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个接收桶需要更换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个侧部取样的小接桶，区域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台储罐改造符合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的罐口。超滤区域更换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的原液罐为符合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搅拌储罐，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管路搭设建立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。沉淀区域更换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的搅拌罐为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DN1200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三合一改造罐口，其他主设备保持不变。所有配置的管道、仪表、阀门、计量泵、隔膜泵等改为离心泵、四元隔膜泵、仪表、阀门、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流量计符合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要求且有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净，按照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设计，预留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清洗管道的阀门接口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01/20/2027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优点：对制备配液、制备组分、沉淀区域设备以旧换新以及部分罐口改造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要求，对管路配件改为离心泵、四元隔膜泵、仪表、阀门、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计、流量计符合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要求且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净，预留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清洗管道的阀门接口，后续增加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系统方便。</a:t>
                      </a:r>
                      <a:b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改造时间短设备验证项目少；</a:t>
                      </a:r>
                      <a:b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缺点：没有对部分三合一、反应釜、储罐设备材质本身进行符合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更换，大部分连接管路没有考虑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体系改造，需要评估后续审计风险。同时增加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清洗预留阀门采购周期长。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31598"/>
                  </a:ext>
                </a:extLst>
              </a:tr>
              <a:tr h="323692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方案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b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（改造管路新建</a:t>
                      </a:r>
                      <a:r>
                        <a:rPr lang="en-US" altLang="zh-CN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哈式合金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R05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釜重新安装一套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标准设备。配液的储罐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个更换为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材质储罐，管路改造搭设建立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系统。制备操作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个接收桶需要更换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个侧部取样的小接桶，区域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台储罐改造符合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的罐口，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管路搭设建立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系统。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超滤区域更换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的原液罐为符合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搅拌储罐，管路改造搭设建立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系统。沉淀区域更换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的搅拌罐为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600L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搅拌罐为符合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标准设备，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DN1200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三合一改造罐口，其他主设备保持不变，管路改造搭设建立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系统。所有配置的管道、仪表、阀门、计量泵、隔膜泵等改为离心泵、四元隔膜泵、仪表、阀门、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计、流量计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符合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要求且有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净，改造建立</a:t>
                      </a:r>
                      <a:r>
                        <a:rPr lang="en-US" altLang="zh-CN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管道、阀门清洗体系，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考虑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316L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材质。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04/25/2027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优点：对制备配液、制备组分、沉淀区域设备以旧换新以及部分罐口改造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要求，对管路配件改为离心泵、四元隔膜泵、仪表、阀门、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PH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计、流量计符合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要求且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altLang="zh-CN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3D</a:t>
                      </a:r>
                      <a:r>
                        <a:rPr lang="zh-CN" altLang="en-U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排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净，建立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清洗管道和阀门清洗系统，保障最大程度合规；</a:t>
                      </a:r>
                      <a:b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缺点：没有对部分三合一、反应釜、储罐设备材质本身进行符合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BPE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更换，管路改造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CIP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供货周期长，改造施工项多，后续验证多，采购、施工、验证周期长。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505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1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3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C68F7B16-9CFC-536C-9F75-97145FE781A1}"/>
              </a:ext>
            </a:extLst>
          </p:cNvPr>
          <p:cNvSpPr txBox="1"/>
          <p:nvPr/>
        </p:nvSpPr>
        <p:spPr>
          <a:xfrm>
            <a:off x="12435178" y="690572"/>
            <a:ext cx="9842933" cy="83099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indent="0" algn="r" eaLnBrk="0" hangingPunct="0"/>
            <a:r>
              <a:rPr lang="zh-CN" altLang="en-US" sz="4800" b="1" dirty="0" smtClean="0">
                <a:solidFill>
                  <a:srgbClr val="2F5A9E"/>
                </a:solidFill>
                <a:latin typeface="+mj-ea"/>
                <a:ea typeface="+mj-ea"/>
              </a:rPr>
              <a:t>设备和储罐改造替换计划</a:t>
            </a:r>
            <a:endParaRPr lang="en-US" altLang="zh-CN" sz="4800" b="1" dirty="0">
              <a:solidFill>
                <a:srgbClr val="2F5A9E"/>
              </a:solidFill>
              <a:latin typeface="+mj-ea"/>
              <a:ea typeface="+mj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22453"/>
              </p:ext>
            </p:extLst>
          </p:nvPr>
        </p:nvGraphicFramePr>
        <p:xfrm>
          <a:off x="1901792" y="1995148"/>
          <a:ext cx="20376319" cy="10993490"/>
        </p:xfrm>
        <a:graphic>
          <a:graphicData uri="http://schemas.openxmlformats.org/drawingml/2006/table">
            <a:tbl>
              <a:tblPr/>
              <a:tblGrid>
                <a:gridCol w="966099">
                  <a:extLst>
                    <a:ext uri="{9D8B030D-6E8A-4147-A177-3AD203B41FA5}">
                      <a16:colId xmlns:a16="http://schemas.microsoft.com/office/drawing/2014/main" val="112824029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102909479"/>
                    </a:ext>
                  </a:extLst>
                </a:gridCol>
                <a:gridCol w="2244436">
                  <a:extLst>
                    <a:ext uri="{9D8B030D-6E8A-4147-A177-3AD203B41FA5}">
                      <a16:colId xmlns:a16="http://schemas.microsoft.com/office/drawing/2014/main" val="1698897235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4203078465"/>
                    </a:ext>
                  </a:extLst>
                </a:gridCol>
                <a:gridCol w="1330036">
                  <a:extLst>
                    <a:ext uri="{9D8B030D-6E8A-4147-A177-3AD203B41FA5}">
                      <a16:colId xmlns:a16="http://schemas.microsoft.com/office/drawing/2014/main" val="1290869615"/>
                    </a:ext>
                  </a:extLst>
                </a:gridCol>
                <a:gridCol w="1018309">
                  <a:extLst>
                    <a:ext uri="{9D8B030D-6E8A-4147-A177-3AD203B41FA5}">
                      <a16:colId xmlns:a16="http://schemas.microsoft.com/office/drawing/2014/main" val="62447646"/>
                    </a:ext>
                  </a:extLst>
                </a:gridCol>
                <a:gridCol w="1184564">
                  <a:extLst>
                    <a:ext uri="{9D8B030D-6E8A-4147-A177-3AD203B41FA5}">
                      <a16:colId xmlns:a16="http://schemas.microsoft.com/office/drawing/2014/main" val="896957450"/>
                    </a:ext>
                  </a:extLst>
                </a:gridCol>
                <a:gridCol w="1849582">
                  <a:extLst>
                    <a:ext uri="{9D8B030D-6E8A-4147-A177-3AD203B41FA5}">
                      <a16:colId xmlns:a16="http://schemas.microsoft.com/office/drawing/2014/main" val="3190468727"/>
                    </a:ext>
                  </a:extLst>
                </a:gridCol>
                <a:gridCol w="2140527">
                  <a:extLst>
                    <a:ext uri="{9D8B030D-6E8A-4147-A177-3AD203B41FA5}">
                      <a16:colId xmlns:a16="http://schemas.microsoft.com/office/drawing/2014/main" val="4283328964"/>
                    </a:ext>
                  </a:extLst>
                </a:gridCol>
                <a:gridCol w="2182091">
                  <a:extLst>
                    <a:ext uri="{9D8B030D-6E8A-4147-A177-3AD203B41FA5}">
                      <a16:colId xmlns:a16="http://schemas.microsoft.com/office/drawing/2014/main" val="1702660880"/>
                    </a:ext>
                  </a:extLst>
                </a:gridCol>
                <a:gridCol w="5590311">
                  <a:extLst>
                    <a:ext uri="{9D8B030D-6E8A-4147-A177-3AD203B41FA5}">
                      <a16:colId xmlns:a16="http://schemas.microsoft.com/office/drawing/2014/main" val="1132515242"/>
                    </a:ext>
                  </a:extLst>
                </a:gridCol>
              </a:tblGrid>
              <a:tr h="6276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工序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序号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设备位号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设备规格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设备材质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状态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设备厂家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设备用途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到货时间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图纸是否交与设计</a:t>
                      </a: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CIP</a:t>
                      </a:r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厂家澄清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备注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965457"/>
                  </a:ext>
                </a:extLst>
              </a:tr>
              <a:tr h="987225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制备系统储罐</a:t>
                      </a:r>
                      <a:b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汉邦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TJ4S-1213-R05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哈氏合金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溶料配液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11/07/2026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两个方案：</a:t>
                      </a:r>
                      <a:b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方案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：现场改造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时间来不及；</a:t>
                      </a:r>
                      <a:b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暂定按照方案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：按照中式区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更换诚信新釜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供应商新图纸（</a:t>
                      </a:r>
                      <a:r>
                        <a:rPr lang="en-US" altLang="zh-CN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AT04</a:t>
                      </a:r>
                      <a:r>
                        <a:rPr lang="zh-CN" alt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911345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东富龙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浓盐罐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10/20/2026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993290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配盐罐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078019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纯水储罐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489313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乙腈储罐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4315769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流动相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519446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流动相</a:t>
                      </a: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48996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TJ4S-1211-HPPC03-WT01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废液储罐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9017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TJ4S-1211-HPPC03-WT02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废液储罐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156074"/>
                  </a:ext>
                </a:extLst>
              </a:tr>
              <a:tr h="74041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异丙醇储罐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确定异丙醇能否使用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T06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储罐（方案取消）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b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刘林冲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已经确定将储罐更换为英德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1500L 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备用储罐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-2026.09.27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407629"/>
                  </a:ext>
                </a:extLst>
              </a:tr>
              <a:tr h="49361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级洁净区</a:t>
                      </a:r>
                      <a:b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汉邦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组分罐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11/05/2026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499027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上样罐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11/05/2026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550051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组分罐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缓冲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11/05/2026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392272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TJ4S-1211-HPPC03-AT06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组分接收罐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合格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11/05/2026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499830"/>
                  </a:ext>
                </a:extLst>
              </a:tr>
              <a:tr h="4936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TJ4S-1211-HPPC03-T06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顶样罐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11/05/2026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878015"/>
                  </a:ext>
                </a:extLst>
              </a:tr>
              <a:tr h="246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TJ4S-1211-MTK03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汉邦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匀浆罐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01435"/>
                  </a:ext>
                </a:extLst>
              </a:tr>
              <a:tr h="74041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超滤系统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东富龙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TJ4S-1211-TFF02-T01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超滤接收罐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810236"/>
                  </a:ext>
                </a:extLst>
              </a:tr>
              <a:tr h="49361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转盐、析晶、结晶釜、三合一</a:t>
                      </a:r>
                      <a:b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</a:b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亚光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TJ4S-1211-AT02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NaOH+MeOH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储存溶液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055811"/>
                  </a:ext>
                </a:extLst>
              </a:tr>
              <a:tr h="246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TJ4S-1211-AT01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316L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需更换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英德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转盐釜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10/18/2026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更换储罐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352642"/>
                  </a:ext>
                </a:extLst>
              </a:tr>
              <a:tr h="246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TJ4S-1211-R01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2000L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哈氏合金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无需改造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诚信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析晶釜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罐口无改造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4785922"/>
                  </a:ext>
                </a:extLst>
              </a:tr>
              <a:tr h="24680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TJ4S-1211-FD01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DN1200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哈氏合金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亚光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三合一烘料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11/10/2026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改完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是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改造罐口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需要提供供应商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98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46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4</a:t>
            </a:fld>
            <a:r>
              <a:rPr lang="en-US" altLang="zh-CN" smtClean="0"/>
              <a:t>-</a:t>
            </a:r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6472050" y="2776118"/>
            <a:ext cx="4544790" cy="830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>
              <a:defRPr lang="en-US"/>
            </a:defPPr>
            <a:lvl1pPr marL="0" marR="0" lvl="0" indent="0" algn="r" eaLnBrk="1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2F5A9E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sym typeface="Arial" panose="020B0704020202020204" pitchFamily="34" charset="0"/>
              </a:rPr>
              <a:t>方案</a:t>
            </a:r>
            <a:r>
              <a:rPr lang="zh-CN" altLang="en-US" dirty="0" smtClean="0">
                <a:sym typeface="Arial" panose="020B0704020202020204" pitchFamily="34" charset="0"/>
              </a:rPr>
              <a:t>三</a:t>
            </a:r>
            <a:endParaRPr lang="en-US" altLang="zh-CN" dirty="0">
              <a:sym typeface="Arial" panose="020B07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3084" y="2797232"/>
            <a:ext cx="4753178" cy="830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>
              <a:defRPr lang="en-US"/>
            </a:defPPr>
            <a:lvl1pPr marL="0" marR="0" lvl="0" indent="0" algn="r" eaLnBrk="1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2F5A9E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sym typeface="Arial" panose="020B0704020202020204" pitchFamily="34" charset="0"/>
              </a:rPr>
              <a:t>方案</a:t>
            </a:r>
            <a:r>
              <a:rPr lang="zh-CN" altLang="en-US" dirty="0" smtClean="0">
                <a:sym typeface="Arial" panose="020B0704020202020204" pitchFamily="34" charset="0"/>
              </a:rPr>
              <a:t>二</a:t>
            </a:r>
            <a:endParaRPr lang="en-US" altLang="zh-CN" dirty="0">
              <a:sym typeface="Arial" panose="020B0704020202020204" pitchFamily="34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-1760375" y="2825105"/>
            <a:ext cx="6830423" cy="830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>
              <a:defRPr lang="en-US"/>
            </a:defPPr>
            <a:lvl1pPr marL="0" marR="0" lvl="0" indent="0" algn="r" eaLnBrk="1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2F5A9E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sym typeface="Arial" panose="020B0704020202020204" pitchFamily="34" charset="0"/>
              </a:rPr>
              <a:t>方案</a:t>
            </a:r>
            <a:r>
              <a:rPr lang="zh-CN" altLang="en-US" dirty="0" smtClean="0">
                <a:sym typeface="Arial" panose="020B0704020202020204" pitchFamily="34" charset="0"/>
              </a:rPr>
              <a:t>一</a:t>
            </a:r>
            <a:endParaRPr lang="en-US" altLang="zh-CN" dirty="0">
              <a:sym typeface="Arial" panose="020B0704020202020204" pitchFamily="34" charset="0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1726322" y="825663"/>
            <a:ext cx="11307487" cy="830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>
              <a:defRPr lang="en-US"/>
            </a:defPPr>
            <a:lvl1pPr marL="0" marR="0" lvl="0" indent="0" algn="r" eaLnBrk="1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2F5A9E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>
                <a:sym typeface="Arial" panose="020B0704020202020204" pitchFamily="34" charset="0"/>
              </a:rPr>
              <a:t>管路改造</a:t>
            </a:r>
            <a:r>
              <a:rPr lang="zh-CN" altLang="en-US" dirty="0" smtClean="0">
                <a:sym typeface="Arial" panose="020B0704020202020204" pitchFamily="34" charset="0"/>
              </a:rPr>
              <a:t>方案</a:t>
            </a:r>
            <a:r>
              <a:rPr lang="zh-CN" altLang="en-US" dirty="0">
                <a:sym typeface="Arial" panose="020B0704020202020204" pitchFamily="34" charset="0"/>
              </a:rPr>
              <a:t>示意</a:t>
            </a:r>
            <a:endParaRPr lang="en-US" altLang="zh-CN" dirty="0">
              <a:sym typeface="Arial" panose="020B07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1" t="6715" r="6703" b="1981"/>
          <a:stretch/>
        </p:blipFill>
        <p:spPr>
          <a:xfrm>
            <a:off x="186876" y="4750903"/>
            <a:ext cx="7883697" cy="62616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1" t="8877" r="7076" b="734"/>
          <a:stretch/>
        </p:blipFill>
        <p:spPr>
          <a:xfrm>
            <a:off x="8434837" y="4722680"/>
            <a:ext cx="7792278" cy="62815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9" t="6521" r="6838" b="3090"/>
          <a:stretch/>
        </p:blipFill>
        <p:spPr>
          <a:xfrm>
            <a:off x="16591379" y="4722681"/>
            <a:ext cx="7633253" cy="62815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765552"/>
              </p:ext>
            </p:extLst>
          </p:nvPr>
        </p:nvGraphicFramePr>
        <p:xfrm>
          <a:off x="21016840" y="11455401"/>
          <a:ext cx="2016969" cy="1736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ZWCAD Drawing" showAsIcon="1" r:id="rId6" imgW="914400" imgH="787320" progId="ZWCAD.Drawing.2020">
                  <p:embed/>
                </p:oleObj>
              </mc:Choice>
              <mc:Fallback>
                <p:oleObj name="ZWCAD Drawing" showAsIcon="1" r:id="rId6" imgW="914400" imgH="787320" progId="ZWCAD.Drawing.20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016840" y="11455401"/>
                        <a:ext cx="2016969" cy="1736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435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981698" y="4845097"/>
            <a:ext cx="11151914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itchFamily="2" charset="0"/>
                <a:cs typeface="Helvetica Neue" pitchFamily="2" charset="0"/>
                <a:sym typeface="Arial" panose="020B0604020202020204" pitchFamily="34" charset="0"/>
              </a:defRPr>
            </a:lvl9pPr>
          </a:lstStyle>
          <a:p>
            <a:pPr algn="dist" eaLnBrk="1">
              <a:buFont typeface="Arial" panose="020B0604020202020204" pitchFamily="34" charset="0"/>
              <a:buNone/>
            </a:pPr>
            <a:r>
              <a:rPr lang="en-US" altLang="zh-CN" sz="11500" b="1" dirty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THANK</a:t>
            </a:r>
            <a:r>
              <a:rPr lang="zh-CN" altLang="en-US" sz="11500" b="1" dirty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 </a:t>
            </a:r>
            <a:r>
              <a:rPr lang="en-US" altLang="zh-CN" sz="11500" b="1" dirty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YOU</a:t>
            </a:r>
            <a:r>
              <a:rPr lang="zh-CN" altLang="en-US" sz="11500" b="1" dirty="0">
                <a:solidFill>
                  <a:srgbClr val="386DB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！</a:t>
            </a:r>
            <a:endParaRPr lang="en-US" altLang="zh-CN" sz="11500" b="1" dirty="0">
              <a:solidFill>
                <a:srgbClr val="386DB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  <p:pic>
        <p:nvPicPr>
          <p:cNvPr id="6148" name="图片 1" descr="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75625" y="2317750"/>
            <a:ext cx="7534275" cy="150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13DCAC9C-694B-D84A-9701-CF02A6618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3754" y="16387430"/>
            <a:ext cx="6917387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100" tIns="38100" rIns="38100" bIns="38100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eaLnBrk="1">
              <a:buFont typeface="Arial" panose="020B0604020202020204" pitchFamily="34" charset="0"/>
              <a:buNone/>
            </a:pPr>
            <a:r>
              <a:rPr lang="en-US" altLang="zh-CN" sz="6000" dirty="0" err="1">
                <a:solidFill>
                  <a:srgbClr val="386DB4"/>
                </a:solidFill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Asymchem</a:t>
            </a:r>
            <a:r>
              <a:rPr lang="zh-CN" altLang="en-US" sz="6000" dirty="0">
                <a:solidFill>
                  <a:srgbClr val="386DB4"/>
                </a:solidFill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 </a:t>
            </a:r>
            <a:r>
              <a:rPr lang="en-US" altLang="zh-CN" sz="6000" dirty="0">
                <a:solidFill>
                  <a:srgbClr val="386DB4"/>
                </a:solidFill>
                <a:ea typeface="宋体" pitchFamily="2" charset="-122"/>
                <a:cs typeface="Arial" panose="020B0604020202020204" pitchFamily="34" charset="0"/>
                <a:sym typeface="Impact" panose="020B0806030902050204" pitchFamily="34" charset="0"/>
              </a:rPr>
              <a:t>Labs.</a:t>
            </a:r>
          </a:p>
        </p:txBody>
      </p:sp>
      <p:sp>
        <p:nvSpPr>
          <p:cNvPr id="11" name="Rectangle 111">
            <a:extLst>
              <a:ext uri="{FF2B5EF4-FFF2-40B4-BE49-F238E27FC236}">
                <a16:creationId xmlns:a16="http://schemas.microsoft.com/office/drawing/2014/main" id="{8C014153-421C-604C-A54E-889CAFF2DF5C}"/>
              </a:ext>
            </a:extLst>
          </p:cNvPr>
          <p:cNvSpPr txBox="1"/>
          <p:nvPr/>
        </p:nvSpPr>
        <p:spPr>
          <a:xfrm>
            <a:off x="18037608" y="12518380"/>
            <a:ext cx="5680220" cy="664797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bg1"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Conﬁdential | </a:t>
            </a:r>
            <a:r>
              <a:rPr lang="zh-CN" altLang="en-US" sz="2800" dirty="0">
                <a:solidFill>
                  <a:schemeClr val="bg1">
                    <a:alpha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保密文件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17F5A2-E84D-1F43-9967-5657A0A10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3934" y="1591206"/>
            <a:ext cx="10360072" cy="1798765"/>
          </a:xfrm>
          <a:prstGeom prst="rect">
            <a:avLst/>
          </a:prstGeom>
        </p:spPr>
      </p:pic>
      <p:sp>
        <p:nvSpPr>
          <p:cNvPr id="12" name="Rectangle 111">
            <a:extLst>
              <a:ext uri="{FF2B5EF4-FFF2-40B4-BE49-F238E27FC236}">
                <a16:creationId xmlns:a16="http://schemas.microsoft.com/office/drawing/2014/main" id="{5EC36887-00C0-664F-8211-76772A72E1A7}"/>
              </a:ext>
            </a:extLst>
          </p:cNvPr>
          <p:cNvSpPr txBox="1"/>
          <p:nvPr/>
        </p:nvSpPr>
        <p:spPr>
          <a:xfrm>
            <a:off x="2172351" y="12402700"/>
            <a:ext cx="12036572" cy="820609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dirty="0" err="1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</a:t>
            </a:r>
            <a:r>
              <a:rPr lang="en-US" altLang="zh-CN" sz="360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     Stock Code: 002821.SZ / 6821.HK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42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8376</TotalTime>
  <Words>1293</Words>
  <Application>Microsoft Office PowerPoint</Application>
  <PresentationFormat>自定义</PresentationFormat>
  <Paragraphs>259</Paragraphs>
  <Slides>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35" baseType="lpstr">
      <vt:lpstr>Helvetica Light</vt:lpstr>
      <vt:lpstr>Helvetica Neue</vt:lpstr>
      <vt:lpstr>等线</vt:lpstr>
      <vt:lpstr>仿宋</vt:lpstr>
      <vt:lpstr>黑体</vt:lpstr>
      <vt:lpstr>宋体</vt:lpstr>
      <vt:lpstr>微软雅黑</vt:lpstr>
      <vt:lpstr>微软雅黑</vt:lpstr>
      <vt:lpstr>Arial</vt:lpstr>
      <vt:lpstr>Impact</vt:lpstr>
      <vt:lpstr>webwppDefTheme</vt:lpstr>
      <vt:lpstr>1_webwppDefTheme</vt:lpstr>
      <vt:lpstr>2_webwppDefTheme</vt:lpstr>
      <vt:lpstr>3_webwppDefTheme</vt:lpstr>
      <vt:lpstr>4_webwppDefTheme</vt:lpstr>
      <vt:lpstr>27_webwppDefTheme</vt:lpstr>
      <vt:lpstr>21_webwppDefTheme</vt:lpstr>
      <vt:lpstr>24_webwppDefTheme</vt:lpstr>
      <vt:lpstr>22_webwppDefTheme</vt:lpstr>
      <vt:lpstr>23_webwppDefTheme</vt:lpstr>
      <vt:lpstr>5_webwppDefTheme</vt:lpstr>
      <vt:lpstr>6_webwppDefTheme</vt:lpstr>
      <vt:lpstr>7_webwppDefTheme</vt:lpstr>
      <vt:lpstr>8_webwppDefTheme</vt:lpstr>
      <vt:lpstr>9_webwppDefTheme</vt:lpstr>
      <vt:lpstr>10_webwppDefTheme</vt:lpstr>
      <vt:lpstr>11_webwppDefTheme</vt:lpstr>
      <vt:lpstr>12_webwppDefTheme</vt:lpstr>
      <vt:lpstr>13_webwppDefTheme</vt:lpstr>
      <vt:lpstr>ZWCAD Drawing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Hongjie Guo</cp:lastModifiedBy>
  <cp:revision>1252</cp:revision>
  <cp:lastPrinted>2020-08-24T06:52:00Z</cp:lastPrinted>
  <dcterms:created xsi:type="dcterms:W3CDTF">2020-08-24T06:52:00Z</dcterms:created>
  <dcterms:modified xsi:type="dcterms:W3CDTF">2026-10-01T11:12:34Z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