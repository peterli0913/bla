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7.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8.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9.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10.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11.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12.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13.xml" ContentType="application/vnd.openxmlformats-officedocument.theme+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 id="2147483682" r:id="rId4"/>
    <p:sldMasterId id="2147483694" r:id="rId5"/>
    <p:sldMasterId id="2147483706" r:id="rId6"/>
    <p:sldMasterId id="2147483718" r:id="rId7"/>
    <p:sldMasterId id="2147483730" r:id="rId8"/>
    <p:sldMasterId id="2147483741" r:id="rId9"/>
    <p:sldMasterId id="2147483752" r:id="rId10"/>
    <p:sldMasterId id="2147483764" r:id="rId11"/>
    <p:sldMasterId id="2147483776" r:id="rId12"/>
    <p:sldMasterId id="2147483788" r:id="rId13"/>
    <p:sldMasterId id="2147483814" r:id="rId14"/>
  </p:sldMasterIdLst>
  <p:notesMasterIdLst>
    <p:notesMasterId r:id="rId23"/>
  </p:notesMasterIdLst>
  <p:sldIdLst>
    <p:sldId id="876" r:id="rId15"/>
    <p:sldId id="884" r:id="rId16"/>
    <p:sldId id="882" r:id="rId17"/>
    <p:sldId id="881" r:id="rId18"/>
    <p:sldId id="880" r:id="rId19"/>
    <p:sldId id="879" r:id="rId20"/>
    <p:sldId id="883" r:id="rId21"/>
    <p:sldId id="878" r:id="rId22"/>
  </p:sldIdLst>
  <p:sldSz cx="24384000" cy="13716000"/>
  <p:notesSz cx="6858000" cy="9144000"/>
  <p:defaultTextStyle>
    <a:defPPr>
      <a:defRPr lang="en-US"/>
    </a:defPPr>
    <a:lvl1pPr marL="0" lvl="0" indent="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1pPr>
    <a:lvl2pPr marL="0" lvl="1" indent="2286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2pPr>
    <a:lvl3pPr marL="0" lvl="2" indent="4572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3pPr>
    <a:lvl4pPr marL="0" lvl="3" indent="6858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4pPr>
    <a:lvl5pPr marL="0" lvl="4"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5pPr>
    <a:lvl6pPr marL="2286000" lvl="5"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6pPr>
    <a:lvl7pPr marL="2743200" lvl="6"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7pPr>
    <a:lvl8pPr marL="3200400" lvl="7"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8pPr>
    <a:lvl9pPr marL="3657600" lvl="8"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9pPr>
  </p:defaultTextStyle>
  <p:extLst>
    <p:ext uri="{EFAFB233-063F-42B5-8137-9DF3F51BA10A}">
      <p15:sldGuideLst xmlns:p15="http://schemas.microsoft.com/office/powerpoint/2012/main">
        <p15:guide id="1" pos="7680">
          <p15:clr>
            <a:srgbClr val="A4A3A4"/>
          </p15:clr>
        </p15:guide>
        <p15:guide id="2" orient="horz" pos="43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Yonggang Shi" initials="YS" lastIdx="1" clrIdx="0"/>
  <p:cmAuthor id="4" name="Qichen Liu" initials="QL" lastIdx="3" clrIdx="1"/>
  <p:cmAuthor id="5" name="Kai Liu9244" initials="KL"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B9BD5"/>
    <a:srgbClr val="EAEFF7"/>
    <a:srgbClr val="D2DEEF"/>
    <a:srgbClr val="EAF0F7"/>
    <a:srgbClr val="3A6DB4"/>
    <a:srgbClr val="00356A"/>
    <a:srgbClr val="3F6E9A"/>
    <a:srgbClr val="CDDCEA"/>
    <a:srgbClr val="6897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55" autoAdjust="0"/>
    <p:restoredTop sz="94012" autoAdjust="0"/>
  </p:normalViewPr>
  <p:slideViewPr>
    <p:cSldViewPr snapToGrid="0" snapToObjects="1" showGuides="1">
      <p:cViewPr varScale="1">
        <p:scale>
          <a:sx n="34" d="100"/>
          <a:sy n="34" d="100"/>
        </p:scale>
        <p:origin x="572" y="84"/>
      </p:cViewPr>
      <p:guideLst>
        <p:guide pos="7680"/>
        <p:guide orient="horz" pos="4320"/>
      </p:guideLst>
    </p:cSldViewPr>
  </p:slideViewPr>
  <p:notesTextViewPr>
    <p:cViewPr>
      <p:scale>
        <a:sx n="1" d="1"/>
        <a:sy n="1" d="1"/>
      </p:scale>
      <p:origin x="0" y="0"/>
    </p:cViewPr>
  </p:notesTextViewPr>
  <p:sorterViewPr showFormatting="0">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7.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2.xml"/><Relationship Id="rId20" Type="http://schemas.openxmlformats.org/officeDocument/2006/relationships/slide" Target="slides/slide6.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6"/>
          <p:cNvSpPr>
            <a:spLocks noGrp="1" noRot="1" noChangeAspect="1"/>
          </p:cNvSpPr>
          <p:nvPr>
            <p:ph type="sldImg"/>
          </p:nvPr>
        </p:nvSpPr>
        <p:spPr>
          <a:xfrm>
            <a:off x="1143000" y="685800"/>
            <a:ext cx="4572000" cy="3429000"/>
          </a:xfrm>
          <a:prstGeom prst="rect">
            <a:avLst/>
          </a:prstGeom>
          <a:noFill/>
          <a:ln w="9525">
            <a:noFill/>
          </a:ln>
        </p:spPr>
      </p:sp>
      <p:sp>
        <p:nvSpPr>
          <p:cNvPr id="6147" name="Shape 67"/>
          <p:cNvSpPr>
            <a:spLocks noGrp="1"/>
          </p:cNvSpPr>
          <p:nvPr>
            <p:ph type="body" sz="quarter"/>
          </p:nvPr>
        </p:nvSpPr>
        <p:spPr>
          <a:xfrm>
            <a:off x="914400" y="4343400"/>
            <a:ext cx="5029200" cy="4114800"/>
          </a:xfrm>
          <a:prstGeom prst="rect">
            <a:avLst/>
          </a:prstGeom>
          <a:noFill/>
          <a:ln w="9525">
            <a:noFill/>
          </a:ln>
        </p:spPr>
        <p:txBody>
          <a:bodyPr anchor="t"/>
          <a:lstStyle/>
          <a:p>
            <a:pPr lvl="0"/>
            <a:endParaRPr lang="zh-CN" altLang="zh-CN"/>
          </a:p>
        </p:txBody>
      </p:sp>
    </p:spTree>
  </p:cSld>
  <p:clrMap bg1="lt1" tx1="dk1" bg2="lt2" tx2="dk2" accent1="accent1" accent2="accent2" accent3="accent3" accent4="accent4" accent5="accent5" accent6="accent6" hlink="hlink" folHlink="folHlink"/>
  <p:hf sldNum="0" hdr="0" ftr="0" dt="0"/>
  <p:notesStyle>
    <a:lvl1pPr defTabSz="457200" latinLnBrk="0">
      <a:lnSpc>
        <a:spcPct val="117000"/>
      </a:lnSpc>
      <a:defRPr sz="2200">
        <a:latin typeface="+mn-lt"/>
        <a:ea typeface="+mn-ea"/>
        <a:cs typeface="+mn-cs"/>
        <a:sym typeface="Helvetica Neue" panose="02000503000000020004"/>
      </a:defRPr>
    </a:lvl1pPr>
    <a:lvl2pPr indent="228600" defTabSz="457200" latinLnBrk="0">
      <a:lnSpc>
        <a:spcPct val="117000"/>
      </a:lnSpc>
      <a:defRPr sz="2200">
        <a:latin typeface="+mn-lt"/>
        <a:ea typeface="+mn-ea"/>
        <a:cs typeface="+mn-cs"/>
        <a:sym typeface="Helvetica Neue" panose="02000503000000020004"/>
      </a:defRPr>
    </a:lvl2pPr>
    <a:lvl3pPr indent="457200" defTabSz="457200" latinLnBrk="0">
      <a:lnSpc>
        <a:spcPct val="117000"/>
      </a:lnSpc>
      <a:defRPr sz="2200">
        <a:latin typeface="+mn-lt"/>
        <a:ea typeface="+mn-ea"/>
        <a:cs typeface="+mn-cs"/>
        <a:sym typeface="Helvetica Neue" panose="02000503000000020004"/>
      </a:defRPr>
    </a:lvl3pPr>
    <a:lvl4pPr indent="685800" defTabSz="457200" latinLnBrk="0">
      <a:lnSpc>
        <a:spcPct val="117000"/>
      </a:lnSpc>
      <a:defRPr sz="2200">
        <a:latin typeface="+mn-lt"/>
        <a:ea typeface="+mn-ea"/>
        <a:cs typeface="+mn-cs"/>
        <a:sym typeface="Helvetica Neue" panose="02000503000000020004"/>
      </a:defRPr>
    </a:lvl4pPr>
    <a:lvl5pPr indent="914400" defTabSz="457200" latinLnBrk="0">
      <a:lnSpc>
        <a:spcPct val="117000"/>
      </a:lnSpc>
      <a:defRPr sz="2200">
        <a:latin typeface="+mn-lt"/>
        <a:ea typeface="+mn-ea"/>
        <a:cs typeface="+mn-cs"/>
        <a:sym typeface="Helvetica Neue" panose="02000503000000020004"/>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34300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a:solidFill>
                  <a:prstClr val="white"/>
                </a:solidFill>
                <a:ea typeface="微软雅黑"/>
              </a:rPr>
              <a:t>-</a:t>
            </a:r>
            <a:fld id="{FAEDECE0-B3E3-4E93-9B91-9F10B30F5B07}" type="slidenum">
              <a:rPr lang="en-US" altLang="zh-CN" smtClean="0">
                <a:solidFill>
                  <a:prstClr val="white"/>
                </a:solidFill>
                <a:ea typeface="微软雅黑"/>
              </a:rPr>
              <a:t>‹#›</a:t>
            </a:fld>
            <a:r>
              <a:rPr lang="en-US" altLang="zh-CN">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327733919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28960914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extLst>
      <p:ext uri="{BB962C8B-B14F-4D97-AF65-F5344CB8AC3E}">
        <p14:creationId xmlns:p14="http://schemas.microsoft.com/office/powerpoint/2010/main" val="4193546525"/>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extLst>
      <p:ext uri="{BB962C8B-B14F-4D97-AF65-F5344CB8AC3E}">
        <p14:creationId xmlns:p14="http://schemas.microsoft.com/office/powerpoint/2010/main" val="138098810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7015412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90752139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extLst>
      <p:ext uri="{BB962C8B-B14F-4D97-AF65-F5344CB8AC3E}">
        <p14:creationId xmlns:p14="http://schemas.microsoft.com/office/powerpoint/2010/main" val="347033702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extLst>
      <p:ext uri="{BB962C8B-B14F-4D97-AF65-F5344CB8AC3E}">
        <p14:creationId xmlns:p14="http://schemas.microsoft.com/office/powerpoint/2010/main" val="151499526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a:p>
        </p:txBody>
      </p:sp>
      <p:sp>
        <p:nvSpPr>
          <p:cNvPr id="7" name="文本框 6"/>
          <p:cNvSpPr txBox="1"/>
          <p:nvPr/>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
        <p:nvSpPr>
          <p:cNvPr id="3" name="Линия">
            <a:extLst>
              <a:ext uri="{FF2B5EF4-FFF2-40B4-BE49-F238E27FC236}">
                <a16:creationId xmlns:a16="http://schemas.microsoft.com/office/drawing/2014/main" id="{549862F7-E668-78F8-8665-2291CCA64764}"/>
              </a:ext>
            </a:extLst>
          </p:cNvPr>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Tree>
    <p:extLst>
      <p:ext uri="{BB962C8B-B14F-4D97-AF65-F5344CB8AC3E}">
        <p14:creationId xmlns:p14="http://schemas.microsoft.com/office/powerpoint/2010/main" val="141089801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147830067"/>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extLst>
      <p:ext uri="{BB962C8B-B14F-4D97-AF65-F5344CB8AC3E}">
        <p14:creationId xmlns:p14="http://schemas.microsoft.com/office/powerpoint/2010/main" val="268188086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theme" Target="../theme/theme3.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4.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5.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6.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7.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2.xml"/><Relationship Id="rId3" Type="http://schemas.openxmlformats.org/officeDocument/2006/relationships/slideLayout" Target="../slideLayouts/slideLayout77.xml"/><Relationship Id="rId7" Type="http://schemas.openxmlformats.org/officeDocument/2006/relationships/slideLayout" Target="../slideLayouts/slideLayout81.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theme" Target="../theme/theme8.xml"/><Relationship Id="rId5" Type="http://schemas.openxmlformats.org/officeDocument/2006/relationships/slideLayout" Target="../slideLayouts/slideLayout79.xml"/><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2.xml"/><Relationship Id="rId3" Type="http://schemas.openxmlformats.org/officeDocument/2006/relationships/slideLayout" Target="../slideLayouts/slideLayout87.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theme" Target="../theme/theme9.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10.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3.xml"/><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theme" Target="../theme/theme11.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4.xml"/><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theme" Target="../theme/theme12.xml"/><Relationship Id="rId2" Type="http://schemas.openxmlformats.org/officeDocument/2006/relationships/slideLayout" Target="../slideLayouts/slideLayout11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5.xml"/><Relationship Id="rId3" Type="http://schemas.openxmlformats.org/officeDocument/2006/relationships/slideLayout" Target="../slideLayouts/slideLayout130.xml"/><Relationship Id="rId7" Type="http://schemas.openxmlformats.org/officeDocument/2006/relationships/slideLayout" Target="../slideLayouts/slideLayout134.xml"/><Relationship Id="rId2" Type="http://schemas.openxmlformats.org/officeDocument/2006/relationships/slideLayout" Target="../slideLayouts/slideLayout12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theme" Target="../theme/theme13.xml"/><Relationship Id="rId5" Type="http://schemas.openxmlformats.org/officeDocument/2006/relationships/slideLayout" Target="../slideLayouts/slideLayout132.xml"/><Relationship Id="rId10" Type="http://schemas.openxmlformats.org/officeDocument/2006/relationships/slideLayout" Target="../slideLayouts/slideLayout137.xml"/><Relationship Id="rId4" Type="http://schemas.openxmlformats.org/officeDocument/2006/relationships/slideLayout" Target="../slideLayouts/slideLayout131.xml"/><Relationship Id="rId9" Type="http://schemas.openxmlformats.org/officeDocument/2006/relationships/slideLayout" Target="../slideLayouts/slideLayout136.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5.xml"/><Relationship Id="rId3" Type="http://schemas.openxmlformats.org/officeDocument/2006/relationships/slideLayout" Target="../slideLayouts/slideLayout140.xml"/><Relationship Id="rId7" Type="http://schemas.openxmlformats.org/officeDocument/2006/relationships/slideLayout" Target="../slideLayouts/slideLayout144.xml"/><Relationship Id="rId12" Type="http://schemas.openxmlformats.org/officeDocument/2006/relationships/theme" Target="../theme/theme14.xml"/><Relationship Id="rId2" Type="http://schemas.openxmlformats.org/officeDocument/2006/relationships/slideLayout" Target="../slideLayouts/slideLayout139.xml"/><Relationship Id="rId1" Type="http://schemas.openxmlformats.org/officeDocument/2006/relationships/slideLayout" Target="../slideLayouts/slideLayout138.xml"/><Relationship Id="rId6" Type="http://schemas.openxmlformats.org/officeDocument/2006/relationships/slideLayout" Target="../slideLayouts/slideLayout143.xml"/><Relationship Id="rId11" Type="http://schemas.openxmlformats.org/officeDocument/2006/relationships/slideLayout" Target="../slideLayouts/slideLayout148.xml"/><Relationship Id="rId5" Type="http://schemas.openxmlformats.org/officeDocument/2006/relationships/slideLayout" Target="../slideLayouts/slideLayout142.xml"/><Relationship Id="rId10" Type="http://schemas.openxmlformats.org/officeDocument/2006/relationships/slideLayout" Target="../slideLayouts/slideLayout147.xml"/><Relationship Id="rId4" Type="http://schemas.openxmlformats.org/officeDocument/2006/relationships/slideLayout" Target="../slideLayouts/slideLayout141.xml"/><Relationship Id="rId9"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extLst>
      <p:ext uri="{BB962C8B-B14F-4D97-AF65-F5344CB8AC3E}">
        <p14:creationId xmlns:p14="http://schemas.microsoft.com/office/powerpoint/2010/main" val="163364953"/>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31"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48.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6.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4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en-US" altLang="zh-CN" sz="4400" dirty="0">
                <a:solidFill>
                  <a:schemeClr val="accent1">
                    <a:lumMod val="50000"/>
                  </a:schemeClr>
                </a:solidFill>
              </a:rPr>
              <a:t>Spray ball installation</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
        <p:nvSpPr>
          <p:cNvPr id="5" name="文本框 4"/>
          <p:cNvSpPr txBox="1"/>
          <p:nvPr/>
        </p:nvSpPr>
        <p:spPr>
          <a:xfrm>
            <a:off x="1931130" y="1990988"/>
            <a:ext cx="17538584" cy="1015663"/>
          </a:xfrm>
          <a:prstGeom prst="rect">
            <a:avLst/>
          </a:prstGeom>
          <a:noFill/>
        </p:spPr>
        <p:txBody>
          <a:bodyPr wrap="none" rtlCol="0">
            <a:spAutoFit/>
          </a:bodyPr>
          <a:lstStyle/>
          <a:p>
            <a:pPr lvl="0"/>
            <a:r>
              <a:rPr lang="en-US" altLang="zh-CN" sz="3200" dirty="0" smtClean="0">
                <a:solidFill>
                  <a:schemeClr val="tx1"/>
                </a:solidFill>
                <a:latin typeface="+mn-lt"/>
                <a:ea typeface="+mn-ea"/>
              </a:rPr>
              <a:t>1. Spray </a:t>
            </a:r>
            <a:r>
              <a:rPr lang="en-US" altLang="zh-CN" sz="3200" dirty="0">
                <a:solidFill>
                  <a:schemeClr val="tx1"/>
                </a:solidFill>
                <a:latin typeface="+mn-lt"/>
                <a:ea typeface="+mn-ea"/>
              </a:rPr>
              <a:t>ball installation + coverage test + riboflavin cleaning + particulate check for AT09/AT01.</a:t>
            </a:r>
            <a:endParaRPr lang="zh-CN" altLang="zh-CN" sz="3200" dirty="0">
              <a:solidFill>
                <a:schemeClr val="tx1"/>
              </a:solidFill>
              <a:latin typeface="+mn-lt"/>
              <a:ea typeface="+mn-ea"/>
            </a:endParaRPr>
          </a:p>
          <a:p>
            <a:endParaRPr lang="zh-CN" altLang="en-US" sz="2800" dirty="0"/>
          </a:p>
        </p:txBody>
      </p:sp>
      <p:sp>
        <p:nvSpPr>
          <p:cNvPr id="3" name="矩形 2"/>
          <p:cNvSpPr/>
          <p:nvPr/>
        </p:nvSpPr>
        <p:spPr>
          <a:xfrm>
            <a:off x="1575530" y="3006651"/>
            <a:ext cx="21436870" cy="6494085"/>
          </a:xfrm>
          <a:prstGeom prst="rect">
            <a:avLst/>
          </a:prstGeom>
        </p:spPr>
        <p:txBody>
          <a:bodyPr wrap="square">
            <a:spAutoFit/>
          </a:bodyPr>
          <a:lstStyle/>
          <a:p>
            <a:r>
              <a:rPr lang="en-US" altLang="zh-CN" sz="3200" dirty="0">
                <a:solidFill>
                  <a:srgbClr val="0000FF"/>
                </a:solidFill>
                <a:latin typeface="+mn-lt"/>
                <a:ea typeface="+mn-ea"/>
              </a:rPr>
              <a:t>ASYM</a:t>
            </a:r>
            <a:r>
              <a:rPr lang="en-US" altLang="zh-CN" sz="3200" dirty="0" smtClean="0">
                <a:solidFill>
                  <a:srgbClr val="0000FF"/>
                </a:solidFill>
                <a:latin typeface="+mn-lt"/>
                <a:ea typeface="+mn-ea"/>
              </a:rPr>
              <a:t>:</a:t>
            </a:r>
          </a:p>
          <a:p>
            <a:r>
              <a:rPr lang="en-US" altLang="zh-CN" sz="3200" dirty="0" smtClean="0">
                <a:solidFill>
                  <a:srgbClr val="0000FF"/>
                </a:solidFill>
                <a:latin typeface="+mn-lt"/>
                <a:ea typeface="+mn-ea"/>
              </a:rPr>
              <a:t>1</a:t>
            </a:r>
            <a:r>
              <a:rPr lang="en-US" altLang="zh-CN" sz="3200" dirty="0">
                <a:solidFill>
                  <a:srgbClr val="0000FF"/>
                </a:solidFill>
                <a:latin typeface="+mn-lt"/>
                <a:ea typeface="+mn-ea"/>
              </a:rPr>
              <a:t>. A stainless steel spray ball was used for the spray coverage test on mixing vessel AT09. Iodine is not compatible with prolonged stainless-steel contact, so this spray ball will be used only as a temporary accessory and will not remain in the vessel</a:t>
            </a:r>
            <a:r>
              <a:rPr lang="en-US" altLang="zh-CN" sz="3200" dirty="0" smtClean="0">
                <a:solidFill>
                  <a:srgbClr val="0000FF"/>
                </a:solidFill>
                <a:latin typeface="+mn-lt"/>
                <a:ea typeface="+mn-ea"/>
              </a:rPr>
              <a:t>.</a:t>
            </a:r>
          </a:p>
          <a:p>
            <a:endParaRPr lang="en-US" altLang="zh-CN" sz="3200" dirty="0">
              <a:solidFill>
                <a:srgbClr val="0000FF"/>
              </a:solidFill>
              <a:latin typeface="+mn-lt"/>
              <a:ea typeface="+mn-ea"/>
            </a:endParaRPr>
          </a:p>
          <a:p>
            <a:r>
              <a:rPr lang="en-US" altLang="zh-CN" sz="3200" dirty="0">
                <a:solidFill>
                  <a:srgbClr val="0000FF"/>
                </a:solidFill>
                <a:latin typeface="+mn-lt"/>
                <a:ea typeface="+mn-ea"/>
              </a:rPr>
              <a:t>2. A PTFE spray ball has been purchased for mixing vessel AT09, following Lilly's recommendation and material-compatibility assessment. Given the project timeline, we recommend a trial run and completion of the supplemental spray-coverage verification and cleaning confirmation before this vessel is used for the project</a:t>
            </a:r>
            <a:r>
              <a:rPr lang="en-US" altLang="zh-CN" sz="3200" dirty="0" smtClean="0">
                <a:solidFill>
                  <a:srgbClr val="0000FF"/>
                </a:solidFill>
                <a:latin typeface="+mn-lt"/>
                <a:ea typeface="+mn-ea"/>
              </a:rPr>
              <a:t>.</a:t>
            </a:r>
          </a:p>
          <a:p>
            <a:endParaRPr lang="en-US" altLang="zh-CN" sz="3200" dirty="0">
              <a:solidFill>
                <a:srgbClr val="0000FF"/>
              </a:solidFill>
              <a:latin typeface="+mn-lt"/>
              <a:ea typeface="+mn-ea"/>
            </a:endParaRPr>
          </a:p>
          <a:p>
            <a:r>
              <a:rPr lang="en-US" altLang="zh-CN" sz="3200" dirty="0">
                <a:solidFill>
                  <a:srgbClr val="0000FF"/>
                </a:solidFill>
                <a:latin typeface="+mn-lt"/>
                <a:ea typeface="+mn-ea"/>
              </a:rPr>
              <a:t>Proposed completion date: </a:t>
            </a:r>
            <a:r>
              <a:rPr lang="en-US" altLang="zh-CN" sz="3200" dirty="0" smtClean="0">
                <a:solidFill>
                  <a:srgbClr val="0000FF"/>
                </a:solidFill>
                <a:latin typeface="+mn-lt"/>
                <a:ea typeface="+mn-ea"/>
              </a:rPr>
              <a:t>10/22/2026</a:t>
            </a:r>
          </a:p>
          <a:p>
            <a:endParaRPr lang="en-US" altLang="zh-CN" sz="3200" dirty="0">
              <a:solidFill>
                <a:srgbClr val="0000FF"/>
              </a:solidFill>
              <a:latin typeface="+mn-lt"/>
              <a:ea typeface="+mn-ea"/>
            </a:endParaRPr>
          </a:p>
          <a:p>
            <a:r>
              <a:rPr lang="en-US" altLang="zh-CN" sz="3200" dirty="0">
                <a:solidFill>
                  <a:srgbClr val="0000FF"/>
                </a:solidFill>
                <a:latin typeface="+mn-lt"/>
                <a:ea typeface="+mn-ea"/>
              </a:rPr>
              <a:t>3. Mixing vessel AT01 is equipped with a spray ball and has completed spray coverage testing. The missing on-site identification tag has been corrected. </a:t>
            </a:r>
            <a:endParaRPr lang="zh-CN" altLang="en-US" sz="3200" dirty="0">
              <a:solidFill>
                <a:srgbClr val="0000FF"/>
              </a:solidFill>
              <a:latin typeface="+mn-lt"/>
              <a:ea typeface="+mn-ea"/>
            </a:endParaRPr>
          </a:p>
        </p:txBody>
      </p:sp>
      <p:grpSp>
        <p:nvGrpSpPr>
          <p:cNvPr id="8" name="组合 7"/>
          <p:cNvGrpSpPr/>
          <p:nvPr/>
        </p:nvGrpSpPr>
        <p:grpSpPr>
          <a:xfrm>
            <a:off x="18529484" y="9103843"/>
            <a:ext cx="3320866" cy="3945467"/>
            <a:chOff x="9436100" y="9143999"/>
            <a:chExt cx="2959100" cy="3945467"/>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36100" y="9143999"/>
              <a:ext cx="2959100" cy="3945467"/>
            </a:xfrm>
            <a:prstGeom prst="rect">
              <a:avLst/>
            </a:prstGeom>
          </p:spPr>
        </p:pic>
        <p:sp>
          <p:nvSpPr>
            <p:cNvPr id="7" name="文本框 6"/>
            <p:cNvSpPr txBox="1"/>
            <p:nvPr/>
          </p:nvSpPr>
          <p:spPr>
            <a:xfrm>
              <a:off x="9906000" y="12649200"/>
              <a:ext cx="2119683" cy="400110"/>
            </a:xfrm>
            <a:prstGeom prst="rect">
              <a:avLst/>
            </a:prstGeom>
            <a:noFill/>
          </p:spPr>
          <p:txBody>
            <a:bodyPr wrap="none" rtlCol="0">
              <a:spAutoFit/>
            </a:bodyPr>
            <a:lstStyle/>
            <a:p>
              <a:r>
                <a:rPr lang="en-US" altLang="zh-CN" dirty="0" smtClean="0">
                  <a:solidFill>
                    <a:srgbClr val="FF0000"/>
                  </a:solidFill>
                </a:rPr>
                <a:t>TJ4S-1200-AT01</a:t>
              </a:r>
              <a:endParaRPr lang="zh-CN" altLang="en-US" dirty="0">
                <a:solidFill>
                  <a:srgbClr val="FF0000"/>
                </a:solidFill>
              </a:endParaRPr>
            </a:p>
          </p:txBody>
        </p:sp>
      </p:grpSp>
      <p:grpSp>
        <p:nvGrpSpPr>
          <p:cNvPr id="11" name="组合 10"/>
          <p:cNvGrpSpPr/>
          <p:nvPr/>
        </p:nvGrpSpPr>
        <p:grpSpPr>
          <a:xfrm>
            <a:off x="12198430" y="9103843"/>
            <a:ext cx="5499679" cy="3811281"/>
            <a:chOff x="8302961" y="9397928"/>
            <a:chExt cx="5101553" cy="3411171"/>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2961" y="9397928"/>
              <a:ext cx="2558378" cy="3411171"/>
            </a:xfrm>
            <a:prstGeom prst="rect">
              <a:avLst/>
            </a:prstGeom>
          </p:spPr>
        </p:pic>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61339" y="9418199"/>
              <a:ext cx="2543175" cy="3390900"/>
            </a:xfrm>
            <a:prstGeom prst="rect">
              <a:avLst/>
            </a:prstGeom>
          </p:spPr>
        </p:pic>
        <p:sp>
          <p:nvSpPr>
            <p:cNvPr id="10" name="文本框 9"/>
            <p:cNvSpPr txBox="1"/>
            <p:nvPr/>
          </p:nvSpPr>
          <p:spPr>
            <a:xfrm>
              <a:off x="8639320" y="12361334"/>
              <a:ext cx="4444037" cy="400110"/>
            </a:xfrm>
            <a:prstGeom prst="rect">
              <a:avLst/>
            </a:prstGeom>
            <a:noFill/>
          </p:spPr>
          <p:txBody>
            <a:bodyPr wrap="none" rtlCol="0">
              <a:spAutoFit/>
            </a:bodyPr>
            <a:lstStyle/>
            <a:p>
              <a:r>
                <a:rPr lang="en-US" altLang="zh-CN" dirty="0">
                  <a:solidFill>
                    <a:srgbClr val="FF0000"/>
                  </a:solidFill>
                </a:rPr>
                <a:t>TJ4S-1213-AT09</a:t>
              </a:r>
              <a:r>
                <a:rPr lang="en-US" altLang="zh-CN" dirty="0">
                  <a:solidFill>
                    <a:srgbClr val="FF0000"/>
                  </a:solidFill>
                </a:rPr>
                <a:t>Dedicated spray ball</a:t>
              </a:r>
              <a:endParaRPr lang="zh-CN" altLang="en-US" dirty="0">
                <a:solidFill>
                  <a:srgbClr val="FF0000"/>
                </a:solidFill>
              </a:endParaRPr>
            </a:p>
          </p:txBody>
        </p:sp>
      </p:grpSp>
    </p:spTree>
    <p:extLst>
      <p:ext uri="{BB962C8B-B14F-4D97-AF65-F5344CB8AC3E}">
        <p14:creationId xmlns:p14="http://schemas.microsoft.com/office/powerpoint/2010/main" val="229147344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p:txBody>
          <a:bodyPr>
            <a:normAutofit fontScale="75000" lnSpcReduction="20000"/>
          </a:bodyPr>
          <a:lstStyle/>
          <a:p>
            <a:pPr>
              <a:defRPr/>
            </a:pPr>
            <a:r>
              <a:rPr lang="en-US" altLang="zh-CN" dirty="0"/>
              <a:t>-</a:t>
            </a:r>
            <a:fld id="{FAEDECE0-B3E3-4E93-9B91-9F10B30F5B07}" type="slidenum">
              <a:rPr lang="en-US" altLang="zh-CN" smtClean="0"/>
              <a:t>2</a:t>
            </a:fld>
            <a:r>
              <a:rPr lang="en-US" altLang="zh-CN" dirty="0"/>
              <a:t>-</a:t>
            </a:r>
            <a:endParaRPr lang="zh-CN" altLang="en-US" dirty="0"/>
          </a:p>
        </p:txBody>
      </p:sp>
      <p:sp>
        <p:nvSpPr>
          <p:cNvPr id="2" name="文本框 1"/>
          <p:cNvSpPr txBox="1"/>
          <p:nvPr/>
        </p:nvSpPr>
        <p:spPr>
          <a:xfrm>
            <a:off x="16831896" y="714644"/>
            <a:ext cx="5652509" cy="769441"/>
          </a:xfrm>
          <a:prstGeom prst="rect">
            <a:avLst/>
          </a:prstGeom>
          <a:noFill/>
        </p:spPr>
        <p:txBody>
          <a:bodyPr wrap="none" rtlCol="0">
            <a:spAutoFit/>
          </a:bodyPr>
          <a:lstStyle/>
          <a:p>
            <a:r>
              <a:rPr lang="en-US" altLang="zh-CN" sz="4400" b="1" dirty="0" smtClean="0">
                <a:solidFill>
                  <a:srgbClr val="3C6CB3"/>
                </a:solidFill>
                <a:latin typeface="+mj-ea"/>
                <a:ea typeface="+mj-ea"/>
              </a:rPr>
              <a:t>SPPS</a:t>
            </a:r>
            <a:r>
              <a:rPr lang="zh-CN" altLang="en-US" sz="4400" b="1" dirty="0" smtClean="0">
                <a:solidFill>
                  <a:srgbClr val="3C6CB3"/>
                </a:solidFill>
                <a:latin typeface="+mj-ea"/>
                <a:ea typeface="+mj-ea"/>
              </a:rPr>
              <a:t>优化和方案评估</a:t>
            </a:r>
            <a:endParaRPr lang="zh-CN" altLang="en-US" sz="4400" b="1" dirty="0">
              <a:solidFill>
                <a:srgbClr val="3C6CB3"/>
              </a:solidFill>
              <a:latin typeface="+mj-ea"/>
              <a:ea typeface="+mj-ea"/>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449" y="2652774"/>
            <a:ext cx="12472667" cy="6028530"/>
          </a:xfrm>
          <a:prstGeom prst="rect">
            <a:avLst/>
          </a:prstGeom>
        </p:spPr>
      </p:pic>
      <p:sp>
        <p:nvSpPr>
          <p:cNvPr id="3" name="文本框 2"/>
          <p:cNvSpPr txBox="1"/>
          <p:nvPr/>
        </p:nvSpPr>
        <p:spPr>
          <a:xfrm>
            <a:off x="2777706" y="4917355"/>
            <a:ext cx="6745856" cy="1017917"/>
          </a:xfrm>
          <a:prstGeom prst="rect">
            <a:avLst/>
          </a:prstGeom>
          <a:noFill/>
          <a:ln>
            <a:solidFill>
              <a:srgbClr val="FF0000"/>
            </a:solidFill>
          </a:ln>
        </p:spPr>
        <p:txBody>
          <a:bodyPr wrap="square" rtlCol="0">
            <a:spAutoFit/>
          </a:bodyPr>
          <a:lstStyle/>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2819218222"/>
              </p:ext>
            </p:extLst>
          </p:nvPr>
        </p:nvGraphicFramePr>
        <p:xfrm>
          <a:off x="490451" y="8591424"/>
          <a:ext cx="12472665" cy="4574530"/>
        </p:xfrm>
        <a:graphic>
          <a:graphicData uri="http://schemas.openxmlformats.org/drawingml/2006/table">
            <a:tbl>
              <a:tblPr/>
              <a:tblGrid>
                <a:gridCol w="1316377">
                  <a:extLst>
                    <a:ext uri="{9D8B030D-6E8A-4147-A177-3AD203B41FA5}">
                      <a16:colId xmlns:a16="http://schemas.microsoft.com/office/drawing/2014/main" val="4231785485"/>
                    </a:ext>
                  </a:extLst>
                </a:gridCol>
                <a:gridCol w="2316598">
                  <a:extLst>
                    <a:ext uri="{9D8B030D-6E8A-4147-A177-3AD203B41FA5}">
                      <a16:colId xmlns:a16="http://schemas.microsoft.com/office/drawing/2014/main" val="1118872730"/>
                    </a:ext>
                  </a:extLst>
                </a:gridCol>
                <a:gridCol w="908522">
                  <a:extLst>
                    <a:ext uri="{9D8B030D-6E8A-4147-A177-3AD203B41FA5}">
                      <a16:colId xmlns:a16="http://schemas.microsoft.com/office/drawing/2014/main" val="4186127771"/>
                    </a:ext>
                  </a:extLst>
                </a:gridCol>
                <a:gridCol w="1316377">
                  <a:extLst>
                    <a:ext uri="{9D8B030D-6E8A-4147-A177-3AD203B41FA5}">
                      <a16:colId xmlns:a16="http://schemas.microsoft.com/office/drawing/2014/main" val="1760775270"/>
                    </a:ext>
                  </a:extLst>
                </a:gridCol>
                <a:gridCol w="1316377">
                  <a:extLst>
                    <a:ext uri="{9D8B030D-6E8A-4147-A177-3AD203B41FA5}">
                      <a16:colId xmlns:a16="http://schemas.microsoft.com/office/drawing/2014/main" val="3188875527"/>
                    </a:ext>
                  </a:extLst>
                </a:gridCol>
                <a:gridCol w="2272928">
                  <a:extLst>
                    <a:ext uri="{9D8B030D-6E8A-4147-A177-3AD203B41FA5}">
                      <a16:colId xmlns:a16="http://schemas.microsoft.com/office/drawing/2014/main" val="4178731468"/>
                    </a:ext>
                  </a:extLst>
                </a:gridCol>
                <a:gridCol w="1709109">
                  <a:extLst>
                    <a:ext uri="{9D8B030D-6E8A-4147-A177-3AD203B41FA5}">
                      <a16:colId xmlns:a16="http://schemas.microsoft.com/office/drawing/2014/main" val="4290337702"/>
                    </a:ext>
                  </a:extLst>
                </a:gridCol>
                <a:gridCol w="1316377">
                  <a:extLst>
                    <a:ext uri="{9D8B030D-6E8A-4147-A177-3AD203B41FA5}">
                      <a16:colId xmlns:a16="http://schemas.microsoft.com/office/drawing/2014/main" val="3178622526"/>
                    </a:ext>
                  </a:extLst>
                </a:gridCol>
              </a:tblGrid>
              <a:tr h="914906">
                <a:tc gridSpan="8">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验证方案及投料时间计划与评估</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5286841"/>
                  </a:ext>
                </a:extLst>
              </a:tr>
              <a:tr h="914906">
                <a:tc>
                  <a:txBody>
                    <a:bodyPr/>
                    <a:lstStyle/>
                    <a:p>
                      <a:pPr algn="ctr" fontAlgn="ctr"/>
                      <a:r>
                        <a:rPr lang="zh-CN" altLang="en-US" sz="2400" b="1" i="0" u="none" strike="noStrike">
                          <a:solidFill>
                            <a:srgbClr val="FFFFFF"/>
                          </a:solidFill>
                          <a:effectLst/>
                          <a:latin typeface="微软雅黑" panose="020B0503020204020204" pitchFamily="34" charset="-122"/>
                          <a:ea typeface="微软雅黑" panose="020B0503020204020204" pitchFamily="34" charset="-122"/>
                        </a:rPr>
                        <a:t>方案</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tc>
                  <a:txBody>
                    <a:bodyPr/>
                    <a:lstStyle/>
                    <a:p>
                      <a:pPr algn="ctr" fontAlgn="ctr"/>
                      <a:r>
                        <a:rPr lang="en-US" altLang="zh-CN" sz="2400" b="1" i="0" u="none" strike="noStrike">
                          <a:solidFill>
                            <a:srgbClr val="FFFFFF"/>
                          </a:solidFill>
                          <a:effectLst/>
                          <a:latin typeface="微软雅黑" panose="020B0503020204020204" pitchFamily="34" charset="-122"/>
                          <a:ea typeface="微软雅黑" panose="020B0503020204020204" pitchFamily="34" charset="-122"/>
                        </a:rPr>
                        <a:t>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03764"/>
                    </a:solidFill>
                  </a:tcPr>
                </a:tc>
                <a:extLst>
                  <a:ext uri="{0D108BD9-81ED-4DB2-BD59-A6C34878D82A}">
                    <a16:rowId xmlns:a16="http://schemas.microsoft.com/office/drawing/2014/main" val="736269041"/>
                  </a:ext>
                </a:extLst>
              </a:tr>
              <a:tr h="914906">
                <a:tc>
                  <a:txBody>
                    <a:bodyPr/>
                    <a:lstStyle/>
                    <a:p>
                      <a:pPr algn="ctr" fontAlgn="ctr"/>
                      <a:r>
                        <a:rPr lang="zh-CN" altLang="en-US" sz="2400" b="0" i="0" u="none" strike="noStrike" dirty="0" smtClean="0">
                          <a:solidFill>
                            <a:srgbClr val="000000"/>
                          </a:solidFill>
                          <a:effectLst/>
                          <a:latin typeface="微软雅黑" panose="020B0503020204020204" pitchFamily="34" charset="-122"/>
                          <a:ea typeface="微软雅黑" panose="020B0503020204020204" pitchFamily="34" charset="-122"/>
                        </a:rPr>
                        <a:t>方案</a:t>
                      </a:r>
                      <a:r>
                        <a:rPr lang="en-US" altLang="zh-CN" sz="2400" b="0" i="0" u="none" strike="noStrike" dirty="0" smtClean="0">
                          <a:solidFill>
                            <a:srgbClr val="000000"/>
                          </a:solidFill>
                          <a:effectLst/>
                          <a:latin typeface="微软雅黑" panose="020B0503020204020204" pitchFamily="34" charset="-122"/>
                          <a:ea typeface="微软雅黑" panose="020B0503020204020204" pitchFamily="34" charset="-122"/>
                        </a:rPr>
                        <a:t>1</a:t>
                      </a:r>
                      <a:endParaRPr lang="en-US" altLang="zh-CN" sz="2400" b="0" i="0" u="none" strike="noStrike" dirty="0">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软件升级</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验证</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碘氧化试车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a:solidFill>
                            <a:srgbClr val="000000"/>
                          </a:solidFill>
                          <a:effectLst/>
                          <a:latin typeface="微软雅黑" panose="020B0503020204020204" pitchFamily="34" charset="-122"/>
                          <a:ea typeface="微软雅黑" panose="020B0503020204020204" pitchFamily="34" charset="-122"/>
                        </a:rPr>
                        <a:t>CMa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投料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5013910"/>
                  </a:ext>
                </a:extLst>
              </a:tr>
              <a:tr h="914906">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方案</a:t>
                      </a:r>
                      <a:r>
                        <a:rPr lang="en-US" altLang="zh-CN" sz="2400" b="0" i="0" u="none" strike="noStrike" dirty="0">
                          <a:solidFill>
                            <a:srgbClr val="000000"/>
                          </a:solidFill>
                          <a:effectLst/>
                          <a:latin typeface="微软雅黑" panose="020B0503020204020204" pitchFamily="34" charset="-122"/>
                          <a:ea typeface="微软雅黑" panose="020B0503020204020204" pitchFamily="34" charset="-122"/>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淋洗覆盖率测试</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碘氧化试车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a:solidFill>
                            <a:srgbClr val="000000"/>
                          </a:solidFill>
                          <a:effectLst/>
                          <a:latin typeface="微软雅黑" panose="020B0503020204020204" pitchFamily="34" charset="-122"/>
                          <a:ea typeface="微软雅黑" panose="020B0503020204020204" pitchFamily="34" charset="-122"/>
                        </a:rPr>
                        <a:t>CMa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dirty="0">
                          <a:solidFill>
                            <a:srgbClr val="0070C0"/>
                          </a:solidFill>
                          <a:effectLst/>
                          <a:latin typeface="微软雅黑" panose="020B0503020204020204" pitchFamily="34" charset="-122"/>
                          <a:ea typeface="微软雅黑" panose="020B0503020204020204" pitchFamily="34" charset="-122"/>
                        </a:rPr>
                        <a:t>投料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56423112"/>
                  </a:ext>
                </a:extLst>
              </a:tr>
              <a:tr h="914906">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方案</a:t>
                      </a:r>
                      <a:r>
                        <a:rPr lang="en-US" altLang="zh-CN" sz="2400" b="0" i="0" u="none" strike="noStrike">
                          <a:solidFill>
                            <a:srgbClr val="000000"/>
                          </a:solidFill>
                          <a:effectLst/>
                          <a:latin typeface="微软雅黑" panose="020B0503020204020204" pitchFamily="34" charset="-122"/>
                          <a:ea typeface="微软雅黑" panose="020B0503020204020204" pitchFamily="34" charset="-122"/>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碘氧化试车</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a:txBody>
                    <a:bodyPr/>
                    <a:lstStyle/>
                    <a:p>
                      <a:pPr algn="ctr" fontAlgn="ctr"/>
                      <a:r>
                        <a:rPr lang="en-US" sz="2400" b="0" i="0" u="none" strike="noStrike">
                          <a:solidFill>
                            <a:srgbClr val="000000"/>
                          </a:solidFill>
                          <a:effectLst/>
                          <a:latin typeface="微软雅黑" panose="020B0503020204020204" pitchFamily="34" charset="-122"/>
                          <a:ea typeface="微软雅黑" panose="020B0503020204020204" pitchFamily="34" charset="-122"/>
                        </a:rPr>
                        <a:t>CMa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1" i="0" u="none" strike="noStrike" kern="1200" dirty="0">
                          <a:solidFill>
                            <a:srgbClr val="0070C0"/>
                          </a:solidFill>
                          <a:effectLst/>
                          <a:latin typeface="微软雅黑" panose="020B0503020204020204" pitchFamily="34" charset="-122"/>
                          <a:ea typeface="微软雅黑" panose="020B0503020204020204" pitchFamily="34" charset="-122"/>
                          <a:cs typeface="+mn-cs"/>
                        </a:rPr>
                        <a:t>投料</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淋洗覆盖率测试</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a:solidFill>
                            <a:srgbClr val="000000"/>
                          </a:solidFill>
                          <a:effectLst/>
                          <a:latin typeface="微软雅黑" panose="020B0503020204020204" pitchFamily="34" charset="-122"/>
                          <a:ea typeface="微软雅黑" panose="020B0503020204020204" pitchFamily="34" charset="-122"/>
                        </a:rPr>
                        <a:t>搅拌罐清洁</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24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9985861"/>
                  </a:ext>
                </a:extLst>
              </a:tr>
            </a:tbl>
          </a:graphicData>
        </a:graphic>
      </p:graphicFrame>
      <p:sp>
        <p:nvSpPr>
          <p:cNvPr id="7" name="文本框 6"/>
          <p:cNvSpPr txBox="1"/>
          <p:nvPr/>
        </p:nvSpPr>
        <p:spPr>
          <a:xfrm>
            <a:off x="13646989" y="2589838"/>
            <a:ext cx="4744528" cy="461665"/>
          </a:xfrm>
          <a:prstGeom prst="rect">
            <a:avLst/>
          </a:prstGeom>
          <a:noFill/>
        </p:spPr>
        <p:txBody>
          <a:bodyPr wrap="square" rtlCol="0">
            <a:spAutoFit/>
          </a:bodyPr>
          <a:lstStyle/>
          <a:p>
            <a:r>
              <a:rPr lang="zh-CN" altLang="en-US" sz="2400" b="1" dirty="0" smtClean="0">
                <a:solidFill>
                  <a:srgbClr val="0070C0"/>
                </a:solidFill>
                <a:latin typeface="+mj-ea"/>
                <a:ea typeface="+mj-ea"/>
              </a:rPr>
              <a:t>各方案评估：</a:t>
            </a:r>
            <a:endParaRPr lang="zh-CN" altLang="en-US" sz="2400" b="1" dirty="0">
              <a:solidFill>
                <a:srgbClr val="0070C0"/>
              </a:solidFill>
              <a:latin typeface="+mj-ea"/>
              <a:ea typeface="+mj-ea"/>
            </a:endParaRPr>
          </a:p>
        </p:txBody>
      </p:sp>
      <p:sp>
        <p:nvSpPr>
          <p:cNvPr id="8" name="矩形 7"/>
          <p:cNvSpPr/>
          <p:nvPr/>
        </p:nvSpPr>
        <p:spPr>
          <a:xfrm>
            <a:off x="13646989" y="3101694"/>
            <a:ext cx="9661584" cy="1200329"/>
          </a:xfrm>
          <a:prstGeom prst="rect">
            <a:avLst/>
          </a:prstGeom>
        </p:spPr>
        <p:txBody>
          <a:bodyPr wrap="square">
            <a:spAutoFit/>
          </a:bodyPr>
          <a:lstStyle/>
          <a:p>
            <a:pPr>
              <a:lnSpc>
                <a:spcPct val="150000"/>
              </a:lnSpc>
            </a:pPr>
            <a:r>
              <a:rPr lang="en-US" altLang="zh-CN" sz="2400" dirty="0" smtClean="0">
                <a:latin typeface="+mj-ea"/>
                <a:ea typeface="+mj-ea"/>
              </a:rPr>
              <a:t>1</a:t>
            </a:r>
            <a:r>
              <a:rPr lang="zh-CN" altLang="en-US" sz="2400" dirty="0" smtClean="0">
                <a:latin typeface="+mj-ea"/>
                <a:ea typeface="+mj-ea"/>
              </a:rPr>
              <a:t>、方案</a:t>
            </a:r>
            <a:r>
              <a:rPr lang="en-US" altLang="zh-CN" sz="2400" dirty="0" smtClean="0">
                <a:latin typeface="+mj-ea"/>
                <a:ea typeface="+mj-ea"/>
              </a:rPr>
              <a:t>1</a:t>
            </a:r>
            <a:r>
              <a:rPr lang="zh-CN" altLang="en-US" sz="2400" dirty="0" smtClean="0">
                <a:latin typeface="+mj-ea"/>
                <a:ea typeface="+mj-ea"/>
              </a:rPr>
              <a:t>具有</a:t>
            </a:r>
            <a:r>
              <a:rPr lang="zh-CN" altLang="en-US" sz="2400" dirty="0">
                <a:latin typeface="+mj-ea"/>
                <a:ea typeface="+mj-ea"/>
              </a:rPr>
              <a:t>高高报/低低报的声光报警功能，有高报/低报预警，触发后人员现场响应，超工艺范围能立即发现；</a:t>
            </a:r>
          </a:p>
        </p:txBody>
      </p:sp>
      <p:sp>
        <p:nvSpPr>
          <p:cNvPr id="9" name="矩形 8"/>
          <p:cNvSpPr/>
          <p:nvPr/>
        </p:nvSpPr>
        <p:spPr>
          <a:xfrm>
            <a:off x="13646989" y="4337988"/>
            <a:ext cx="9661585" cy="2862322"/>
          </a:xfrm>
          <a:prstGeom prst="rect">
            <a:avLst/>
          </a:prstGeom>
        </p:spPr>
        <p:txBody>
          <a:bodyPr wrap="square">
            <a:spAutoFit/>
          </a:bodyPr>
          <a:lstStyle/>
          <a:p>
            <a:pPr>
              <a:lnSpc>
                <a:spcPct val="150000"/>
              </a:lnSpc>
            </a:pPr>
            <a:r>
              <a:rPr lang="en-US" altLang="zh-CN" sz="2400" dirty="0" smtClean="0">
                <a:latin typeface="+mj-ea"/>
                <a:ea typeface="+mj-ea"/>
              </a:rPr>
              <a:t>2</a:t>
            </a:r>
            <a:r>
              <a:rPr lang="zh-CN" altLang="en-US" sz="2400" dirty="0" smtClean="0">
                <a:latin typeface="+mj-ea"/>
                <a:ea typeface="+mj-ea"/>
              </a:rPr>
              <a:t>、</a:t>
            </a:r>
            <a:r>
              <a:rPr lang="zh-CN" altLang="en-US" sz="2400" dirty="0">
                <a:latin typeface="+mj-ea"/>
                <a:ea typeface="+mj-ea"/>
              </a:rPr>
              <a:t>方案</a:t>
            </a:r>
            <a:r>
              <a:rPr lang="en-US" altLang="zh-CN" sz="2400" dirty="0">
                <a:latin typeface="+mj-ea"/>
                <a:ea typeface="+mj-ea"/>
              </a:rPr>
              <a:t>2</a:t>
            </a:r>
            <a:r>
              <a:rPr lang="zh-CN" altLang="en-US" sz="2400" dirty="0">
                <a:latin typeface="+mj-ea"/>
                <a:ea typeface="+mj-ea"/>
              </a:rPr>
              <a:t>和</a:t>
            </a:r>
            <a:r>
              <a:rPr lang="en-US" altLang="zh-CN" sz="2400" dirty="0">
                <a:latin typeface="+mj-ea"/>
                <a:ea typeface="+mj-ea"/>
              </a:rPr>
              <a:t>3 </a:t>
            </a:r>
            <a:endParaRPr lang="en-US" altLang="zh-CN" sz="2400" dirty="0" smtClean="0">
              <a:latin typeface="+mj-ea"/>
              <a:ea typeface="+mj-ea"/>
            </a:endParaRPr>
          </a:p>
          <a:p>
            <a:pPr>
              <a:lnSpc>
                <a:spcPct val="150000"/>
              </a:lnSpc>
            </a:pPr>
            <a:r>
              <a:rPr lang="en-US" altLang="zh-CN" sz="2400" dirty="0" smtClean="0">
                <a:latin typeface="+mj-ea"/>
                <a:ea typeface="+mj-ea"/>
              </a:rPr>
              <a:t>a</a:t>
            </a:r>
            <a:r>
              <a:rPr lang="zh-CN" altLang="en-US" sz="2400" dirty="0" smtClean="0">
                <a:latin typeface="+mj-ea"/>
                <a:ea typeface="+mj-ea"/>
              </a:rPr>
              <a:t>、仅</a:t>
            </a:r>
            <a:r>
              <a:rPr lang="zh-CN" altLang="en-US" sz="2400" dirty="0">
                <a:latin typeface="+mj-ea"/>
                <a:ea typeface="+mj-ea"/>
              </a:rPr>
              <a:t>有高报/低报的声光报警，管理上要求设置为预警值，触发报警后人员现场响应，超工艺范围需OR与电子数据核对；</a:t>
            </a:r>
          </a:p>
          <a:p>
            <a:pPr>
              <a:lnSpc>
                <a:spcPct val="150000"/>
              </a:lnSpc>
            </a:pPr>
            <a:r>
              <a:rPr lang="en-US" altLang="zh-CN" sz="2400" dirty="0" smtClean="0">
                <a:latin typeface="+mj-ea"/>
                <a:ea typeface="+mj-ea"/>
              </a:rPr>
              <a:t>b</a:t>
            </a:r>
            <a:r>
              <a:rPr lang="zh-CN" altLang="en-US" sz="2400" dirty="0" smtClean="0">
                <a:latin typeface="+mj-ea"/>
                <a:ea typeface="+mj-ea"/>
              </a:rPr>
              <a:t>、MOR</a:t>
            </a:r>
            <a:r>
              <a:rPr lang="zh-CN" altLang="en-US" sz="2400" dirty="0">
                <a:latin typeface="+mj-ea"/>
                <a:ea typeface="+mj-ea"/>
              </a:rPr>
              <a:t>中已有要求每个操作需要输出温度极值，超出工艺范围未被发现的风险较低；</a:t>
            </a:r>
          </a:p>
        </p:txBody>
      </p:sp>
      <p:sp>
        <p:nvSpPr>
          <p:cNvPr id="10" name="矩形 9"/>
          <p:cNvSpPr/>
          <p:nvPr/>
        </p:nvSpPr>
        <p:spPr>
          <a:xfrm>
            <a:off x="13646988" y="7236275"/>
            <a:ext cx="10023894" cy="1754326"/>
          </a:xfrm>
          <a:prstGeom prst="rect">
            <a:avLst/>
          </a:prstGeom>
        </p:spPr>
        <p:txBody>
          <a:bodyPr wrap="square">
            <a:spAutoFit/>
          </a:bodyPr>
          <a:lstStyle/>
          <a:p>
            <a:pPr>
              <a:lnSpc>
                <a:spcPct val="150000"/>
              </a:lnSpc>
            </a:pPr>
            <a:r>
              <a:rPr lang="en-US" altLang="zh-CN" sz="2400" dirty="0" smtClean="0">
                <a:latin typeface="+mj-ea"/>
                <a:ea typeface="+mj-ea"/>
              </a:rPr>
              <a:t>3</a:t>
            </a:r>
            <a:r>
              <a:rPr lang="zh-CN" altLang="en-US" sz="2400" dirty="0" smtClean="0">
                <a:latin typeface="+mj-ea"/>
                <a:ea typeface="+mj-ea"/>
              </a:rPr>
              <a:t>、方案</a:t>
            </a:r>
            <a:r>
              <a:rPr lang="zh-CN" altLang="en-US" sz="2400" dirty="0">
                <a:latin typeface="+mj-ea"/>
                <a:ea typeface="+mj-ea"/>
              </a:rPr>
              <a:t>2与方案3差异是配碘溶液搅拌罐淋洗覆盖率测试时间不同，搅拌罐使用时间为投料后~7d，淋洗覆盖率验证和清洗需要~2d，设备验证相对独立不影响合成仪使用，因此方案3整体影响较小；</a:t>
            </a:r>
          </a:p>
        </p:txBody>
      </p:sp>
      <p:sp>
        <p:nvSpPr>
          <p:cNvPr id="11" name="矩形 10"/>
          <p:cNvSpPr/>
          <p:nvPr/>
        </p:nvSpPr>
        <p:spPr>
          <a:xfrm>
            <a:off x="13646989" y="9635208"/>
            <a:ext cx="10023894" cy="461665"/>
          </a:xfrm>
          <a:prstGeom prst="rect">
            <a:avLst/>
          </a:prstGeom>
        </p:spPr>
        <p:txBody>
          <a:bodyPr wrap="square">
            <a:spAutoFit/>
          </a:bodyPr>
          <a:lstStyle/>
          <a:p>
            <a:r>
              <a:rPr lang="zh-CN" altLang="en-US" sz="2400" dirty="0" smtClean="0">
                <a:solidFill>
                  <a:srgbClr val="FF0000"/>
                </a:solidFill>
                <a:latin typeface="+mj-ea"/>
                <a:ea typeface="+mj-ea"/>
              </a:rPr>
              <a:t>综上，基于投料时间，我们建议方案</a:t>
            </a:r>
            <a:r>
              <a:rPr lang="en-US" altLang="zh-CN" sz="2400" dirty="0" smtClean="0">
                <a:solidFill>
                  <a:srgbClr val="FF0000"/>
                </a:solidFill>
                <a:latin typeface="+mj-ea"/>
                <a:ea typeface="+mj-ea"/>
              </a:rPr>
              <a:t>3</a:t>
            </a:r>
            <a:endParaRPr lang="zh-CN" altLang="en-US" sz="2400" dirty="0">
              <a:solidFill>
                <a:srgbClr val="FF0000"/>
              </a:solidFill>
              <a:latin typeface="+mj-ea"/>
              <a:ea typeface="+mj-ea"/>
            </a:endParaRPr>
          </a:p>
        </p:txBody>
      </p:sp>
      <p:sp>
        <p:nvSpPr>
          <p:cNvPr id="12" name="文本框 11"/>
          <p:cNvSpPr txBox="1"/>
          <p:nvPr/>
        </p:nvSpPr>
        <p:spPr>
          <a:xfrm>
            <a:off x="7211683" y="4119229"/>
            <a:ext cx="2432649" cy="461665"/>
          </a:xfrm>
          <a:prstGeom prst="rect">
            <a:avLst/>
          </a:prstGeom>
          <a:noFill/>
        </p:spPr>
        <p:txBody>
          <a:bodyPr wrap="square" rtlCol="0">
            <a:spAutoFit/>
          </a:bodyPr>
          <a:lstStyle/>
          <a:p>
            <a:r>
              <a:rPr lang="zh-CN" altLang="en-US" sz="2400" b="1" dirty="0" smtClean="0">
                <a:solidFill>
                  <a:srgbClr val="FF0000"/>
                </a:solidFill>
                <a:latin typeface="+mj-ea"/>
                <a:ea typeface="+mj-ea"/>
              </a:rPr>
              <a:t>软件优化</a:t>
            </a:r>
            <a:endParaRPr lang="zh-CN" altLang="en-US" sz="2400" b="1" dirty="0">
              <a:solidFill>
                <a:srgbClr val="FF0000"/>
              </a:solidFill>
              <a:latin typeface="+mj-ea"/>
              <a:ea typeface="+mj-ea"/>
            </a:endParaRPr>
          </a:p>
        </p:txBody>
      </p:sp>
      <p:sp>
        <p:nvSpPr>
          <p:cNvPr id="13" name="文本框 12"/>
          <p:cNvSpPr txBox="1"/>
          <p:nvPr/>
        </p:nvSpPr>
        <p:spPr>
          <a:xfrm>
            <a:off x="1937991" y="1799012"/>
            <a:ext cx="15171141" cy="584775"/>
          </a:xfrm>
          <a:prstGeom prst="rect">
            <a:avLst/>
          </a:prstGeom>
          <a:noFill/>
        </p:spPr>
        <p:txBody>
          <a:bodyPr wrap="none" rtlCol="0">
            <a:spAutoFit/>
          </a:bodyPr>
          <a:lstStyle/>
          <a:p>
            <a:r>
              <a:rPr lang="en-US" altLang="zh-CN" sz="3200" dirty="0" smtClean="0">
                <a:solidFill>
                  <a:schemeClr val="tx1"/>
                </a:solidFill>
                <a:latin typeface="+mn-lt"/>
                <a:ea typeface="+mn-ea"/>
              </a:rPr>
              <a:t>2. Synthesizer </a:t>
            </a:r>
            <a:r>
              <a:rPr lang="en-US" altLang="zh-CN" sz="3200" dirty="0">
                <a:solidFill>
                  <a:schemeClr val="tx1"/>
                </a:solidFill>
                <a:latin typeface="+mn-lt"/>
                <a:ea typeface="+mn-ea"/>
              </a:rPr>
              <a:t>SY16 jacket temperature high-high/low-low alarm addition into </a:t>
            </a:r>
            <a:r>
              <a:rPr lang="en-US" altLang="zh-CN" sz="3200" dirty="0" smtClean="0">
                <a:solidFill>
                  <a:schemeClr val="tx1"/>
                </a:solidFill>
                <a:latin typeface="+mn-lt"/>
                <a:ea typeface="+mn-ea"/>
              </a:rPr>
              <a:t>PLC.</a:t>
            </a:r>
            <a:endParaRPr lang="zh-CN" altLang="en-US" sz="3200" dirty="0">
              <a:solidFill>
                <a:schemeClr val="tx1"/>
              </a:solidFill>
              <a:latin typeface="+mn-lt"/>
              <a:ea typeface="+mn-ea"/>
            </a:endParaRPr>
          </a:p>
        </p:txBody>
      </p:sp>
    </p:spTree>
    <p:extLst>
      <p:ext uri="{BB962C8B-B14F-4D97-AF65-F5344CB8AC3E}">
        <p14:creationId xmlns:p14="http://schemas.microsoft.com/office/powerpoint/2010/main" val="127180626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31130" y="2100497"/>
            <a:ext cx="14074687" cy="584775"/>
          </a:xfrm>
          <a:prstGeom prst="rect">
            <a:avLst/>
          </a:prstGeom>
          <a:noFill/>
        </p:spPr>
        <p:txBody>
          <a:bodyPr wrap="none" rtlCol="0">
            <a:spAutoFit/>
          </a:bodyPr>
          <a:lstStyle/>
          <a:p>
            <a:pPr lvl="0">
              <a:spcAft>
                <a:spcPts val="0"/>
              </a:spcAft>
              <a:buSzPts val="1000"/>
              <a:tabLst>
                <a:tab pos="457200" algn="l"/>
              </a:tabLst>
            </a:pPr>
            <a:r>
              <a:rPr lang="en-US" altLang="zh-CN" sz="3200" dirty="0" smtClean="0">
                <a:solidFill>
                  <a:schemeClr val="tx1"/>
                </a:solidFill>
                <a:latin typeface="+mn-lt"/>
                <a:ea typeface="+mn-ea"/>
              </a:rPr>
              <a:t>3. Unused </a:t>
            </a:r>
            <a:r>
              <a:rPr lang="en-US" altLang="zh-CN" sz="3200" dirty="0">
                <a:solidFill>
                  <a:schemeClr val="tx1"/>
                </a:solidFill>
                <a:latin typeface="+mn-lt"/>
                <a:ea typeface="+mn-ea"/>
              </a:rPr>
              <a:t>side loop dead legs removal from iodine solution transfer </a:t>
            </a:r>
            <a:r>
              <a:rPr lang="en-US" altLang="zh-CN" sz="3200" dirty="0" smtClean="0">
                <a:solidFill>
                  <a:schemeClr val="tx1"/>
                </a:solidFill>
                <a:latin typeface="+mn-lt"/>
                <a:ea typeface="+mn-ea"/>
              </a:rPr>
              <a:t>pipeline.</a:t>
            </a:r>
            <a:endParaRPr lang="zh-CN" altLang="zh-CN" sz="3200" dirty="0">
              <a:solidFill>
                <a:schemeClr val="tx1"/>
              </a:solidFill>
              <a:latin typeface="+mn-lt"/>
              <a:ea typeface="+mn-ea"/>
            </a:endParaRPr>
          </a:p>
        </p:txBody>
      </p:sp>
      <p:sp>
        <p:nvSpPr>
          <p:cNvPr id="4" name="矩形 3"/>
          <p:cNvSpPr/>
          <p:nvPr/>
        </p:nvSpPr>
        <p:spPr>
          <a:xfrm>
            <a:off x="1931130" y="3072872"/>
            <a:ext cx="13861487" cy="584775"/>
          </a:xfrm>
          <a:prstGeom prst="rect">
            <a:avLst/>
          </a:prstGeom>
        </p:spPr>
        <p:txBody>
          <a:bodyPr wrap="none">
            <a:spAutoFit/>
          </a:bodyPr>
          <a:lstStyle/>
          <a:p>
            <a:r>
              <a:rPr lang="en-US" altLang="zh-CN" sz="3200" dirty="0">
                <a:solidFill>
                  <a:srgbClr val="0000FF"/>
                </a:solidFill>
                <a:latin typeface="+mn-lt"/>
                <a:ea typeface="+mn-ea"/>
              </a:rPr>
              <a:t>ASYM: </a:t>
            </a:r>
            <a:r>
              <a:rPr lang="zh-CN" altLang="en-US" sz="3200" dirty="0">
                <a:solidFill>
                  <a:srgbClr val="0000FF"/>
                </a:solidFill>
                <a:latin typeface="+mn-lt"/>
                <a:ea typeface="+mn-ea"/>
              </a:rPr>
              <a:t>Completed. </a:t>
            </a:r>
            <a:r>
              <a:rPr lang="zh-CN" altLang="en-US" sz="3200" dirty="0" smtClean="0">
                <a:solidFill>
                  <a:srgbClr val="0000FF"/>
                </a:solidFill>
                <a:latin typeface="+mn-lt"/>
                <a:ea typeface="+mn-ea"/>
              </a:rPr>
              <a:t>多余的阀门已经拆除，增加了</a:t>
            </a:r>
            <a:r>
              <a:rPr lang="en-US" altLang="zh-CN" sz="3200" dirty="0" smtClean="0">
                <a:solidFill>
                  <a:srgbClr val="0000FF"/>
                </a:solidFill>
                <a:latin typeface="+mn-lt"/>
                <a:ea typeface="+mn-ea"/>
              </a:rPr>
              <a:t>PTFE</a:t>
            </a:r>
            <a:r>
              <a:rPr lang="zh-CN" altLang="en-US" sz="3200" dirty="0" smtClean="0">
                <a:solidFill>
                  <a:srgbClr val="0000FF"/>
                </a:solidFill>
                <a:latin typeface="+mn-lt"/>
                <a:ea typeface="+mn-ea"/>
              </a:rPr>
              <a:t>的盲板并悬挂标识。</a:t>
            </a:r>
            <a:endParaRPr lang="zh-CN" altLang="en-US" sz="3200" dirty="0">
              <a:solidFill>
                <a:srgbClr val="0000FF"/>
              </a:solidFill>
              <a:latin typeface="+mn-lt"/>
              <a:ea typeface="+mn-ea"/>
            </a:endParaRPr>
          </a:p>
        </p:txBody>
      </p:sp>
      <p:grpSp>
        <p:nvGrpSpPr>
          <p:cNvPr id="5" name="组合 4"/>
          <p:cNvGrpSpPr/>
          <p:nvPr/>
        </p:nvGrpSpPr>
        <p:grpSpPr>
          <a:xfrm>
            <a:off x="12896850" y="4438650"/>
            <a:ext cx="10344150" cy="7758113"/>
            <a:chOff x="12896850" y="4438650"/>
            <a:chExt cx="10344150" cy="7758113"/>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6850" y="4438650"/>
              <a:ext cx="10344150" cy="7758113"/>
            </a:xfrm>
            <a:prstGeom prst="rect">
              <a:avLst/>
            </a:prstGeom>
          </p:spPr>
        </p:pic>
        <p:sp>
          <p:nvSpPr>
            <p:cNvPr id="7" name="矩形 6"/>
            <p:cNvSpPr/>
            <p:nvPr/>
          </p:nvSpPr>
          <p:spPr>
            <a:xfrm>
              <a:off x="14801850" y="8610600"/>
              <a:ext cx="1943100" cy="131445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文本框 7">
            <a:extLst>
              <a:ext uri="{FF2B5EF4-FFF2-40B4-BE49-F238E27FC236}">
                <a16:creationId xmlns:a16="http://schemas.microsoft.com/office/drawing/2014/main" id="{5B17F8C1-CFD8-1314-B9D2-44E259DAA423}"/>
              </a:ext>
            </a:extLst>
          </p:cNvPr>
          <p:cNvSpPr txBox="1"/>
          <p:nvPr/>
        </p:nvSpPr>
        <p:spPr>
          <a:xfrm>
            <a:off x="8588077" y="294769"/>
            <a:ext cx="15074411" cy="769439"/>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algn="r" fontAlgn="auto" hangingPunct="0">
              <a:spcBef>
                <a:spcPts val="0"/>
              </a:spcBef>
              <a:spcAft>
                <a:spcPts val="0"/>
              </a:spcAft>
              <a:defRPr/>
            </a:pPr>
            <a:r>
              <a:rPr lang="zh-CN" altLang="en-US" sz="4400" dirty="0" smtClean="0">
                <a:solidFill>
                  <a:schemeClr val="accent1">
                    <a:lumMod val="50000"/>
                  </a:schemeClr>
                </a:solidFill>
              </a:rPr>
              <a:t>管路整改</a:t>
            </a:r>
            <a:endParaRPr lang="zh-CN" altLang="en-US" sz="4400" b="1" dirty="0">
              <a:solidFill>
                <a:schemeClr val="accent1">
                  <a:lumMod val="50000"/>
                </a:schemeClr>
              </a:solidFill>
              <a:latin typeface="微软雅黑" panose="020B0503020204020204" pitchFamily="34" charset="-122"/>
              <a:ea typeface="微软雅黑" panose="020B0503020204020204" pitchFamily="34" charset="-122"/>
              <a:cs typeface="Arial" panose="020B0604020202020204"/>
            </a:endParaRPr>
          </a:p>
        </p:txBody>
      </p:sp>
    </p:spTree>
    <p:extLst>
      <p:ext uri="{BB962C8B-B14F-4D97-AF65-F5344CB8AC3E}">
        <p14:creationId xmlns:p14="http://schemas.microsoft.com/office/powerpoint/2010/main" val="277657039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68501" y="2049539"/>
            <a:ext cx="14931410" cy="1015663"/>
          </a:xfrm>
          <a:prstGeom prst="rect">
            <a:avLst/>
          </a:prstGeom>
          <a:noFill/>
        </p:spPr>
        <p:txBody>
          <a:bodyPr wrap="square" rtlCol="0">
            <a:spAutoFit/>
          </a:bodyPr>
          <a:lstStyle/>
          <a:p>
            <a:r>
              <a:rPr lang="en-US" altLang="zh-CN" sz="3200" dirty="0" smtClean="0">
                <a:solidFill>
                  <a:schemeClr val="tx1"/>
                </a:solidFill>
                <a:latin typeface="+mn-lt"/>
                <a:ea typeface="+mn-ea"/>
              </a:rPr>
              <a:t>4. Iodine </a:t>
            </a:r>
            <a:r>
              <a:rPr lang="en-US" altLang="zh-CN" sz="3200" dirty="0">
                <a:solidFill>
                  <a:schemeClr val="tx1"/>
                </a:solidFill>
                <a:latin typeface="+mn-lt"/>
                <a:ea typeface="+mn-ea"/>
              </a:rPr>
              <a:t>solution nitrogen transfer time qualification before solvent run.</a:t>
            </a:r>
            <a:endParaRPr lang="zh-CN" altLang="zh-CN" sz="3200" dirty="0">
              <a:solidFill>
                <a:schemeClr val="tx1"/>
              </a:solidFill>
              <a:latin typeface="+mn-lt"/>
              <a:ea typeface="+mn-ea"/>
            </a:endParaRPr>
          </a:p>
          <a:p>
            <a:endParaRPr lang="zh-CN" altLang="en-US" sz="2800" dirty="0"/>
          </a:p>
        </p:txBody>
      </p:sp>
      <p:sp>
        <p:nvSpPr>
          <p:cNvPr id="11" name="矩形 10"/>
          <p:cNvSpPr/>
          <p:nvPr/>
        </p:nvSpPr>
        <p:spPr>
          <a:xfrm>
            <a:off x="2311400" y="3430657"/>
            <a:ext cx="19583400" cy="1569660"/>
          </a:xfrm>
          <a:prstGeom prst="rect">
            <a:avLst/>
          </a:prstGeom>
        </p:spPr>
        <p:txBody>
          <a:bodyPr wrap="square">
            <a:spAutoFit/>
          </a:bodyPr>
          <a:lstStyle/>
          <a:p>
            <a:r>
              <a:rPr lang="en-US" altLang="zh-CN" sz="3200" dirty="0">
                <a:solidFill>
                  <a:srgbClr val="0000FF"/>
                </a:solidFill>
              </a:rPr>
              <a:t>ASYM: </a:t>
            </a:r>
            <a:r>
              <a:rPr lang="zh-CN" altLang="en-US" sz="3200" dirty="0">
                <a:solidFill>
                  <a:srgbClr val="0000FF"/>
                </a:solidFill>
              </a:rPr>
              <a:t>Nitrogen transfer of the iodine solution to the synthesizer will be performed during the solvent run.</a:t>
            </a:r>
            <a:endParaRPr lang="en-US" altLang="zh-CN" sz="3200" dirty="0">
              <a:solidFill>
                <a:srgbClr val="0000FF"/>
              </a:solidFill>
            </a:endParaRPr>
          </a:p>
          <a:p>
            <a:endParaRPr lang="zh-CN" altLang="en-US" sz="3200" dirty="0">
              <a:solidFill>
                <a:srgbClr val="0000FF"/>
              </a:solidFill>
            </a:endParaRPr>
          </a:p>
          <a:p>
            <a:r>
              <a:rPr lang="zh-CN" altLang="en-US" sz="3200" dirty="0">
                <a:solidFill>
                  <a:srgbClr val="0000FF"/>
                </a:solidFill>
              </a:rPr>
              <a:t>Proposed completion date: 10/22/2026</a:t>
            </a:r>
          </a:p>
        </p:txBody>
      </p:sp>
    </p:spTree>
    <p:extLst>
      <p:ext uri="{BB962C8B-B14F-4D97-AF65-F5344CB8AC3E}">
        <p14:creationId xmlns:p14="http://schemas.microsoft.com/office/powerpoint/2010/main" val="83795227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949451" y="2113360"/>
            <a:ext cx="14624516" cy="1015663"/>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5. Post oxidation DMF cooling time qualification by activation tank in solvent </a:t>
            </a:r>
            <a:r>
              <a:rPr lang="en-US" altLang="zh-CN" sz="3200" dirty="0" smtClean="0">
                <a:solidFill>
                  <a:schemeClr val="tx1"/>
                </a:solidFill>
                <a:latin typeface="+mn-lt"/>
                <a:ea typeface="+mn-ea"/>
              </a:rPr>
              <a:t>run.</a:t>
            </a:r>
            <a:endParaRPr lang="zh-CN" altLang="zh-CN" sz="3200" dirty="0">
              <a:solidFill>
                <a:schemeClr val="tx1"/>
              </a:solidFill>
              <a:latin typeface="+mn-lt"/>
              <a:ea typeface="+mn-ea"/>
            </a:endParaRPr>
          </a:p>
          <a:p>
            <a:endParaRPr lang="zh-CN" altLang="en-US" sz="2800" dirty="0"/>
          </a:p>
        </p:txBody>
      </p:sp>
      <p:sp>
        <p:nvSpPr>
          <p:cNvPr id="5" name="矩形 4"/>
          <p:cNvSpPr/>
          <p:nvPr/>
        </p:nvSpPr>
        <p:spPr>
          <a:xfrm>
            <a:off x="1949450" y="3204051"/>
            <a:ext cx="20707349" cy="1569660"/>
          </a:xfrm>
          <a:prstGeom prst="rect">
            <a:avLst/>
          </a:prstGeom>
        </p:spPr>
        <p:txBody>
          <a:bodyPr wrap="square">
            <a:spAutoFit/>
          </a:bodyPr>
          <a:lstStyle/>
          <a:p>
            <a:pPr>
              <a:lnSpc>
                <a:spcPct val="150000"/>
              </a:lnSpc>
            </a:pPr>
            <a:r>
              <a:rPr lang="en-US" altLang="zh-CN" sz="3200" dirty="0">
                <a:solidFill>
                  <a:srgbClr val="0000FF"/>
                </a:solidFill>
              </a:rPr>
              <a:t>ASYM</a:t>
            </a:r>
            <a:r>
              <a:rPr lang="zh-CN" altLang="en-US" sz="3200" dirty="0">
                <a:solidFill>
                  <a:srgbClr val="0000FF"/>
                </a:solidFill>
              </a:rPr>
              <a:t>：The post-oxidation DMF cooling-time test in the activation tank will be performed during the solvent run.</a:t>
            </a:r>
          </a:p>
          <a:p>
            <a:pPr>
              <a:lnSpc>
                <a:spcPct val="150000"/>
              </a:lnSpc>
            </a:pPr>
            <a:r>
              <a:rPr lang="zh-CN" altLang="en-US" sz="3200" dirty="0">
                <a:solidFill>
                  <a:srgbClr val="0000FF"/>
                </a:solidFill>
              </a:rPr>
              <a:t>Proposed completion date: 10/22/2026</a:t>
            </a:r>
          </a:p>
        </p:txBody>
      </p:sp>
    </p:spTree>
    <p:extLst>
      <p:ext uri="{BB962C8B-B14F-4D97-AF65-F5344CB8AC3E}">
        <p14:creationId xmlns:p14="http://schemas.microsoft.com/office/powerpoint/2010/main" val="41958807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23493" y="2094272"/>
            <a:ext cx="23160507" cy="1077218"/>
          </a:xfrm>
          <a:prstGeom prst="rect">
            <a:avLst/>
          </a:prstGeom>
          <a:noFill/>
        </p:spPr>
        <p:txBody>
          <a:bodyPr wrap="none" rtlCol="0">
            <a:spAutoFit/>
          </a:bodyPr>
          <a:lstStyle/>
          <a:p>
            <a:pPr lvl="0">
              <a:spcAft>
                <a:spcPts val="0"/>
              </a:spcAft>
              <a:buSzPts val="1000"/>
              <a:tabLst>
                <a:tab pos="457200" algn="l"/>
              </a:tabLst>
            </a:pPr>
            <a:r>
              <a:rPr lang="en-US" altLang="zh-CN" sz="3200" dirty="0">
                <a:solidFill>
                  <a:schemeClr val="tx1"/>
                </a:solidFill>
                <a:latin typeface="+mn-lt"/>
                <a:ea typeface="+mn-ea"/>
              </a:rPr>
              <a:t>6. Pre-production equipment train rinse/swab cleanness acceptance or equivalent as stated in contamination control </a:t>
            </a:r>
            <a:r>
              <a:rPr lang="en-US" altLang="zh-CN" sz="3200" dirty="0" smtClean="0">
                <a:solidFill>
                  <a:schemeClr val="tx1"/>
                </a:solidFill>
                <a:latin typeface="+mn-lt"/>
                <a:ea typeface="+mn-ea"/>
              </a:rPr>
              <a:t>strategy</a:t>
            </a:r>
            <a:r>
              <a:rPr lang="en-US" altLang="zh-CN" sz="3200" dirty="0">
                <a:solidFill>
                  <a:schemeClr val="tx1"/>
                </a:solidFill>
                <a:latin typeface="+mn-lt"/>
                <a:ea typeface="+mn-ea"/>
              </a:rPr>
              <a:t>.</a:t>
            </a:r>
            <a:endParaRPr lang="zh-CN" altLang="zh-CN" sz="3200" dirty="0">
              <a:solidFill>
                <a:schemeClr val="tx1"/>
              </a:solidFill>
              <a:latin typeface="+mn-lt"/>
              <a:ea typeface="+mn-ea"/>
            </a:endParaRPr>
          </a:p>
          <a:p>
            <a:endParaRPr lang="zh-CN" altLang="en-US" sz="3200" dirty="0">
              <a:solidFill>
                <a:schemeClr val="tx1"/>
              </a:solidFill>
              <a:latin typeface="+mn-lt"/>
              <a:ea typeface="+mn-ea"/>
            </a:endParaRPr>
          </a:p>
        </p:txBody>
      </p:sp>
      <p:sp>
        <p:nvSpPr>
          <p:cNvPr id="4" name="矩形 3"/>
          <p:cNvSpPr/>
          <p:nvPr/>
        </p:nvSpPr>
        <p:spPr>
          <a:xfrm>
            <a:off x="1223493" y="3152745"/>
            <a:ext cx="16644300" cy="2308324"/>
          </a:xfrm>
          <a:prstGeom prst="rect">
            <a:avLst/>
          </a:prstGeom>
        </p:spPr>
        <p:txBody>
          <a:bodyPr wrap="none">
            <a:spAutoFit/>
          </a:bodyPr>
          <a:lstStyle/>
          <a:p>
            <a:pPr>
              <a:lnSpc>
                <a:spcPct val="150000"/>
              </a:lnSpc>
            </a:pPr>
            <a:r>
              <a:rPr lang="en-US" altLang="zh-CN" sz="3200" dirty="0" smtClean="0">
                <a:solidFill>
                  <a:srgbClr val="0000FF"/>
                </a:solidFill>
              </a:rPr>
              <a:t>ASYM</a:t>
            </a:r>
            <a:r>
              <a:rPr lang="zh-CN" altLang="en-US" sz="3200" dirty="0" smtClean="0">
                <a:solidFill>
                  <a:srgbClr val="0000FF"/>
                </a:solidFill>
              </a:rPr>
              <a:t>：</a:t>
            </a:r>
            <a:endParaRPr lang="en-US" altLang="zh-CN" sz="3200" dirty="0" smtClean="0">
              <a:solidFill>
                <a:srgbClr val="0000FF"/>
              </a:solidFill>
            </a:endParaRPr>
          </a:p>
          <a:p>
            <a:pPr>
              <a:lnSpc>
                <a:spcPct val="150000"/>
              </a:lnSpc>
            </a:pPr>
            <a:r>
              <a:rPr lang="en-US" altLang="zh-CN" sz="3200" dirty="0" smtClean="0">
                <a:solidFill>
                  <a:srgbClr val="0000FF"/>
                </a:solidFill>
              </a:rPr>
              <a:t>1. </a:t>
            </a:r>
            <a:r>
              <a:rPr lang="zh-CN" altLang="en-US" sz="3200" dirty="0" smtClean="0">
                <a:solidFill>
                  <a:srgbClr val="0000FF"/>
                </a:solidFill>
              </a:rPr>
              <a:t>设备</a:t>
            </a:r>
            <a:r>
              <a:rPr lang="zh-CN" altLang="en-US" sz="3200" dirty="0">
                <a:solidFill>
                  <a:srgbClr val="0000FF"/>
                </a:solidFill>
              </a:rPr>
              <a:t>链</a:t>
            </a:r>
            <a:r>
              <a:rPr lang="zh-CN" altLang="en-US" sz="3200" dirty="0" smtClean="0">
                <a:solidFill>
                  <a:srgbClr val="0000FF"/>
                </a:solidFill>
              </a:rPr>
              <a:t>钝化结束后的清洗已经完成， </a:t>
            </a:r>
            <a:r>
              <a:rPr lang="en-US" altLang="zh-CN" sz="3200" dirty="0">
                <a:solidFill>
                  <a:srgbClr val="0000FF"/>
                </a:solidFill>
              </a:rPr>
              <a:t>TOC </a:t>
            </a:r>
            <a:r>
              <a:rPr lang="zh-CN" altLang="en-US" sz="3200" dirty="0" smtClean="0">
                <a:solidFill>
                  <a:srgbClr val="0000FF"/>
                </a:solidFill>
              </a:rPr>
              <a:t>检测也已完成；</a:t>
            </a:r>
            <a:endParaRPr lang="en-US" altLang="zh-CN" sz="3200" dirty="0" smtClean="0">
              <a:solidFill>
                <a:srgbClr val="0000FF"/>
              </a:solidFill>
            </a:endParaRPr>
          </a:p>
          <a:p>
            <a:pPr>
              <a:lnSpc>
                <a:spcPct val="150000"/>
              </a:lnSpc>
            </a:pPr>
            <a:r>
              <a:rPr lang="en-US" altLang="zh-CN" sz="3200" dirty="0" smtClean="0">
                <a:solidFill>
                  <a:srgbClr val="0000FF"/>
                </a:solidFill>
              </a:rPr>
              <a:t>2. </a:t>
            </a:r>
            <a:r>
              <a:rPr lang="zh-CN" altLang="en-US" sz="3200" dirty="0" smtClean="0">
                <a:solidFill>
                  <a:srgbClr val="0000FF"/>
                </a:solidFill>
              </a:rPr>
              <a:t>溶剂试车中用到了单质碘，试车结束以后会对设备链进行清洗，并使用</a:t>
            </a:r>
            <a:r>
              <a:rPr lang="zh-CN" altLang="en-US" sz="3200" dirty="0">
                <a:solidFill>
                  <a:srgbClr val="0000FF"/>
                </a:solidFill>
              </a:rPr>
              <a:t>试纸</a:t>
            </a:r>
            <a:r>
              <a:rPr lang="zh-CN" altLang="en-US" sz="3200" dirty="0" smtClean="0">
                <a:solidFill>
                  <a:srgbClr val="0000FF"/>
                </a:solidFill>
              </a:rPr>
              <a:t>确认碘残留；</a:t>
            </a:r>
            <a:endParaRPr lang="zh-CN" altLang="en-US" sz="3200" dirty="0">
              <a:solidFill>
                <a:srgbClr val="0000FF"/>
              </a:solidFill>
            </a:endParaRPr>
          </a:p>
        </p:txBody>
      </p:sp>
    </p:spTree>
    <p:extLst>
      <p:ext uri="{BB962C8B-B14F-4D97-AF65-F5344CB8AC3E}">
        <p14:creationId xmlns:p14="http://schemas.microsoft.com/office/powerpoint/2010/main" val="85299338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16100" y="2007913"/>
            <a:ext cx="20434300" cy="2062103"/>
          </a:xfrm>
          <a:prstGeom prst="rect">
            <a:avLst/>
          </a:prstGeom>
        </p:spPr>
        <p:txBody>
          <a:bodyPr wrap="square">
            <a:spAutoFit/>
          </a:bodyPr>
          <a:lstStyle/>
          <a:p>
            <a:pPr>
              <a:spcAft>
                <a:spcPts val="0"/>
              </a:spcAft>
              <a:buSzPts val="1000"/>
              <a:tabLst>
                <a:tab pos="457200" algn="l"/>
              </a:tabLst>
            </a:pPr>
            <a:r>
              <a:rPr lang="en-US" altLang="zh-CN" sz="3200" dirty="0" smtClean="0">
                <a:solidFill>
                  <a:schemeClr val="tx1"/>
                </a:solidFill>
                <a:latin typeface="+mn-lt"/>
                <a:ea typeface="+mn-ea"/>
              </a:rPr>
              <a:t>7. Investigation </a:t>
            </a:r>
            <a:r>
              <a:rPr lang="en-US" altLang="zh-CN" sz="3200" dirty="0">
                <a:solidFill>
                  <a:schemeClr val="tx1"/>
                </a:solidFill>
                <a:latin typeface="+mn-lt"/>
                <a:ea typeface="+mn-ea"/>
              </a:rPr>
              <a:t>on contaminated sampling tool in the glovebox of L3 synthesizer SY16 and yellow solid contamination in the glovebox of L2 synthesizer SY15. Confirmation of contaminant ID is high recommended or at minimum the contamination must be confirmed to be limited to glovebox only, i.e., the possibility of contamination in the synthesizer must be ruled out.</a:t>
            </a:r>
            <a:endParaRPr lang="zh-CN" altLang="zh-CN" sz="3200" dirty="0">
              <a:solidFill>
                <a:schemeClr val="tx1"/>
              </a:solidFill>
              <a:latin typeface="+mn-lt"/>
              <a:ea typeface="+mn-ea"/>
            </a:endParaRPr>
          </a:p>
        </p:txBody>
      </p:sp>
      <p:sp>
        <p:nvSpPr>
          <p:cNvPr id="4" name="矩形 3"/>
          <p:cNvSpPr/>
          <p:nvPr/>
        </p:nvSpPr>
        <p:spPr>
          <a:xfrm>
            <a:off x="1816100" y="4306907"/>
            <a:ext cx="20434300" cy="2308324"/>
          </a:xfrm>
          <a:prstGeom prst="rect">
            <a:avLst/>
          </a:prstGeom>
        </p:spPr>
        <p:txBody>
          <a:bodyPr wrap="square">
            <a:spAutoFit/>
          </a:bodyPr>
          <a:lstStyle/>
          <a:p>
            <a:pPr>
              <a:lnSpc>
                <a:spcPct val="150000"/>
              </a:lnSpc>
            </a:pPr>
            <a:r>
              <a:rPr lang="en-US" altLang="zh-CN" sz="3200" dirty="0" smtClean="0">
                <a:solidFill>
                  <a:srgbClr val="0000FF"/>
                </a:solidFill>
              </a:rPr>
              <a:t>ASYM</a:t>
            </a:r>
            <a:r>
              <a:rPr lang="zh-CN" altLang="en-US" sz="3200" dirty="0" smtClean="0">
                <a:solidFill>
                  <a:srgbClr val="0000FF"/>
                </a:solidFill>
              </a:rPr>
              <a:t>：</a:t>
            </a:r>
            <a:endParaRPr lang="en-US" altLang="zh-CN" sz="3200" dirty="0" smtClean="0">
              <a:solidFill>
                <a:srgbClr val="0000FF"/>
              </a:solidFill>
            </a:endParaRPr>
          </a:p>
          <a:p>
            <a:pPr>
              <a:lnSpc>
                <a:spcPct val="150000"/>
              </a:lnSpc>
            </a:pPr>
            <a:r>
              <a:rPr lang="en-US" altLang="zh-CN" sz="3200" dirty="0" smtClean="0">
                <a:solidFill>
                  <a:srgbClr val="0000FF"/>
                </a:solidFill>
              </a:rPr>
              <a:t>1. </a:t>
            </a:r>
            <a:r>
              <a:rPr lang="en-US" altLang="zh-CN" sz="3200" dirty="0">
                <a:solidFill>
                  <a:srgbClr val="0000FF"/>
                </a:solidFill>
              </a:rPr>
              <a:t>Sy15</a:t>
            </a:r>
            <a:r>
              <a:rPr lang="zh-CN" altLang="en-US" sz="3200" dirty="0">
                <a:solidFill>
                  <a:srgbClr val="0000FF"/>
                </a:solidFill>
              </a:rPr>
              <a:t>合成仪最近一次进行了</a:t>
            </a:r>
            <a:r>
              <a:rPr lang="en-US" altLang="zh-CN" sz="3200" dirty="0" smtClean="0">
                <a:solidFill>
                  <a:srgbClr val="0000FF"/>
                </a:solidFill>
              </a:rPr>
              <a:t>140020 step1</a:t>
            </a:r>
            <a:r>
              <a:rPr lang="zh-CN" altLang="en-US" sz="3200" dirty="0" smtClean="0">
                <a:solidFill>
                  <a:srgbClr val="0000FF"/>
                </a:solidFill>
              </a:rPr>
              <a:t>的</a:t>
            </a:r>
            <a:r>
              <a:rPr lang="zh-CN" altLang="en-US" sz="3200" dirty="0">
                <a:solidFill>
                  <a:srgbClr val="0000FF"/>
                </a:solidFill>
              </a:rPr>
              <a:t>固相合成，</a:t>
            </a:r>
            <a:r>
              <a:rPr lang="zh-CN" altLang="en-US" sz="3200" dirty="0" smtClean="0">
                <a:solidFill>
                  <a:srgbClr val="0000FF"/>
                </a:solidFill>
              </a:rPr>
              <a:t>对</a:t>
            </a:r>
            <a:r>
              <a:rPr lang="en-US" altLang="zh-CN" sz="3200" dirty="0" smtClean="0">
                <a:solidFill>
                  <a:srgbClr val="0000FF"/>
                </a:solidFill>
              </a:rPr>
              <a:t>Sy15</a:t>
            </a:r>
            <a:r>
              <a:rPr lang="zh-CN" altLang="en-US" sz="3200" dirty="0" smtClean="0">
                <a:solidFill>
                  <a:srgbClr val="0000FF"/>
                </a:solidFill>
              </a:rPr>
              <a:t>合成仪手套箱中的黄色固体进行了收集，并进行红外鉴定</a:t>
            </a:r>
            <a:r>
              <a:rPr lang="zh-CN" altLang="en-US" sz="3200" dirty="0" smtClean="0">
                <a:solidFill>
                  <a:srgbClr val="0000FF"/>
                </a:solidFill>
              </a:rPr>
              <a:t>，合成仪内部检查没有物料残留，被测样品红外出峰与</a:t>
            </a:r>
            <a:r>
              <a:rPr lang="en-US" altLang="zh-CN" sz="3200" dirty="0" smtClean="0">
                <a:solidFill>
                  <a:srgbClr val="0000FF"/>
                </a:solidFill>
              </a:rPr>
              <a:t>140020</a:t>
            </a:r>
            <a:r>
              <a:rPr lang="zh-CN" altLang="en-US" sz="3200" dirty="0" smtClean="0">
                <a:solidFill>
                  <a:srgbClr val="0000FF"/>
                </a:solidFill>
              </a:rPr>
              <a:t>的肽树脂出峰相符；</a:t>
            </a:r>
            <a:endParaRPr lang="zh-CN" altLang="en-US" sz="3200" dirty="0">
              <a:solidFill>
                <a:srgbClr val="0000FF"/>
              </a:solidFill>
            </a:endParaRPr>
          </a:p>
        </p:txBody>
      </p:sp>
      <p:grpSp>
        <p:nvGrpSpPr>
          <p:cNvPr id="6" name="组合 5"/>
          <p:cNvGrpSpPr/>
          <p:nvPr/>
        </p:nvGrpSpPr>
        <p:grpSpPr>
          <a:xfrm>
            <a:off x="597976" y="6852122"/>
            <a:ext cx="23188047" cy="4723809"/>
            <a:chOff x="696762" y="7502829"/>
            <a:chExt cx="23188047" cy="4723809"/>
          </a:xfrm>
        </p:grpSpPr>
        <p:pic>
          <p:nvPicPr>
            <p:cNvPr id="2" name="图片 1"/>
            <p:cNvPicPr>
              <a:picLocks noChangeAspect="1"/>
            </p:cNvPicPr>
            <p:nvPr/>
          </p:nvPicPr>
          <p:blipFill>
            <a:blip r:embed="rId2"/>
            <a:stretch>
              <a:fillRect/>
            </a:stretch>
          </p:blipFill>
          <p:spPr>
            <a:xfrm>
              <a:off x="696762" y="7502829"/>
              <a:ext cx="11495238" cy="4723809"/>
            </a:xfrm>
            <a:prstGeom prst="rect">
              <a:avLst/>
            </a:prstGeom>
          </p:spPr>
        </p:pic>
        <p:pic>
          <p:nvPicPr>
            <p:cNvPr id="5" name="图片 4"/>
            <p:cNvPicPr>
              <a:picLocks noChangeAspect="1"/>
            </p:cNvPicPr>
            <p:nvPr/>
          </p:nvPicPr>
          <p:blipFill>
            <a:blip r:embed="rId3"/>
            <a:stretch>
              <a:fillRect/>
            </a:stretch>
          </p:blipFill>
          <p:spPr>
            <a:xfrm>
              <a:off x="12437190" y="7528229"/>
              <a:ext cx="11447619" cy="4657143"/>
            </a:xfrm>
            <a:prstGeom prst="rect">
              <a:avLst/>
            </a:prstGeom>
          </p:spPr>
        </p:pic>
      </p:grpSp>
      <p:sp>
        <p:nvSpPr>
          <p:cNvPr id="7" name="矩形 6"/>
          <p:cNvSpPr/>
          <p:nvPr/>
        </p:nvSpPr>
        <p:spPr>
          <a:xfrm>
            <a:off x="5905854" y="11575931"/>
            <a:ext cx="1891946" cy="830997"/>
          </a:xfrm>
          <a:prstGeom prst="rect">
            <a:avLst/>
          </a:prstGeom>
        </p:spPr>
        <p:txBody>
          <a:bodyPr wrap="square">
            <a:spAutoFit/>
          </a:bodyPr>
          <a:lstStyle/>
          <a:p>
            <a:pPr>
              <a:lnSpc>
                <a:spcPct val="150000"/>
              </a:lnSpc>
            </a:pPr>
            <a:r>
              <a:rPr lang="zh-CN" altLang="en-US" sz="3200" dirty="0" smtClean="0">
                <a:solidFill>
                  <a:srgbClr val="0000FF"/>
                </a:solidFill>
              </a:rPr>
              <a:t>对照品</a:t>
            </a:r>
            <a:endParaRPr lang="zh-CN" altLang="en-US" sz="3200" dirty="0">
              <a:solidFill>
                <a:srgbClr val="0000FF"/>
              </a:solidFill>
            </a:endParaRPr>
          </a:p>
        </p:txBody>
      </p:sp>
      <p:sp>
        <p:nvSpPr>
          <p:cNvPr id="8" name="矩形 7"/>
          <p:cNvSpPr/>
          <p:nvPr/>
        </p:nvSpPr>
        <p:spPr>
          <a:xfrm>
            <a:off x="15443200" y="11444793"/>
            <a:ext cx="5842000" cy="830997"/>
          </a:xfrm>
          <a:prstGeom prst="rect">
            <a:avLst/>
          </a:prstGeom>
        </p:spPr>
        <p:txBody>
          <a:bodyPr wrap="square">
            <a:spAutoFit/>
          </a:bodyPr>
          <a:lstStyle/>
          <a:p>
            <a:pPr>
              <a:lnSpc>
                <a:spcPct val="150000"/>
              </a:lnSpc>
            </a:pPr>
            <a:r>
              <a:rPr lang="en-US" altLang="zh-CN" sz="3200" dirty="0" smtClean="0">
                <a:solidFill>
                  <a:srgbClr val="0000FF"/>
                </a:solidFill>
              </a:rPr>
              <a:t>Sy15</a:t>
            </a:r>
            <a:r>
              <a:rPr lang="zh-CN" altLang="en-US" sz="3200" dirty="0" smtClean="0">
                <a:solidFill>
                  <a:srgbClr val="0000FF"/>
                </a:solidFill>
              </a:rPr>
              <a:t>合成仪手套箱中黄色固体</a:t>
            </a:r>
            <a:endParaRPr lang="zh-CN" altLang="en-US" sz="3200" dirty="0">
              <a:solidFill>
                <a:srgbClr val="0000FF"/>
              </a:solidFill>
            </a:endParaRPr>
          </a:p>
        </p:txBody>
      </p:sp>
    </p:spTree>
    <p:extLst>
      <p:ext uri="{BB962C8B-B14F-4D97-AF65-F5344CB8AC3E}">
        <p14:creationId xmlns:p14="http://schemas.microsoft.com/office/powerpoint/2010/main" val="650609085"/>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816100" y="2007913"/>
            <a:ext cx="20434300" cy="2062103"/>
          </a:xfrm>
          <a:prstGeom prst="rect">
            <a:avLst/>
          </a:prstGeom>
        </p:spPr>
        <p:txBody>
          <a:bodyPr wrap="square">
            <a:spAutoFit/>
          </a:bodyPr>
          <a:lstStyle/>
          <a:p>
            <a:pPr>
              <a:spcAft>
                <a:spcPts val="0"/>
              </a:spcAft>
              <a:buSzPts val="1000"/>
              <a:tabLst>
                <a:tab pos="457200" algn="l"/>
              </a:tabLst>
            </a:pPr>
            <a:r>
              <a:rPr lang="en-US" altLang="zh-CN" sz="3200" dirty="0" smtClean="0">
                <a:solidFill>
                  <a:schemeClr val="tx1"/>
                </a:solidFill>
                <a:latin typeface="+mn-lt"/>
                <a:ea typeface="+mn-ea"/>
              </a:rPr>
              <a:t>7. Investigation </a:t>
            </a:r>
            <a:r>
              <a:rPr lang="en-US" altLang="zh-CN" sz="3200" dirty="0">
                <a:solidFill>
                  <a:schemeClr val="tx1"/>
                </a:solidFill>
                <a:latin typeface="+mn-lt"/>
                <a:ea typeface="+mn-ea"/>
              </a:rPr>
              <a:t>on contaminated sampling tool in the glovebox of L3 synthesizer SY16 and yellow solid contamination in the glovebox of L2 synthesizer SY15. Confirmation of contaminant ID is high recommended or at minimum the contamination must be confirmed to be limited to glovebox only, i.e., the possibility of contamination in the synthesizer must be ruled out.</a:t>
            </a:r>
            <a:endParaRPr lang="zh-CN" altLang="zh-CN" sz="3200" dirty="0">
              <a:solidFill>
                <a:schemeClr val="tx1"/>
              </a:solidFill>
              <a:latin typeface="+mn-lt"/>
              <a:ea typeface="+mn-ea"/>
            </a:endParaRPr>
          </a:p>
        </p:txBody>
      </p:sp>
      <p:sp>
        <p:nvSpPr>
          <p:cNvPr id="4" name="矩形 3"/>
          <p:cNvSpPr/>
          <p:nvPr/>
        </p:nvSpPr>
        <p:spPr>
          <a:xfrm>
            <a:off x="1816100" y="4306907"/>
            <a:ext cx="20434300" cy="3785652"/>
          </a:xfrm>
          <a:prstGeom prst="rect">
            <a:avLst/>
          </a:prstGeom>
        </p:spPr>
        <p:txBody>
          <a:bodyPr wrap="square">
            <a:spAutoFit/>
          </a:bodyPr>
          <a:lstStyle/>
          <a:p>
            <a:pPr>
              <a:lnSpc>
                <a:spcPct val="150000"/>
              </a:lnSpc>
            </a:pPr>
            <a:r>
              <a:rPr lang="en-US" altLang="zh-CN" sz="3200" dirty="0" smtClean="0">
                <a:solidFill>
                  <a:srgbClr val="0000FF"/>
                </a:solidFill>
              </a:rPr>
              <a:t>ASYM</a:t>
            </a:r>
            <a:r>
              <a:rPr lang="zh-CN" altLang="en-US" sz="3200" dirty="0" smtClean="0">
                <a:solidFill>
                  <a:srgbClr val="0000FF"/>
                </a:solidFill>
              </a:rPr>
              <a:t>：</a:t>
            </a:r>
            <a:endParaRPr lang="en-US" altLang="zh-CN" sz="3200" dirty="0" smtClean="0">
              <a:solidFill>
                <a:srgbClr val="0000FF"/>
              </a:solidFill>
            </a:endParaRPr>
          </a:p>
          <a:p>
            <a:pPr>
              <a:lnSpc>
                <a:spcPct val="150000"/>
              </a:lnSpc>
            </a:pPr>
            <a:r>
              <a:rPr lang="en-US" altLang="zh-CN" sz="3200" dirty="0">
                <a:solidFill>
                  <a:srgbClr val="0000FF"/>
                </a:solidFill>
              </a:rPr>
              <a:t>2</a:t>
            </a:r>
            <a:r>
              <a:rPr lang="en-US" altLang="zh-CN" sz="3200" dirty="0" smtClean="0">
                <a:solidFill>
                  <a:srgbClr val="0000FF"/>
                </a:solidFill>
              </a:rPr>
              <a:t>. Sy16</a:t>
            </a:r>
            <a:r>
              <a:rPr lang="zh-CN" altLang="en-US" sz="3200" dirty="0" smtClean="0">
                <a:solidFill>
                  <a:srgbClr val="0000FF"/>
                </a:solidFill>
              </a:rPr>
              <a:t>合成仪手套箱中取样器外包装袋子占有污染物的部分进行取样进行红外鉴定，选定的对照品为设备使用过且挥发度低的物质</a:t>
            </a:r>
            <a:r>
              <a:rPr lang="en-US" altLang="zh-CN" sz="3200" dirty="0" smtClean="0">
                <a:solidFill>
                  <a:srgbClr val="0000FF"/>
                </a:solidFill>
              </a:rPr>
              <a:t>DMF</a:t>
            </a:r>
            <a:r>
              <a:rPr lang="zh-CN" altLang="en-US" sz="3200" dirty="0" smtClean="0">
                <a:solidFill>
                  <a:srgbClr val="0000FF"/>
                </a:solidFill>
              </a:rPr>
              <a:t>，乙二醇</a:t>
            </a:r>
            <a:r>
              <a:rPr lang="zh-CN" altLang="en-US" sz="3200" dirty="0">
                <a:solidFill>
                  <a:srgbClr val="0000FF"/>
                </a:solidFill>
              </a:rPr>
              <a:t>， </a:t>
            </a:r>
            <a:r>
              <a:rPr lang="zh-CN" altLang="en-US" sz="3200" dirty="0" smtClean="0">
                <a:solidFill>
                  <a:srgbClr val="0000FF"/>
                </a:solidFill>
              </a:rPr>
              <a:t>合成</a:t>
            </a:r>
            <a:r>
              <a:rPr lang="zh-CN" altLang="en-US" sz="3200" dirty="0">
                <a:solidFill>
                  <a:srgbClr val="0000FF"/>
                </a:solidFill>
              </a:rPr>
              <a:t>仪内部检查没有物料</a:t>
            </a:r>
            <a:r>
              <a:rPr lang="zh-CN" altLang="en-US" sz="3200" dirty="0" smtClean="0">
                <a:solidFill>
                  <a:srgbClr val="0000FF"/>
                </a:solidFill>
              </a:rPr>
              <a:t>残留，从</a:t>
            </a:r>
            <a:r>
              <a:rPr lang="zh-CN" altLang="en-US" sz="3200" dirty="0" smtClean="0">
                <a:solidFill>
                  <a:srgbClr val="0000FF"/>
                </a:solidFill>
              </a:rPr>
              <a:t>红外谱图看</a:t>
            </a:r>
            <a:r>
              <a:rPr lang="en-US" altLang="zh-CN" sz="3200" dirty="0" smtClean="0">
                <a:solidFill>
                  <a:srgbClr val="0000FF"/>
                </a:solidFill>
              </a:rPr>
              <a:t>LDPE</a:t>
            </a:r>
            <a:r>
              <a:rPr lang="zh-CN" altLang="en-US" sz="3200" dirty="0" smtClean="0">
                <a:solidFill>
                  <a:srgbClr val="0000FF"/>
                </a:solidFill>
              </a:rPr>
              <a:t>袋子污染物与乙二醇</a:t>
            </a:r>
            <a:r>
              <a:rPr lang="zh-CN" altLang="en-US" sz="3200" dirty="0" smtClean="0">
                <a:solidFill>
                  <a:srgbClr val="0000FF"/>
                </a:solidFill>
              </a:rPr>
              <a:t>图谱特征峰相符</a:t>
            </a:r>
            <a:r>
              <a:rPr lang="zh-CN" altLang="en-US" sz="3200" dirty="0" smtClean="0">
                <a:solidFill>
                  <a:srgbClr val="0000FF"/>
                </a:solidFill>
              </a:rPr>
              <a:t>；</a:t>
            </a:r>
            <a:endParaRPr lang="en-US" altLang="zh-CN" sz="3200" dirty="0" smtClean="0">
              <a:solidFill>
                <a:srgbClr val="0000FF"/>
              </a:solidFill>
            </a:endParaRPr>
          </a:p>
          <a:p>
            <a:pPr>
              <a:lnSpc>
                <a:spcPct val="150000"/>
              </a:lnSpc>
            </a:pPr>
            <a:endParaRPr lang="zh-CN" altLang="en-US" sz="3200" dirty="0">
              <a:solidFill>
                <a:srgbClr val="0000FF"/>
              </a:solidFill>
            </a:endParaRPr>
          </a:p>
        </p:txBody>
      </p:sp>
      <p:pic>
        <p:nvPicPr>
          <p:cNvPr id="6" name="图片 5"/>
          <p:cNvPicPr>
            <a:picLocks noChangeAspect="1"/>
          </p:cNvPicPr>
          <p:nvPr/>
        </p:nvPicPr>
        <p:blipFill>
          <a:blip r:embed="rId2"/>
          <a:stretch>
            <a:fillRect/>
          </a:stretch>
        </p:blipFill>
        <p:spPr>
          <a:xfrm>
            <a:off x="838200" y="6610945"/>
            <a:ext cx="11087931" cy="4503605"/>
          </a:xfrm>
          <a:prstGeom prst="rect">
            <a:avLst/>
          </a:prstGeom>
        </p:spPr>
      </p:pic>
      <p:pic>
        <p:nvPicPr>
          <p:cNvPr id="7" name="图片 6"/>
          <p:cNvPicPr>
            <a:picLocks noChangeAspect="1"/>
          </p:cNvPicPr>
          <p:nvPr/>
        </p:nvPicPr>
        <p:blipFill>
          <a:blip r:embed="rId3"/>
          <a:stretch>
            <a:fillRect/>
          </a:stretch>
        </p:blipFill>
        <p:spPr>
          <a:xfrm>
            <a:off x="12744096" y="6610945"/>
            <a:ext cx="11161510" cy="4503605"/>
          </a:xfrm>
          <a:prstGeom prst="rect">
            <a:avLst/>
          </a:prstGeom>
        </p:spPr>
      </p:pic>
      <p:sp>
        <p:nvSpPr>
          <p:cNvPr id="9" name="矩形 8"/>
          <p:cNvSpPr/>
          <p:nvPr/>
        </p:nvSpPr>
        <p:spPr>
          <a:xfrm>
            <a:off x="17767300" y="11275668"/>
            <a:ext cx="1891946" cy="739754"/>
          </a:xfrm>
          <a:prstGeom prst="rect">
            <a:avLst/>
          </a:prstGeom>
        </p:spPr>
        <p:txBody>
          <a:bodyPr wrap="square">
            <a:spAutoFit/>
          </a:bodyPr>
          <a:lstStyle/>
          <a:p>
            <a:pPr>
              <a:lnSpc>
                <a:spcPct val="150000"/>
              </a:lnSpc>
            </a:pPr>
            <a:r>
              <a:rPr lang="zh-CN" altLang="en-US" sz="3200" dirty="0" smtClean="0">
                <a:solidFill>
                  <a:srgbClr val="0000FF"/>
                </a:solidFill>
              </a:rPr>
              <a:t>乙二醇</a:t>
            </a:r>
            <a:endParaRPr lang="zh-CN" altLang="en-US" sz="3200" dirty="0">
              <a:solidFill>
                <a:srgbClr val="0000FF"/>
              </a:solidFill>
            </a:endParaRPr>
          </a:p>
        </p:txBody>
      </p:sp>
      <p:sp>
        <p:nvSpPr>
          <p:cNvPr id="10" name="矩形 9"/>
          <p:cNvSpPr/>
          <p:nvPr/>
        </p:nvSpPr>
        <p:spPr>
          <a:xfrm>
            <a:off x="3714750" y="11134797"/>
            <a:ext cx="6472759" cy="830997"/>
          </a:xfrm>
          <a:prstGeom prst="rect">
            <a:avLst/>
          </a:prstGeom>
        </p:spPr>
        <p:txBody>
          <a:bodyPr wrap="square">
            <a:spAutoFit/>
          </a:bodyPr>
          <a:lstStyle/>
          <a:p>
            <a:pPr>
              <a:lnSpc>
                <a:spcPct val="150000"/>
              </a:lnSpc>
            </a:pPr>
            <a:r>
              <a:rPr lang="en-US" altLang="zh-CN" sz="3200" dirty="0" smtClean="0">
                <a:solidFill>
                  <a:srgbClr val="0000FF"/>
                </a:solidFill>
              </a:rPr>
              <a:t>Sy16</a:t>
            </a:r>
            <a:r>
              <a:rPr lang="zh-CN" altLang="en-US" sz="3200" dirty="0" smtClean="0">
                <a:solidFill>
                  <a:srgbClr val="0000FF"/>
                </a:solidFill>
              </a:rPr>
              <a:t>合成仪手套箱中</a:t>
            </a:r>
            <a:r>
              <a:rPr lang="en-US" altLang="zh-CN" sz="3200" dirty="0" smtClean="0">
                <a:solidFill>
                  <a:srgbClr val="0000FF"/>
                </a:solidFill>
              </a:rPr>
              <a:t>LDPE</a:t>
            </a:r>
            <a:r>
              <a:rPr lang="zh-CN" altLang="en-US" sz="3200" dirty="0" smtClean="0">
                <a:solidFill>
                  <a:srgbClr val="0000FF"/>
                </a:solidFill>
              </a:rPr>
              <a:t>污染物</a:t>
            </a:r>
            <a:endParaRPr lang="zh-CN" altLang="en-US" sz="3200" dirty="0">
              <a:solidFill>
                <a:srgbClr val="0000FF"/>
              </a:solidFill>
            </a:endParaRPr>
          </a:p>
        </p:txBody>
      </p:sp>
    </p:spTree>
    <p:extLst>
      <p:ext uri="{BB962C8B-B14F-4D97-AF65-F5344CB8AC3E}">
        <p14:creationId xmlns:p14="http://schemas.microsoft.com/office/powerpoint/2010/main" val="4030304839"/>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12924</TotalTime>
  <Words>850</Words>
  <Application>Microsoft Office PowerPoint</Application>
  <PresentationFormat>自定义</PresentationFormat>
  <Paragraphs>76</Paragraphs>
  <Slides>8</Slides>
  <Notes>1</Notes>
  <HiddenSlides>0</HiddenSlides>
  <MMClips>0</MMClips>
  <ScaleCrop>false</ScaleCrop>
  <HeadingPairs>
    <vt:vector size="6" baseType="variant">
      <vt:variant>
        <vt:lpstr>已用的字体</vt:lpstr>
      </vt:variant>
      <vt:variant>
        <vt:i4>5</vt:i4>
      </vt:variant>
      <vt:variant>
        <vt:lpstr>主题</vt:lpstr>
      </vt:variant>
      <vt:variant>
        <vt:i4>14</vt:i4>
      </vt:variant>
      <vt:variant>
        <vt:lpstr>幻灯片标题</vt:lpstr>
      </vt:variant>
      <vt:variant>
        <vt:i4>8</vt:i4>
      </vt:variant>
    </vt:vector>
  </HeadingPairs>
  <TitlesOfParts>
    <vt:vector size="27" baseType="lpstr">
      <vt:lpstr>Helvetica Light</vt:lpstr>
      <vt:lpstr>Helvetica Neue</vt:lpstr>
      <vt:lpstr>Open Sans</vt:lpstr>
      <vt:lpstr>微软雅黑</vt:lpstr>
      <vt:lpstr>Arial</vt:lpstr>
      <vt:lpstr>webwppDefTheme</vt:lpstr>
      <vt:lpstr>1_webwppDefTheme</vt:lpstr>
      <vt:lpstr>2_webwppDefTheme</vt:lpstr>
      <vt:lpstr>3_webwppDefTheme</vt:lpstr>
      <vt:lpstr>4_webwppDefTheme</vt:lpstr>
      <vt:lpstr>5_webwppDefTheme</vt:lpstr>
      <vt:lpstr>6_webwppDefTheme</vt:lpstr>
      <vt:lpstr>10_webwppDefTheme</vt:lpstr>
      <vt:lpstr>11_webwppDefTheme</vt:lpstr>
      <vt:lpstr>7_webwppDefTheme</vt:lpstr>
      <vt:lpstr>8_webwppDefTheme</vt:lpstr>
      <vt:lpstr>9_webwppDefTheme</vt:lpstr>
      <vt:lpstr>12_webwppDefTheme</vt:lpstr>
      <vt:lpstr>13_webwppDefTheme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Zechen Wei14669</dc:creator>
  <cp:lastModifiedBy>Zhongyao Zhang</cp:lastModifiedBy>
  <cp:revision>399</cp:revision>
  <dcterms:created xsi:type="dcterms:W3CDTF">2025-10-27T09:32:28Z</dcterms:created>
  <dcterms:modified xsi:type="dcterms:W3CDTF">2026-10-19T04:31:48Z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