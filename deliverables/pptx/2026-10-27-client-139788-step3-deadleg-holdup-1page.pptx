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4630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139788 Step 3 — Dead-leg and hold-up retrofit</a:t>
            </a:r>
            <a:endParaRPr sz="2000" b="1">
              <a:solidFill>
                <a:srgbClr val="1A233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47472" y="475488"/>
            <a:ext cx="85953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Demo: Option 1    Pre-PPQ and PPQ: Option 2    Commercial: Option 3</a:t>
            </a:r>
            <a:endParaRPr sz="12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2608" y="804672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606040"/>
                <a:gridCol w="2880360"/>
                <a:gridCol w="2880360"/>
                <a:gridCol w="1051560"/>
                <a:gridCol w="141732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What it covers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Potential risk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Mitigation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After mitigation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Due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</a:tr>
              <a:tr h="126187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  <a:endParaRPr sz="16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2D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Dead legs outside the 2D/3D criterion, diaphragm valves that are not self-draining, and non-BPE piping stay in place.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Hold-up can degrade material, support microbial growth, or cause cross-contamination. Flush, drain, purge, and disassembly after each use are not defined.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After each system transfer, flush or clean with process solvent, supported by bioburden data. Define those steps in the procedures.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6B4A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Low</a:t>
                      </a:r>
                      <a:endParaRPr sz="1300" b="1">
                        <a:solidFill>
                          <a:srgbClr val="1F6B4A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Nov 5, 2026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</a:tr>
              <a:tr h="126187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  <a:endParaRPr sz="16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2D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Rebuild piping and vessels with hygienic T-valves and 3D short-outlet tees. Control dead legs, slope, and drainability. Reserve CIP tie-in valves.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New change control, with a concern for product quality. The risk assessment of pre-use and post-use operations is not yet sufficient.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Qualify the modified piping. Define the operating and cleaning sequence and update the records.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6B4A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Low</a:t>
                      </a:r>
                      <a:endParaRPr sz="1300" b="1">
                        <a:solidFill>
                          <a:srgbClr val="1F6B4A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Feb 6, 2027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</a:tr>
              <a:tr h="126187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  <a:endParaRPr sz="16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2D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Add clean-in-place on the Option 2 piping, including slope, drainage, dead-leg removal, and pre-use flush, cleaning, disinfection, and purge.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The design may be incomplete, and the CIP sequence and controls may be incomplete.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Qualify the system as a whole. Update the SOP and bring the requirements into routine use.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6B4A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Low</a:t>
                      </a:r>
                      <a:endParaRPr sz="1300" b="1">
                        <a:solidFill>
                          <a:srgbClr val="1F6B4A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5 months after Option 2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5010912"/>
          <a:ext cx="11612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2011680"/>
                <a:gridCol w="2011680"/>
                <a:gridCol w="20116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Process step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Demo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Pre-PPQ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PPQ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Commercial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Preparative buffer preparation</a:t>
                      </a:r>
                      <a:endParaRPr sz="12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2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2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Preparative chromatography</a:t>
                      </a:r>
                      <a:endParaRPr sz="12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2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2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TFF</a:t>
                      </a:r>
                      <a:endParaRPr sz="12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2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2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Precipitation</a:t>
                      </a:r>
                      <a:endParaRPr sz="12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2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2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6583680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  <a:endParaRPr sz="10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1580</Words>
  <Application>WPS Presentation</Application>
  <PresentationFormat>On-screen Show (4:3)</PresentationFormat>
  <Paragraphs>104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Arial</vt:lpstr>
      <vt:lpstr>DejaVu Sans</vt:lpstr>
      <vt:lpstr>Calibri</vt:lpstr>
      <vt:lpstr>微软雅黑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139788 Step 3 Dead-leg and Hold-up Retrofit — one page</dc:title>
  <dc:creator>Asymchem</dc:creator>
  <dc:description>generated using python-pptx</dc:description>
  <cp:lastModifiedBy>litao0056</cp:lastModifiedBy>
  <cp:revision>4</cp:revision>
  <dcterms:created xsi:type="dcterms:W3CDTF">2013-01-27T09:14:00Z</dcterms:created>
  <dcterms:modified xsi:type="dcterms:W3CDTF">2026-10-27T01:51:35Z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9BA5084EF57844A9A98621193AF3C5A8_12</vt:lpwstr>
  </property>
  <property fmtid="{D5CDD505-2E9C-101B-9397-08002B2CF9AE}" pid="3" name="KSOProductBuildVer">
    <vt:lpwstr>1033-12.1.0.29162</vt:lpwstr>
  </property>
</Properties>
</file>