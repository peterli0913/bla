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139788  ·  STEP 3</a:t>
            </a:r>
            <a:endParaRPr sz="1600" b="1">
              <a:solidFill>
                <a:srgbClr val="A8DAD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Dead-leg and hold-up retrofit</a:t>
            </a:r>
            <a:endParaRPr sz="400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AEE"/>
                </a:solidFill>
                <a:latin typeface="DejaVu Sans"/>
                <a:ea typeface="DejaVu Sans"/>
                <a:cs typeface="DejaVu Sans"/>
              </a:rPr>
              <a:t>Schedule for the three options, and where each one applies.</a:t>
            </a:r>
            <a:endParaRPr sz="1800" b="0">
              <a:solidFill>
                <a:srgbClr val="F1FAE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Asymchem   ·   Client review   ·   October 2026</a:t>
            </a:r>
            <a:endParaRPr sz="1400" b="0">
              <a:solidFill>
                <a:srgbClr val="A8DADC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6695" y="589915"/>
            <a:ext cx="11739245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Demo uses Option 1. Pre-PPQ and PPQ use Option 2.</a:t>
            </a:r>
            <a:r>
              <a:rPr lang="en-US" sz="24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en-US" altLang="en-US" sz="24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Commercial manufacture uses Option 3. </a:t>
            </a:r>
            <a:endParaRPr lang="en-US" altLang="en-US" sz="2400" b="1">
              <a:solidFill>
                <a:srgbClr val="1A2332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en-US" sz="2400" b="1">
              <a:solidFill>
                <a:srgbClr val="1A2332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5567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920240"/>
                <a:gridCol w="1965960"/>
                <a:gridCol w="1874519"/>
                <a:gridCol w="2011680"/>
              </a:tblGrid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Process step</a:t>
                      </a:r>
                      <a:endParaRPr sz="14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</a:t>
                      </a:r>
                      <a:endParaRPr sz="14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Pre-PPQ</a:t>
                      </a:r>
                      <a:endParaRPr sz="14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PPQ</a:t>
                      </a:r>
                      <a:endParaRPr sz="14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</a:t>
                      </a:r>
                      <a:endParaRPr sz="14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Preparative buffer preparation</a:t>
                      </a:r>
                      <a:endParaRPr sz="1600" b="1">
                        <a:solidFill>
                          <a:srgbClr val="1A2332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  <a:endParaRPr sz="1600" b="1">
                        <a:solidFill>
                          <a:srgbClr val="2D8B8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6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6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  <a:endParaRPr sz="1600" b="1">
                        <a:solidFill>
                          <a:srgbClr val="1F6B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Preparative chromatography</a:t>
                      </a:r>
                      <a:endParaRPr sz="1600" b="1">
                        <a:solidFill>
                          <a:srgbClr val="1A2332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  <a:endParaRPr sz="1600" b="1">
                        <a:solidFill>
                          <a:srgbClr val="2D8B8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6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6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  <a:endParaRPr sz="1600" b="1">
                        <a:solidFill>
                          <a:srgbClr val="1F6B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TFF</a:t>
                      </a:r>
                      <a:endParaRPr sz="1600" b="1">
                        <a:solidFill>
                          <a:srgbClr val="1A2332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  <a:endParaRPr sz="1600" b="1">
                        <a:solidFill>
                          <a:srgbClr val="2D8B8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6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6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  <a:endParaRPr sz="1600" b="1">
                        <a:solidFill>
                          <a:srgbClr val="1F6B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Precipitation</a:t>
                      </a:r>
                      <a:endParaRPr sz="1600" b="1">
                        <a:solidFill>
                          <a:srgbClr val="1A2332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  <a:endParaRPr sz="1600" b="1">
                        <a:solidFill>
                          <a:srgbClr val="2D8B8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6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6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  <a:endParaRPr sz="1600" b="1">
                        <a:solidFill>
                          <a:srgbClr val="1F6B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  <a:endParaRPr sz="11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2  /  5</a:t>
            </a:r>
            <a:endParaRPr sz="11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Option 1: procedural control by November 5, 2026.</a:t>
            </a:r>
            <a:endParaRPr sz="2600" b="1">
              <a:solidFill>
                <a:srgbClr val="1A233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The piping stays as it is. The control is how the line is used and cleaned.</a:t>
            </a:r>
            <a:endParaRPr sz="15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201400" cy="1115568"/>
          </a:xfrm>
          <a:prstGeom prst="rect">
            <a:avLst/>
          </a:prstGeom>
          <a:solidFill>
            <a:srgbClr val="F8EEEE"/>
          </a:solidFill>
          <a:ln w="12700">
            <a:solidFill>
              <a:srgbClr val="E4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961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A3A"/>
                </a:solidFill>
                <a:latin typeface="DejaVu Sans"/>
                <a:ea typeface="DejaVu Sans"/>
                <a:cs typeface="DejaVu Sans"/>
              </a:rPr>
              <a:t>POTENTIAL RISK</a:t>
            </a:r>
            <a:endParaRPr sz="1200" b="1">
              <a:solidFill>
                <a:srgbClr val="8C3A3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Hold-up in the piping can degrade the material, support microbial growth, or cause cross-contamination. The flush, drain, purge, and disassembly required after each use are not defined.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5486400" cy="201168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2697480"/>
            <a:ext cx="5532120" cy="201168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1635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WHAT REMAINS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3090672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Some piping does not meet the 2D/3D dead-leg criterion.</a:t>
            </a:r>
            <a:endParaRPr sz="14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Some diaphragm valves do not meet the self-draining requirement.</a:t>
            </a:r>
            <a:endParaRPr sz="14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Some piping is not ASME BPE piping.</a:t>
            </a:r>
            <a:endParaRPr sz="14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82512" y="281635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WHAT WE WILL ADD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2" y="3090672"/>
            <a:ext cx="50749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After each system transfer, flush or clean with process solvent. Bioburden data support this step.</a:t>
            </a:r>
            <a:endParaRPr sz="14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Write the flush, drain, purge, and disassembly requirements into the procedures.</a:t>
            </a:r>
            <a:endParaRPr sz="14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7635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4892040"/>
            <a:ext cx="3429000" cy="132588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029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RESIDUAL RISK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534924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Low, once the tighter procedural controls are in place.</a:t>
            </a:r>
            <a:endParaRPr sz="16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85632" y="50292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DUE</a:t>
            </a:r>
            <a:endParaRPr sz="1200" b="1">
              <a:solidFill>
                <a:srgbClr val="A8DAD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85632" y="53949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November 5, 2026</a:t>
            </a:r>
            <a:endParaRPr sz="220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  <a:endParaRPr sz="11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3  /  5</a:t>
            </a:r>
            <a:endParaRPr sz="11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Option 2: piping retrofit complete by February 6, 2027.</a:t>
            </a:r>
            <a:endParaRPr sz="2600" b="1">
              <a:solidFill>
                <a:srgbClr val="1A233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This is the configuration for Pre-PPQ and PPQ.</a:t>
            </a:r>
            <a:endParaRPr sz="15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00" cy="306324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32120" cy="306324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THE RETROFIT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194560"/>
            <a:ext cx="502920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Rebuild the piping and vessels with hygienic T-valves and short-outlet tees meeting the 3D criterion.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Control dead legs, slope, and drainability.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Leave valves for a later CIP connection.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2512" y="181051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RISK AND THE RESPONSE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82512" y="2194560"/>
            <a:ext cx="50749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This is a new change control. The concern is an effect on product quality, and pre-use and post-use steps that are not yet sufficient.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Qualify the modified piping. Define the operating and cleaning sequence, and update the records.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7635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4892040"/>
            <a:ext cx="3429000" cy="132588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029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RESIDUAL RISK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534924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Low, with the modified hardware and the revised sequence.</a:t>
            </a:r>
            <a:endParaRPr sz="16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85632" y="50292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DUE</a:t>
            </a:r>
            <a:endParaRPr sz="1200" b="1">
              <a:solidFill>
                <a:srgbClr val="A8DAD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85632" y="53949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February 6, 2027</a:t>
            </a:r>
            <a:endParaRPr sz="220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  <a:endParaRPr sz="11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4  /  5</a:t>
            </a:r>
            <a:endParaRPr sz="11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Option 3 adds CIP, five months after Option 2.</a:t>
            </a:r>
            <a:endParaRPr sz="2600" b="1">
              <a:solidFill>
                <a:srgbClr val="1A233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This is the configuration for commercial manufacture. It is built on the Option 2 piping.</a:t>
            </a:r>
            <a:endParaRPr sz="15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00" cy="306324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32120" cy="306324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WHAT CIP ADDS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194560"/>
            <a:ext cx="502920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Clean-in-place on the retrofitted piping.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Slope, drainage, and removal of dead legs.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Pre-use flush, cleaning, disinfection, and purge, all done in place.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2512" y="181051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RISK AND THE RESPONSE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82512" y="2194560"/>
            <a:ext cx="50749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The design may be incomplete, and the CIP sequence and controls may be incomplete.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Qualify the system as a whole. Update the SOP and bring the requirements into routine use.</a:t>
            </a:r>
            <a:endParaRPr sz="15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7635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4892040"/>
            <a:ext cx="3429000" cy="132588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029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RESIDUAL RISK</a:t>
            </a:r>
            <a:endParaRPr sz="1200" b="1">
              <a:solidFill>
                <a:srgbClr val="2D8B8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534924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Low, with the revised piping and the CIP cycle.</a:t>
            </a:r>
            <a:endParaRPr sz="1600" b="0">
              <a:solidFill>
                <a:srgbClr val="1C28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85632" y="50109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DUE</a:t>
            </a:r>
            <a:endParaRPr sz="1200" b="1">
              <a:solidFill>
                <a:srgbClr val="A8DAD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85632" y="5285232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 months after</a:t>
            </a:r>
            <a:endParaRPr sz="180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Option 2</a:t>
            </a:r>
            <a:endParaRPr sz="180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  <a:endParaRPr sz="11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5  /  5</a:t>
            </a:r>
            <a:endParaRPr sz="11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2676</Words>
  <Application>WPS Presentation</Application>
  <PresentationFormat>On-screen Show (4:3)</PresentationFormat>
  <Paragraphs>151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</vt:lpstr>
      <vt:lpstr>DejaVu Sans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139788 Step 3 Dead-leg and Hold-up Retrofit</dc:title>
  <dc:creator>Asymchem</dc:creator>
  <dc:description>generated using python-pptx</dc:description>
  <dc:subject>Client briefing</dc:subject>
  <cp:lastModifiedBy>litao0056</cp:lastModifiedBy>
  <cp:revision>2</cp:revision>
  <dcterms:created xsi:type="dcterms:W3CDTF">2013-01-27T09:14:00Z</dcterms:created>
  <dcterms:modified xsi:type="dcterms:W3CDTF">2026-10-27T01:54:53Z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18C57656EC214D35B1D966C141C1997F_12</vt:lpwstr>
  </property>
  <property fmtid="{D5CDD505-2E9C-101B-9397-08002B2CF9AE}" pid="3" name="KSOProductBuildVer">
    <vt:lpwstr>1033-12.1.0.29162</vt:lpwstr>
  </property>
</Properties>
</file>