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95" r:id="rId3"/>
    <p:sldId id="286" r:id="rId4"/>
    <p:sldId id="300" r:id="rId5"/>
    <p:sldId id="304" r:id="rId6"/>
    <p:sldId id="305" r:id="rId7"/>
    <p:sldId id="303" r:id="rId8"/>
    <p:sldId id="302" r:id="rId9"/>
    <p:sldId id="301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Qixuan Bu17334" initials="QB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158" autoAdjust="0"/>
    <p:restoredTop sz="94660"/>
  </p:normalViewPr>
  <p:slideViewPr>
    <p:cSldViewPr snapToGrid="0">
      <p:cViewPr varScale="1">
        <p:scale>
          <a:sx n="78" d="100"/>
          <a:sy n="78" d="100"/>
        </p:scale>
        <p:origin x="51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30DE29-530B-4A92-B559-3A8E328F456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0AFF6D-188D-41AE-B623-A5FDCCC46DB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50038-2ADE-46FC-A622-9A4B105163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9932D-01F1-4964-A8B9-79C491C49B1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e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jpe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19.png"/><Relationship Id="rId12" Type="http://schemas.openxmlformats.org/officeDocument/2006/relationships/image" Target="../media/image18.png"/><Relationship Id="rId11" Type="http://schemas.openxmlformats.org/officeDocument/2006/relationships/image" Target="../media/image17.png"/><Relationship Id="rId10" Type="http://schemas.openxmlformats.org/officeDocument/2006/relationships/image" Target="../media/image16.png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png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33.jpeg"/><Relationship Id="rId14" Type="http://schemas.openxmlformats.org/officeDocument/2006/relationships/image" Target="../media/image32.png"/><Relationship Id="rId13" Type="http://schemas.openxmlformats.org/officeDocument/2006/relationships/image" Target="../media/image31.png"/><Relationship Id="rId12" Type="http://schemas.openxmlformats.org/officeDocument/2006/relationships/image" Target="../media/image30.png"/><Relationship Id="rId11" Type="http://schemas.openxmlformats.org/officeDocument/2006/relationships/image" Target="../media/image29.png"/><Relationship Id="rId10" Type="http://schemas.openxmlformats.org/officeDocument/2006/relationships/image" Target="../media/image28.pn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png"/><Relationship Id="rId8" Type="http://schemas.openxmlformats.org/officeDocument/2006/relationships/image" Target="../media/image40.jpeg"/><Relationship Id="rId7" Type="http://schemas.openxmlformats.org/officeDocument/2006/relationships/image" Target="../media/image39.jpeg"/><Relationship Id="rId6" Type="http://schemas.openxmlformats.org/officeDocument/2006/relationships/image" Target="../media/image38.jpeg"/><Relationship Id="rId5" Type="http://schemas.openxmlformats.org/officeDocument/2006/relationships/image" Target="../media/image37.jpeg"/><Relationship Id="rId4" Type="http://schemas.openxmlformats.org/officeDocument/2006/relationships/image" Target="../media/image36.jpeg"/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47.jpeg"/><Relationship Id="rId14" Type="http://schemas.openxmlformats.org/officeDocument/2006/relationships/image" Target="../media/image46.jpeg"/><Relationship Id="rId13" Type="http://schemas.openxmlformats.org/officeDocument/2006/relationships/image" Target="../media/image45.png"/><Relationship Id="rId12" Type="http://schemas.openxmlformats.org/officeDocument/2006/relationships/image" Target="../media/image44.jpeg"/><Relationship Id="rId11" Type="http://schemas.openxmlformats.org/officeDocument/2006/relationships/image" Target="../media/image43.jpeg"/><Relationship Id="rId10" Type="http://schemas.openxmlformats.org/officeDocument/2006/relationships/image" Target="../media/image42.jpeg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75000"/>
            <a:alpha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13467" y="1282335"/>
            <a:ext cx="184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16" name="图片 11" descr="333"/>
          <p:cNvPicPr>
            <a:picLocks noChangeAspect="1"/>
          </p:cNvPicPr>
          <p:nvPr/>
        </p:nvPicPr>
        <p:blipFill>
          <a:blip r:embed="rId1"/>
          <a:srcRect l="2396" r="3197" b="-1489"/>
          <a:stretch>
            <a:fillRect/>
          </a:stretch>
        </p:blipFill>
        <p:spPr>
          <a:xfrm>
            <a:off x="-1" y="3926127"/>
            <a:ext cx="12192000" cy="2364598"/>
          </a:xfrm>
          <a:prstGeom prst="rect">
            <a:avLst/>
          </a:prstGeom>
          <a:noFill/>
          <a:ln w="9525">
            <a:noFill/>
          </a:ln>
          <a:effectLst>
            <a:outerShdw dist="50800" dir="5400000" algn="ctr" rotWithShape="0">
              <a:srgbClr val="000000">
                <a:alpha val="0"/>
              </a:srgbClr>
            </a:outerShdw>
            <a:softEdge rad="0"/>
          </a:effectLst>
        </p:spPr>
      </p:pic>
      <p:pic>
        <p:nvPicPr>
          <p:cNvPr id="17" name="图片 1" descr="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19" y="456302"/>
            <a:ext cx="2663161" cy="4825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" name="Rectangle 111"/>
          <p:cNvSpPr txBox="1"/>
          <p:nvPr/>
        </p:nvSpPr>
        <p:spPr>
          <a:xfrm>
            <a:off x="0" y="5970399"/>
            <a:ext cx="12192000" cy="496996"/>
          </a:xfrm>
          <a:prstGeom prst="rect">
            <a:avLst/>
          </a:prstGeom>
          <a:solidFill>
            <a:srgbClr val="7EB2E6"/>
          </a:solidFill>
          <a:ln w="12700">
            <a:noFill/>
          </a:ln>
        </p:spPr>
        <p:txBody>
          <a:bodyPr wrap="square" lIns="45719" rIns="45719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2F5A9E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+mn-cs"/>
                <a:sym typeface="Arial" panose="020B0604020202020204"/>
              </a:rPr>
              <a:t>Green Chemistry is the Future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2F5A9E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+mn-cs"/>
              <a:sym typeface="Arial" panose="020B0604020202020204"/>
            </a:endParaRPr>
          </a:p>
        </p:txBody>
      </p:sp>
      <p:sp>
        <p:nvSpPr>
          <p:cNvPr id="19" name="Rectangle 111"/>
          <p:cNvSpPr txBox="1"/>
          <p:nvPr/>
        </p:nvSpPr>
        <p:spPr>
          <a:xfrm>
            <a:off x="1714500" y="6376451"/>
            <a:ext cx="8763000" cy="456535"/>
          </a:xfrm>
          <a:prstGeom prst="rect">
            <a:avLst/>
          </a:prstGeom>
          <a:noFill/>
          <a:ln w="12700">
            <a:noFill/>
          </a:ln>
        </p:spPr>
        <p:txBody>
          <a:bodyPr wrap="square" lIns="45719" rIns="45719" anchor="t">
            <a:spAutoFit/>
          </a:bodyPr>
          <a:lstStyle/>
          <a:p>
            <a:pPr marL="0" marR="0" lvl="0" indent="0" algn="ctr" defTabSz="8255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EB2E6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+mn-cs"/>
                <a:sym typeface="Arial" panose="020B0604020202020204"/>
              </a:rPr>
              <a:t>www.asymchem.com     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7EB2E6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+mn-cs"/>
                <a:sym typeface="Arial" panose="020B0604020202020204"/>
              </a:rPr>
              <a:t>Stock Code</a:t>
            </a:r>
            <a:r>
              <a:rPr kumimoji="0" lang="en-US" altLang="zh-CN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7EB2E6"/>
                </a:solidFill>
                <a:effectLst/>
                <a:uLnTx/>
                <a:uFillTx/>
                <a:latin typeface="Arial" panose="020B0604020202020204"/>
                <a:ea typeface="Arial" panose="020B0604020202020204"/>
                <a:cs typeface="+mn-cs"/>
                <a:sym typeface="Arial" panose="020B0604020202020204"/>
              </a:rPr>
              <a:t>: 002821.SZ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7EB2E6"/>
              </a:solidFill>
              <a:effectLst/>
              <a:uLnTx/>
              <a:uFillTx/>
              <a:latin typeface="Arial" panose="020B0604020202020204"/>
              <a:ea typeface="Arial" panose="020B0604020202020204"/>
              <a:cs typeface="+mn-cs"/>
              <a:sym typeface="Arial" panose="020B0604020202020204"/>
            </a:endParaRPr>
          </a:p>
        </p:txBody>
      </p:sp>
      <p:sp>
        <p:nvSpPr>
          <p:cNvPr id="20" name="TextBox 5"/>
          <p:cNvSpPr txBox="1">
            <a:spLocks noChangeArrowheads="1"/>
          </p:cNvSpPr>
          <p:nvPr/>
        </p:nvSpPr>
        <p:spPr bwMode="auto">
          <a:xfrm>
            <a:off x="115344" y="2059759"/>
            <a:ext cx="12076655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Impact" panose="020B0806030902050204" pitchFamily="34" charset="0"/>
              </a:rPr>
              <a:t>差距识别</a:t>
            </a:r>
            <a:r>
              <a:rPr kumimoji="0" lang="en-US" altLang="zh-CN" sz="5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Impact" panose="020B0806030902050204" pitchFamily="34" charset="0"/>
              </a:rPr>
              <a:t>-</a:t>
            </a:r>
            <a:r>
              <a:rPr kumimoji="0" lang="zh-CN" altLang="en-US" sz="5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Impact" panose="020B0806030902050204" pitchFamily="34" charset="0"/>
              </a:rPr>
              <a:t>超滤部分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Impact" panose="020B080603090205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26" y="-9039"/>
            <a:ext cx="1806174" cy="49259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124997" y="52591"/>
            <a:ext cx="2884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Category3 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管路、设备要求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86266" y="483550"/>
          <a:ext cx="11726333" cy="600191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9710"/>
                <a:gridCol w="9206623"/>
              </a:tblGrid>
              <a:tr h="26054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>
                          <a:effectLst/>
                          <a:latin typeface="+mn-ea"/>
                          <a:ea typeface="+mn-ea"/>
                        </a:rPr>
                        <a:t>Category 3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209876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标准项目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描述 </a:t>
                      </a:r>
                      <a:r>
                        <a:rPr lang="en-US" altLang="zh-CN" sz="1100" b="1" u="none" strike="noStrike" dirty="0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指导要点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396031">
                <a:tc rowSpan="5"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 dirty="0">
                          <a:effectLst/>
                          <a:latin typeface="+mn-ea"/>
                          <a:ea typeface="+mn-ea"/>
                        </a:rPr>
                        <a:t>Lines, Connections, Components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/>
                      <a:r>
                        <a:rPr lang="zh-CN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管路、连接、</a:t>
                      </a:r>
                      <a:r>
                        <a:rPr lang="zh-CN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部件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・三夹快装接头（实体垫片密封）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200283">
                <a:tc vMerge="1"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 dirty="0">
                          <a:effectLst/>
                          <a:latin typeface="+mn-ea"/>
                          <a:ea typeface="+mn-ea"/>
                        </a:rPr>
                        <a:t>・ASME BPE </a:t>
                      </a:r>
                      <a:r>
                        <a:rPr lang="zh-CN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规格管材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396031">
                <a:tc vMerge="1"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・球阀：存在风险残留物的系统禁止使用球阀，球体后方积料会成为隐患；球阀可用于溶剂系统隔离工况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200283">
                <a:tc vMerge="1"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・材质 </a:t>
                      </a:r>
                      <a:r>
                        <a:rPr lang="en-US" sz="1000" b="0" u="none" strike="noStrike" dirty="0">
                          <a:effectLst/>
                          <a:latin typeface="+mn-ea"/>
                          <a:ea typeface="+mn-ea"/>
                        </a:rPr>
                        <a:t>MOC：</a:t>
                      </a:r>
                      <a:r>
                        <a:rPr lang="zh-CN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不锈钢、高合金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377272">
                <a:tc vMerge="1"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u="none" strike="noStrike">
                          <a:effectLst/>
                          <a:latin typeface="+mn-ea"/>
                          <a:ea typeface="+mn-ea"/>
                        </a:rPr>
                        <a:t>・执行 </a:t>
                      </a:r>
                      <a:r>
                        <a:rPr lang="en-US" sz="1000" b="0" u="none" strike="noStrike">
                          <a:effectLst/>
                          <a:latin typeface="+mn-ea"/>
                          <a:ea typeface="+mn-ea"/>
                        </a:rPr>
                        <a:t>ASME BPE </a:t>
                      </a:r>
                      <a:r>
                        <a:rPr lang="zh-CN" altLang="en-US" sz="1000" b="0" u="none" strike="noStrike">
                          <a:effectLst/>
                          <a:latin typeface="+mn-ea"/>
                          <a:ea typeface="+mn-ea"/>
                        </a:rPr>
                        <a:t>标准；若采用其他卫生级标准，需要评估确认其可接受性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200283"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 dirty="0">
                          <a:effectLst/>
                          <a:latin typeface="+mn-ea"/>
                          <a:ea typeface="+mn-ea"/>
                        </a:rPr>
                        <a:t>Tanks </a:t>
                      </a:r>
                      <a:r>
                        <a:rPr lang="zh-CN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罐体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・材质</a:t>
                      </a:r>
                      <a:r>
                        <a:rPr lang="ja-JP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：</a:t>
                      </a:r>
                      <a:r>
                        <a:rPr lang="zh-CN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不锈钢</a:t>
                      </a:r>
                      <a:r>
                        <a:rPr lang="ja-JP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或</a:t>
                      </a:r>
                      <a:r>
                        <a:rPr lang="ja-JP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高合金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200283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u="none" strike="noStrike">
                          <a:effectLst/>
                          <a:latin typeface="+mn-ea"/>
                          <a:ea typeface="+mn-ea"/>
                        </a:rPr>
                        <a:t>・内表面粗糙度：</a:t>
                      </a:r>
                      <a:r>
                        <a:rPr lang="en-US" sz="1000" b="0" u="none" strike="noStrike">
                          <a:effectLst/>
                          <a:latin typeface="+mn-ea"/>
                          <a:ea typeface="+mn-ea"/>
                        </a:rPr>
                        <a:t>NMT 25Ra（</a:t>
                      </a:r>
                      <a:r>
                        <a:rPr lang="zh-CN" altLang="en-US" sz="1000" b="0" u="none" strike="noStrike">
                          <a:effectLst/>
                          <a:latin typeface="+mn-ea"/>
                          <a:ea typeface="+mn-ea"/>
                        </a:rPr>
                        <a:t>微英寸），即 </a:t>
                      </a:r>
                      <a:r>
                        <a:rPr lang="en-US" altLang="zh-CN" sz="1000" b="0" u="none" strike="noStrike">
                          <a:effectLst/>
                          <a:latin typeface="+mn-ea"/>
                          <a:ea typeface="+mn-ea"/>
                        </a:rPr>
                        <a:t>0.63</a:t>
                      </a:r>
                      <a:r>
                        <a:rPr lang="el-GR" sz="1000" b="0" u="none" strike="noStrike">
                          <a:effectLst/>
                          <a:latin typeface="+mn-ea"/>
                          <a:ea typeface="+mn-ea"/>
                        </a:rPr>
                        <a:t>μ</a:t>
                      </a:r>
                      <a:r>
                        <a:rPr lang="en-US" sz="1000" b="0" u="none" strike="noStrike">
                          <a:effectLst/>
                          <a:latin typeface="+mn-ea"/>
                          <a:ea typeface="+mn-ea"/>
                        </a:rPr>
                        <a:t>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200283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0" u="none" strike="noStrike">
                          <a:effectLst/>
                          <a:latin typeface="+mn-ea"/>
                          <a:ea typeface="+mn-ea"/>
                        </a:rPr>
                        <a:t>・三夹快装连接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208438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・</a:t>
                      </a:r>
                      <a:r>
                        <a:rPr lang="ja-JP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尽量</a:t>
                      </a:r>
                      <a:r>
                        <a:rPr lang="zh-CN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缩短</a:t>
                      </a:r>
                      <a:r>
                        <a:rPr lang="ja-JP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罐</a:t>
                      </a:r>
                      <a:r>
                        <a:rPr lang="ja-JP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封头接管伸出长度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396031">
                <a:tc rowSpan="5"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 dirty="0">
                          <a:effectLst/>
                          <a:latin typeface="+mn-ea"/>
                          <a:ea typeface="+mn-ea"/>
                        </a:rPr>
                        <a:t>Cleaning </a:t>
                      </a:r>
                      <a:r>
                        <a:rPr lang="zh-CN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清洗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・该标准适用于缓冲液系统：介质为溶剂、不滋生微生物、无物料堆积，不需要开展常规清洗的工况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377272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・尽量减小死管段；若存在死管段，</a:t>
                      </a:r>
                      <a:r>
                        <a:rPr lang="ja-JP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必须</a:t>
                      </a:r>
                      <a:r>
                        <a:rPr lang="zh-CN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具备</a:t>
                      </a:r>
                      <a:r>
                        <a:rPr lang="ja-JP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清洗</a:t>
                      </a:r>
                      <a:r>
                        <a:rPr lang="ja-JP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、换产、排空通路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377272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  ○ 评估死管段执行 </a:t>
                      </a:r>
                      <a:r>
                        <a:rPr lang="en-US" altLang="zh-CN" sz="1000" b="0" u="none" strike="noStrike" dirty="0">
                          <a:effectLst/>
                          <a:latin typeface="+mn-ea"/>
                          <a:ea typeface="+mn-ea"/>
                        </a:rPr>
                        <a:t>BPE </a:t>
                      </a:r>
                      <a:r>
                        <a:rPr lang="zh-CN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的</a:t>
                      </a:r>
                      <a:r>
                        <a:rPr lang="en-US" altLang="zh-CN" sz="1000" b="0" u="none" strike="noStrike" dirty="0">
                          <a:effectLst/>
                          <a:latin typeface="+mn-ea"/>
                          <a:ea typeface="+mn-ea"/>
                        </a:rPr>
                        <a:t>2L/D </a:t>
                      </a:r>
                      <a:r>
                        <a:rPr lang="zh-CN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指标，需要能够流通冲洗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200283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u="none" strike="noStrike">
                          <a:effectLst/>
                          <a:latin typeface="+mn-ea"/>
                          <a:ea typeface="+mn-ea"/>
                        </a:rPr>
                        <a:t>  ○ 系统正常运行时始终满管状态，允许存在极小死管段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377272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0" u="none" strike="noStrike">
                          <a:effectLst/>
                          <a:latin typeface="+mn-ea"/>
                          <a:ea typeface="+mn-ea"/>
                        </a:rPr>
                        <a:t>・罐体、大型非管路部件需要做喷淋覆盖测试，便于冲洗 </a:t>
                      </a:r>
                      <a:r>
                        <a:rPr lang="en-US" altLang="ja-JP" sz="1000" b="0" u="none" strike="noStrike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ja-JP" altLang="en-US" sz="1000" b="0" u="none" strike="noStrike">
                          <a:effectLst/>
                          <a:latin typeface="+mn-ea"/>
                          <a:ea typeface="+mn-ea"/>
                        </a:rPr>
                        <a:t>换产；不需要开展清洗验证</a:t>
                      </a:r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200283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+mn-ea"/>
                          <a:ea typeface="+mn-ea"/>
                        </a:rPr>
                        <a:t>Surface Finish </a:t>
                      </a:r>
                      <a:r>
                        <a:rPr lang="zh-CN" altLang="en-US" sz="1000" b="0" u="none" strike="noStrike">
                          <a:effectLst/>
                          <a:latin typeface="+mn-ea"/>
                          <a:ea typeface="+mn-ea"/>
                        </a:rPr>
                        <a:t>表面粗糙度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・内表面粗糙度：</a:t>
                      </a:r>
                      <a:r>
                        <a:rPr lang="en-US" sz="1000" b="0" u="none" strike="noStrike" dirty="0">
                          <a:effectLst/>
                          <a:latin typeface="+mn-ea"/>
                          <a:ea typeface="+mn-ea"/>
                        </a:rPr>
                        <a:t>NMT 25Ra（</a:t>
                      </a:r>
                      <a:r>
                        <a:rPr lang="zh-CN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微英寸）或 </a:t>
                      </a:r>
                      <a:r>
                        <a:rPr lang="en-US" altLang="zh-CN" sz="1000" b="0" u="none" strike="noStrike" dirty="0">
                          <a:effectLst/>
                          <a:latin typeface="+mn-ea"/>
                          <a:ea typeface="+mn-ea"/>
                        </a:rPr>
                        <a:t>0.63 </a:t>
                      </a:r>
                      <a:r>
                        <a:rPr lang="zh-CN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微米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208438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・</a:t>
                      </a:r>
                      <a:r>
                        <a:rPr lang="zh-CN" altLang="en-US" sz="10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焊缝</a:t>
                      </a:r>
                      <a:r>
                        <a:rPr lang="ja-JP" altLang="en-US" sz="10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内部</a:t>
                      </a:r>
                      <a:r>
                        <a:rPr lang="ja-JP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检查</a:t>
                      </a:r>
                      <a:r>
                        <a:rPr lang="ja-JP" altLang="en-US" sz="10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，</a:t>
                      </a:r>
                      <a:r>
                        <a:rPr lang="zh-CN" altLang="en-US" sz="10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焊缝</a:t>
                      </a:r>
                      <a:r>
                        <a:rPr lang="ja-JP" altLang="en-US" sz="1000" b="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内壁</a:t>
                      </a:r>
                      <a:r>
                        <a:rPr lang="ja-JP" altLang="en-US" sz="1000" b="0" u="none" strike="noStrike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光滑，无物料滞留死角</a:t>
                      </a:r>
                      <a:endParaRPr lang="ja-JP" altLang="en-US" sz="1000" b="0" u="none" strike="noStrike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696" marR="6696" marT="6696" marB="0" anchor="ctr"/>
                </a:tc>
              </a:tr>
              <a:tr h="200283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+mn-ea"/>
                          <a:ea typeface="+mn-ea"/>
                        </a:rPr>
                        <a:t>Line Slope </a:t>
                      </a:r>
                      <a:r>
                        <a:rPr lang="zh-CN" altLang="en-US" sz="1000" b="0" u="none" strike="noStrike">
                          <a:effectLst/>
                          <a:latin typeface="+mn-ea"/>
                          <a:ea typeface="+mn-ea"/>
                        </a:rPr>
                        <a:t>管路坡度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・不强制管路坡度，但系统必须考虑可排空性能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208438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・根据</a:t>
                      </a:r>
                      <a:r>
                        <a:rPr lang="ja-JP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需要</a:t>
                      </a:r>
                      <a:r>
                        <a:rPr lang="zh-CN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设置</a:t>
                      </a:r>
                      <a:r>
                        <a:rPr lang="ja-JP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低</a:t>
                      </a:r>
                      <a:r>
                        <a:rPr lang="ja-JP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点排放口，</a:t>
                      </a:r>
                      <a:r>
                        <a:rPr lang="ja-JP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保障</a:t>
                      </a:r>
                      <a:r>
                        <a:rPr lang="zh-CN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设备</a:t>
                      </a:r>
                      <a:r>
                        <a:rPr lang="ja-JP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有效</a:t>
                      </a:r>
                      <a:r>
                        <a:rPr lang="ja-JP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冲洗</a:t>
                      </a:r>
                      <a:r>
                        <a:rPr lang="ja-JP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与</a:t>
                      </a:r>
                      <a:r>
                        <a:rPr lang="zh-CN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换产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200283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+mn-ea"/>
                          <a:ea typeface="+mn-ea"/>
                        </a:rPr>
                        <a:t>Documentation </a:t>
                      </a:r>
                      <a:r>
                        <a:rPr lang="zh-CN" altLang="en-US" sz="1000" b="0" u="none" strike="noStrike">
                          <a:effectLst/>
                          <a:latin typeface="+mn-ea"/>
                          <a:ea typeface="+mn-ea"/>
                        </a:rPr>
                        <a:t>文件资料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u="none" strike="noStrike">
                          <a:effectLst/>
                          <a:latin typeface="+mn-ea"/>
                          <a:ea typeface="+mn-ea"/>
                        </a:rPr>
                        <a:t>・ASME </a:t>
                      </a:r>
                      <a:r>
                        <a:rPr lang="zh-CN" altLang="en-US" sz="1000" b="0" u="none" strike="noStrike">
                          <a:effectLst/>
                          <a:latin typeface="+mn-ea"/>
                          <a:ea typeface="+mn-ea"/>
                        </a:rPr>
                        <a:t>标准全套焊接文件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  <a:tr h="406453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・接触产品或</a:t>
                      </a:r>
                      <a:r>
                        <a:rPr lang="zh-CN" altLang="en-US" sz="1000" b="0" u="none" strike="noStrike" dirty="0" smtClean="0">
                          <a:effectLst/>
                          <a:latin typeface="+mn-ea"/>
                          <a:ea typeface="+mn-ea"/>
                        </a:rPr>
                        <a:t>直接接触物料（</a:t>
                      </a:r>
                      <a:r>
                        <a:rPr lang="zh-CN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溶剂、缓冲液等）的弹性体，需提供合规文件：</a:t>
                      </a:r>
                      <a:r>
                        <a:rPr lang="en-US" sz="1000" b="0" u="none" strike="noStrike" dirty="0">
                          <a:effectLst/>
                          <a:latin typeface="+mn-ea"/>
                          <a:ea typeface="+mn-ea"/>
                        </a:rPr>
                        <a:t>FDA 21CFR </a:t>
                      </a:r>
                      <a:r>
                        <a:rPr lang="zh-CN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或 </a:t>
                      </a:r>
                      <a:r>
                        <a:rPr lang="en-US" sz="1000" b="0" u="none" strike="noStrike" dirty="0">
                          <a:effectLst/>
                          <a:latin typeface="+mn-ea"/>
                          <a:ea typeface="+mn-ea"/>
                        </a:rPr>
                        <a:t>USP Class VI </a:t>
                      </a:r>
                      <a:r>
                        <a:rPr lang="zh-CN" altLang="en-US" sz="1000" b="0" u="none" strike="noStrike" dirty="0">
                          <a:effectLst/>
                          <a:latin typeface="+mn-ea"/>
                          <a:ea typeface="+mn-ea"/>
                        </a:rPr>
                        <a:t>材质证明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696" marR="6696" marT="6696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26" y="-9039"/>
            <a:ext cx="1806174" cy="492593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124997" y="52591"/>
            <a:ext cx="29418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4 </a:t>
            </a:r>
            <a:r>
              <a:rPr lang="zh-CN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管路、设备要求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237066" y="483553"/>
          <a:ext cx="11656637" cy="59680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8487"/>
                <a:gridCol w="9568150"/>
              </a:tblGrid>
              <a:tr h="27284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1" u="none" strike="noStrike" dirty="0">
                          <a:effectLst/>
                          <a:latin typeface="+mn-ea"/>
                          <a:ea typeface="+mn-ea"/>
                        </a:rPr>
                        <a:t>Category 4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216166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标准项目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描述 </a:t>
                      </a:r>
                      <a:r>
                        <a:rPr lang="en-US" altLang="zh-CN" sz="1100" b="1" u="none" strike="noStrike" dirty="0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zh-CN" altLang="en-US" sz="1100" b="1" u="none" strike="noStrike" dirty="0">
                          <a:effectLst/>
                          <a:latin typeface="+mn-ea"/>
                          <a:ea typeface="+mn-ea"/>
                        </a:rPr>
                        <a:t>指导要点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390150">
                <a:tc rowSpan="6"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Lines, Connections, Components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管路、连接、</a:t>
                      </a:r>
                      <a:r>
                        <a:rPr lang="zh-CN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部件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  <a:latin typeface="+mn-ea"/>
                          <a:ea typeface="+mn-ea"/>
                        </a:rPr>
                        <a:t>・三夹快装接头（实体垫片密封）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197272">
                <a:tc vMerge="1"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・ASME BPE </a:t>
                      </a: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规格管材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197272">
                <a:tc vMerge="1"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• </a:t>
                      </a: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隔膜阀或其他可在位清洗阀门，禁止使用球阀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371671">
                <a:tc vMerge="1"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・采用最小死区管件（零静态阀、集成式无菌 </a:t>
                      </a:r>
                      <a:r>
                        <a:rPr lang="en-US" sz="1000" u="none" strike="noStrike">
                          <a:effectLst/>
                          <a:latin typeface="+mn-ea"/>
                          <a:ea typeface="+mn-ea"/>
                        </a:rPr>
                        <a:t>GMP </a:t>
                      </a:r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阀、仪表 </a:t>
                      </a:r>
                      <a:r>
                        <a:rPr lang="en-US" sz="1000" u="none" strike="noStrike">
                          <a:effectLst/>
                          <a:latin typeface="+mn-ea"/>
                          <a:ea typeface="+mn-ea"/>
                        </a:rPr>
                        <a:t>T </a:t>
                      </a:r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型接头等）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197272">
                <a:tc vMerge="1"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・材质 </a:t>
                      </a:r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MOC：</a:t>
                      </a: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不锈钢、合金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371671">
                <a:tc vMerge="1"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・遵循 </a:t>
                      </a:r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ASME BPE </a:t>
                      </a: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标准；采用其他卫生标准时，必须评估其可接受性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197272"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Tanks </a:t>
                      </a: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罐体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  <a:latin typeface="+mn-ea"/>
                          <a:ea typeface="+mn-ea"/>
                        </a:rPr>
                        <a:t>・材质</a:t>
                      </a:r>
                      <a:r>
                        <a:rPr lang="ja-JP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：</a:t>
                      </a:r>
                      <a:r>
                        <a:rPr lang="zh-CN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不锈钢</a:t>
                      </a:r>
                      <a:r>
                        <a:rPr lang="ja-JP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或</a:t>
                      </a:r>
                      <a:r>
                        <a:rPr lang="ja-JP" altLang="en-US" sz="1000" u="none" strike="noStrike" dirty="0">
                          <a:effectLst/>
                          <a:latin typeface="+mn-ea"/>
                          <a:ea typeface="+mn-ea"/>
                        </a:rPr>
                        <a:t>合金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197272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・内表面粗糙度：</a:t>
                      </a:r>
                      <a:r>
                        <a:rPr lang="en-US" sz="1000" u="none" strike="noStrike">
                          <a:effectLst/>
                          <a:latin typeface="+mn-ea"/>
                          <a:ea typeface="+mn-ea"/>
                        </a:rPr>
                        <a:t>NMT 25Ra（</a:t>
                      </a:r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微英寸）</a:t>
                      </a:r>
                      <a:r>
                        <a:rPr lang="en-US" altLang="zh-CN" sz="1000" u="none" strike="noStrike">
                          <a:effectLst/>
                          <a:latin typeface="+mn-ea"/>
                          <a:ea typeface="+mn-ea"/>
                        </a:rPr>
                        <a:t>/0.63</a:t>
                      </a:r>
                      <a:r>
                        <a:rPr lang="el-GR" sz="1000" u="none" strike="noStrike">
                          <a:effectLst/>
                          <a:latin typeface="+mn-ea"/>
                          <a:ea typeface="+mn-ea"/>
                        </a:rPr>
                        <a:t>μ</a:t>
                      </a:r>
                      <a:r>
                        <a:rPr lang="en-US" sz="1000" u="none" strike="noStrike">
                          <a:effectLst/>
                          <a:latin typeface="+mn-ea"/>
                          <a:ea typeface="+mn-ea"/>
                        </a:rPr>
                        <a:t>m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197272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・三夹接头、</a:t>
                      </a:r>
                      <a:r>
                        <a:rPr lang="en-US" sz="1000" u="none" strike="noStrike" dirty="0" err="1">
                          <a:effectLst/>
                          <a:latin typeface="+mn-ea"/>
                          <a:ea typeface="+mn-ea"/>
                        </a:rPr>
                        <a:t>NovAseptic</a:t>
                      </a:r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或同等等级无菌连接</a:t>
                      </a:r>
                      <a:endParaRPr lang="zh-CN" altLang="en-US" sz="10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257505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  <a:latin typeface="+mn-ea"/>
                          <a:ea typeface="+mn-ea"/>
                        </a:rPr>
                        <a:t>・尽量缩短罐封头</a:t>
                      </a:r>
                      <a:r>
                        <a:rPr lang="ja-JP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接管</a:t>
                      </a:r>
                      <a:r>
                        <a:rPr lang="zh-CN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长度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197272"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Cleaning </a:t>
                      </a: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清洗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  <a:latin typeface="+mn-ea"/>
                          <a:ea typeface="+mn-ea"/>
                        </a:rPr>
                        <a:t>・产品接触罐体、管路必须做</a:t>
                      </a:r>
                      <a:r>
                        <a:rPr lang="ja-JP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清洗</a:t>
                      </a:r>
                      <a:r>
                        <a:rPr lang="zh-CN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验证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197272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  ○ 需要提高清洗频次，加强清洗检查力度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552372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  ○ 根据指导文件，需要设定清洁 </a:t>
                      </a:r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污染存放时限，开展微生物负载取样；系统必须可完全排空冲洗，不能留存微生物滋生基质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552372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  <a:latin typeface="+mn-ea"/>
                          <a:ea typeface="+mn-ea"/>
                        </a:rPr>
                        <a:t>・需要</a:t>
                      </a:r>
                      <a:r>
                        <a:rPr lang="ja-JP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清洗</a:t>
                      </a:r>
                      <a:r>
                        <a:rPr lang="zh-CN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验证</a:t>
                      </a:r>
                      <a:r>
                        <a:rPr lang="ja-JP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的</a:t>
                      </a:r>
                      <a:r>
                        <a:rPr lang="ja-JP" altLang="en-US" sz="1000" u="none" strike="noStrike" dirty="0">
                          <a:effectLst/>
                          <a:latin typeface="+mn-ea"/>
                          <a:ea typeface="+mn-ea"/>
                        </a:rPr>
                        <a:t>罐体、大型非管路部件，必须做喷淋</a:t>
                      </a:r>
                      <a:r>
                        <a:rPr lang="ja-JP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覆盖率</a:t>
                      </a:r>
                      <a:r>
                        <a:rPr lang="zh-CN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测试</a:t>
                      </a:r>
                      <a:r>
                        <a:rPr lang="ja-JP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；</a:t>
                      </a:r>
                      <a:r>
                        <a:rPr lang="ja-JP" altLang="en-US" sz="1000" u="none" strike="noStrike" dirty="0">
                          <a:effectLst/>
                          <a:latin typeface="+mn-ea"/>
                          <a:ea typeface="+mn-ea"/>
                        </a:rPr>
                        <a:t>例：</a:t>
                      </a:r>
                      <a:r>
                        <a:rPr lang="en-US" altLang="ja-JP" sz="1000" u="none" strike="noStrike" dirty="0">
                          <a:effectLst/>
                          <a:latin typeface="+mn-ea"/>
                          <a:ea typeface="+mn-ea"/>
                        </a:rPr>
                        <a:t>AFD </a:t>
                      </a:r>
                      <a:r>
                        <a:rPr lang="zh-CN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粉尘过滤器</a:t>
                      </a:r>
                      <a:r>
                        <a:rPr lang="ja-JP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、</a:t>
                      </a:r>
                      <a:r>
                        <a:rPr lang="ja-JP" altLang="en-US" sz="1000" u="none" strike="noStrike" dirty="0">
                          <a:effectLst/>
                          <a:latin typeface="+mn-ea"/>
                          <a:ea typeface="+mn-ea"/>
                        </a:rPr>
                        <a:t>卸料斜槽、产品手套箱</a:t>
                      </a:r>
                      <a:r>
                        <a:rPr lang="ja-JP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，</a:t>
                      </a:r>
                      <a:r>
                        <a:rPr lang="zh-CN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保证</a:t>
                      </a:r>
                      <a:r>
                        <a:rPr lang="ja-JP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清洗</a:t>
                      </a:r>
                      <a:r>
                        <a:rPr lang="zh-CN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验证过程</a:t>
                      </a:r>
                      <a:r>
                        <a:rPr lang="ja-JP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可</a:t>
                      </a:r>
                      <a:r>
                        <a:rPr lang="zh-CN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复现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197272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Surface Finish </a:t>
                      </a: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表面粗糙度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・内表面粗糙度：</a:t>
                      </a:r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NMT 25Ra（</a:t>
                      </a: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微英寸）或 </a:t>
                      </a:r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0.63 </a:t>
                      </a: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微米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205343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・</a:t>
                      </a:r>
                      <a:r>
                        <a:rPr lang="zh-CN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焊缝</a:t>
                      </a:r>
                      <a:r>
                        <a:rPr lang="ja-JP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内部</a:t>
                      </a:r>
                      <a:r>
                        <a:rPr lang="zh-CN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检查</a:t>
                      </a:r>
                      <a:r>
                        <a:rPr lang="ja-JP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，</a:t>
                      </a:r>
                      <a:r>
                        <a:rPr lang="ja-JP" altLang="en-US" sz="1000" u="none" strike="noStrike" dirty="0">
                          <a:effectLst/>
                          <a:latin typeface="+mn-ea"/>
                          <a:ea typeface="+mn-ea"/>
                        </a:rPr>
                        <a:t>内壁光滑，无物料滞留死角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20534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  <a:latin typeface="+mn-ea"/>
                          <a:ea typeface="+mn-ea"/>
                        </a:rPr>
                        <a:t>Line Slope </a:t>
                      </a:r>
                      <a:r>
                        <a:rPr lang="zh-CN" altLang="en-US" sz="1000" u="none" strike="noStrike">
                          <a:effectLst/>
                          <a:latin typeface="+mn-ea"/>
                          <a:ea typeface="+mn-ea"/>
                        </a:rPr>
                        <a:t>管路坡度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• </a:t>
                      </a: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强制设置管路坡度，保证管路系统完全排空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197272">
                <a:tc rowSpan="4"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Documentation </a:t>
                      </a: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文件资料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u="none" strike="noStrike" dirty="0">
                          <a:effectLst/>
                          <a:latin typeface="+mn-ea"/>
                          <a:ea typeface="+mn-ea"/>
                        </a:rPr>
                        <a:t>・高</a:t>
                      </a:r>
                      <a:r>
                        <a:rPr lang="ja-JP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级别</a:t>
                      </a:r>
                      <a:r>
                        <a:rPr lang="zh-CN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焊接</a:t>
                      </a:r>
                      <a:r>
                        <a:rPr lang="ja-JP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文件</a:t>
                      </a:r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197272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• </a:t>
                      </a:r>
                      <a:r>
                        <a:rPr lang="zh-CN" altLang="en-US" sz="1000" u="none" strike="noStrike" dirty="0" smtClean="0">
                          <a:effectLst/>
                          <a:latin typeface="+mn-ea"/>
                          <a:ea typeface="+mn-ea"/>
                        </a:rPr>
                        <a:t>管路坡度图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197272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• </a:t>
                      </a: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焊缝分布图 </a:t>
                      </a:r>
                      <a:r>
                        <a:rPr lang="en-US" altLang="zh-CN" sz="1000" u="none" strike="noStrike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Weld maps)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  <a:tr h="205343"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・弹性体材质证明（满足 </a:t>
                      </a:r>
                      <a:r>
                        <a:rPr lang="en-US" sz="1000" u="none" strike="noStrike" dirty="0">
                          <a:effectLst/>
                          <a:latin typeface="+mn-ea"/>
                          <a:ea typeface="+mn-ea"/>
                        </a:rPr>
                        <a:t>FDA 21CFR </a:t>
                      </a:r>
                      <a:r>
                        <a:rPr lang="zh-CN" altLang="en-US" sz="1000" u="none" strike="noStrike" dirty="0">
                          <a:effectLst/>
                          <a:latin typeface="+mn-ea"/>
                          <a:ea typeface="+mn-ea"/>
                        </a:rPr>
                        <a:t>合规）</a:t>
                      </a:r>
                      <a:endParaRPr lang="zh-CN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725" marR="6725" marT="6725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992062" y="138793"/>
            <a:ext cx="30203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改造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前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PID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图纸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储罐部分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2657" y="419450"/>
          <a:ext cx="11933265" cy="64142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ZWCAD Drawing" r:id="rId2" imgW="11421745" imgH="5117465" progId="ZWCAD.Drawing.2020">
                  <p:embed/>
                </p:oleObj>
              </mc:Choice>
              <mc:Fallback>
                <p:oleObj name="ZWCAD Drawing" r:id="rId2" imgW="11421745" imgH="5117465" progId="ZWCAD.Drawing.2020">
                  <p:embed/>
                  <p:pic>
                    <p:nvPicPr>
                      <p:cNvPr id="0" name="图片 103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657" y="419450"/>
                        <a:ext cx="11933265" cy="64142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992062" y="138793"/>
            <a:ext cx="30203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改造</a:t>
            </a:r>
            <a:r>
              <a:rPr lang="zh-C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后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PID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图纸</a:t>
            </a:r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储罐部分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" y="-242113"/>
          <a:ext cx="12675764" cy="74042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" name="ZWCAD Drawing" r:id="rId2" imgW="11767820" imgH="6014720" progId="ZWCAD.Drawing.2020">
                  <p:embed/>
                </p:oleObj>
              </mc:Choice>
              <mc:Fallback>
                <p:oleObj name="ZWCAD Drawing" r:id="rId2" imgW="11767820" imgH="6014720" progId="ZWCAD.Drawing.2020">
                  <p:embed/>
                  <p:pic>
                    <p:nvPicPr>
                      <p:cNvPr id="0" name="图片 206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" y="-242113"/>
                        <a:ext cx="12675764" cy="74042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694191" y="0"/>
            <a:ext cx="24144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Category4 </a:t>
            </a:r>
            <a:r>
              <a:rPr lang="zh-CN" alt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罐体要求</a:t>
            </a:r>
            <a:endParaRPr lang="zh-CN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表格 18"/>
          <p:cNvGraphicFramePr>
            <a:graphicFrameLocks noGrp="1"/>
          </p:cNvGraphicFramePr>
          <p:nvPr/>
        </p:nvGraphicFramePr>
        <p:xfrm>
          <a:off x="892016" y="840920"/>
          <a:ext cx="11027841" cy="55190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2531"/>
                <a:gridCol w="1002531"/>
                <a:gridCol w="1002531"/>
                <a:gridCol w="1002531"/>
                <a:gridCol w="1002531"/>
                <a:gridCol w="1002531"/>
                <a:gridCol w="1002531"/>
                <a:gridCol w="1002531"/>
                <a:gridCol w="1002531"/>
                <a:gridCol w="1002531"/>
                <a:gridCol w="1002531"/>
              </a:tblGrid>
              <a:tr h="90187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项目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材质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阀门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连接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清洁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坡度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抛光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照明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三通死角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仪表</a:t>
                      </a:r>
                      <a:endParaRPr lang="zh-CN" altLang="en-US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备注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0296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/>
                        <a:t>C4</a:t>
                      </a:r>
                      <a:r>
                        <a:rPr lang="zh-CN" altLang="en-US" sz="1200" dirty="0" smtClean="0"/>
                        <a:t>标准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smtClean="0"/>
                        <a:t>316L</a:t>
                      </a:r>
                      <a:r>
                        <a:rPr lang="zh-CN" altLang="en-US" sz="900" dirty="0" smtClean="0"/>
                        <a:t>不锈钢或合金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u="none" strike="noStrike" dirty="0" smtClean="0">
                          <a:effectLst/>
                          <a:latin typeface="+mn-ea"/>
                          <a:ea typeface="+mn-ea"/>
                        </a:rPr>
                        <a:t>隔膜阀，或其他可在位清洗阀门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u="none" strike="noStrike" dirty="0" smtClean="0">
                          <a:effectLst/>
                          <a:latin typeface="+mn-lt"/>
                          <a:ea typeface="+mn-ea"/>
                        </a:rPr>
                        <a:t>三夹快装接头</a:t>
                      </a:r>
                      <a:r>
                        <a:rPr lang="ja-JP" altLang="en-US" sz="900" u="none" strike="noStrike" dirty="0" smtClean="0">
                          <a:effectLst/>
                          <a:latin typeface="+mn-lt"/>
                          <a:ea typeface="+mn-ea"/>
                        </a:rPr>
                        <a:t>（</a:t>
                      </a:r>
                      <a:r>
                        <a:rPr lang="zh-CN" altLang="en-US" sz="900" u="none" strike="noStrike" dirty="0" smtClean="0">
                          <a:effectLst/>
                          <a:latin typeface="+mn-lt"/>
                          <a:ea typeface="+mn-ea"/>
                        </a:rPr>
                        <a:t>实体垫片密封</a:t>
                      </a:r>
                      <a:r>
                        <a:rPr lang="ja-JP" altLang="en-US" sz="900" u="none" strike="noStrike" dirty="0" smtClean="0">
                          <a:effectLst/>
                          <a:latin typeface="+mn-lt"/>
                          <a:ea typeface="+mn-ea"/>
                        </a:rPr>
                        <a:t>）</a:t>
                      </a:r>
                      <a:endParaRPr lang="ja-JP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/>
                        <a:t>可拆卸清洗，可排空，合规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/>
                        <a:t>坡度大于</a:t>
                      </a:r>
                      <a:r>
                        <a:rPr lang="en-US" altLang="zh-CN" sz="900" dirty="0" smtClean="0"/>
                        <a:t>1%</a:t>
                      </a:r>
                      <a:r>
                        <a:rPr lang="zh-CN" altLang="en-US" sz="900" dirty="0" smtClean="0"/>
                        <a:t>，实现完全排空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u="none" strike="noStrike" dirty="0" smtClean="0">
                          <a:effectLst/>
                          <a:latin typeface="+mn-ea"/>
                          <a:ea typeface="+mn-ea"/>
                        </a:rPr>
                        <a:t>内表面粗糙度：</a:t>
                      </a:r>
                      <a:r>
                        <a:rPr lang="en-US" altLang="zh-CN" sz="900" u="none" strike="noStrike" dirty="0" smtClean="0">
                          <a:effectLst/>
                          <a:latin typeface="+mn-ea"/>
                          <a:ea typeface="+mn-ea"/>
                        </a:rPr>
                        <a:t>NMT 25Ra（</a:t>
                      </a:r>
                      <a:r>
                        <a:rPr lang="zh-CN" altLang="en-US" sz="900" u="none" strike="noStrike" dirty="0" smtClean="0">
                          <a:effectLst/>
                          <a:latin typeface="+mn-ea"/>
                          <a:ea typeface="+mn-ea"/>
                        </a:rPr>
                        <a:t>微英寸）或 </a:t>
                      </a:r>
                      <a:r>
                        <a:rPr lang="en-US" altLang="zh-CN" sz="900" u="none" strike="noStrike" dirty="0" smtClean="0">
                          <a:effectLst/>
                          <a:latin typeface="+mn-ea"/>
                          <a:ea typeface="+mn-ea"/>
                        </a:rPr>
                        <a:t>0.63 </a:t>
                      </a:r>
                      <a:r>
                        <a:rPr lang="zh-CN" altLang="en-US" sz="900" u="none" strike="noStrike" dirty="0" smtClean="0">
                          <a:effectLst/>
                          <a:latin typeface="+mn-ea"/>
                          <a:ea typeface="+mn-ea"/>
                        </a:rPr>
                        <a:t>微米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NA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/>
                        <a:t>符合</a:t>
                      </a:r>
                      <a:r>
                        <a:rPr lang="en-US" altLang="zh-CN" sz="900" dirty="0" smtClean="0"/>
                        <a:t>3D</a:t>
                      </a:r>
                      <a:r>
                        <a:rPr lang="zh-CN" altLang="en-US" sz="900" dirty="0" smtClean="0"/>
                        <a:t>，最小死角设计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 smtClean="0"/>
                        <a:t>安装满足</a:t>
                      </a:r>
                      <a:r>
                        <a:rPr lang="en-US" altLang="zh-CN" sz="900" dirty="0" smtClean="0"/>
                        <a:t>3D</a:t>
                      </a:r>
                      <a:r>
                        <a:rPr lang="zh-CN" altLang="en-US" sz="900" dirty="0" smtClean="0"/>
                        <a:t>要求，便于清洁，无死角</a:t>
                      </a:r>
                      <a:endParaRPr lang="zh-CN" altLang="en-US" sz="9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dirty="0" smtClean="0"/>
                        <a:t>N/A</a:t>
                      </a:r>
                      <a:endParaRPr lang="zh-CN" altLang="en-US" sz="900" dirty="0" smtClean="0"/>
                    </a:p>
                  </a:txBody>
                  <a:tcPr anchor="ctr"/>
                </a:tc>
              </a:tr>
              <a:tr h="792858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/>
                        <a:t>Tank</a:t>
                      </a:r>
                      <a:endParaRPr lang="en-US" altLang="zh-CN" sz="1200" dirty="0" smtClean="0"/>
                    </a:p>
                    <a:p>
                      <a:pPr algn="ctr"/>
                      <a:r>
                        <a:rPr lang="zh-CN" altLang="en-US" sz="1200" dirty="0" smtClean="0"/>
                        <a:t>储罐 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smtClean="0"/>
                        <a:t>316L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/>
                        <a:t>液位计隔膜阀角度不符合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 smtClean="0"/>
                        <a:t>符合要求，均为卡盘连接</a:t>
                      </a:r>
                      <a:endParaRPr lang="en-US" altLang="zh-CN" sz="9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 smtClean="0"/>
                        <a:t>不符合要求，液位计位置的隔膜阀无法在线清洁</a:t>
                      </a:r>
                      <a:endParaRPr lang="zh-CN" altLang="en-US" sz="9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/>
                        <a:t>坡度符合要求</a:t>
                      </a:r>
                      <a:endParaRPr lang="zh-CN" altLang="en-US" sz="9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/>
                        <a:t>符合要求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/>
                        <a:t>不符合，无试镜灯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 smtClean="0"/>
                        <a:t>符合要求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/>
                        <a:t>不符合，不满足</a:t>
                      </a:r>
                      <a:r>
                        <a:rPr lang="en-US" altLang="zh-CN" sz="900" dirty="0" smtClean="0"/>
                        <a:t>3D</a:t>
                      </a:r>
                      <a:r>
                        <a:rPr lang="zh-CN" altLang="en-US" sz="900" dirty="0" smtClean="0"/>
                        <a:t>要求</a:t>
                      </a:r>
                      <a:endParaRPr lang="zh-CN" altLang="en-US" sz="9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/>
                        <a:t>不符合项</a:t>
                      </a:r>
                      <a:endParaRPr lang="zh-CN" altLang="en-US" sz="900" dirty="0" smtClean="0"/>
                    </a:p>
                    <a:p>
                      <a:pPr algn="ctr"/>
                      <a:r>
                        <a:rPr lang="zh-CN" altLang="en-US" sz="900" dirty="0" smtClean="0"/>
                        <a:t>需要将储罐整体更换为满足</a:t>
                      </a:r>
                      <a:r>
                        <a:rPr lang="en-US" altLang="zh-CN" sz="900" dirty="0" smtClean="0"/>
                        <a:t>BPE</a:t>
                      </a:r>
                      <a:r>
                        <a:rPr lang="zh-CN" altLang="en-US" sz="900" dirty="0" smtClean="0"/>
                        <a:t>需求储罐</a:t>
                      </a:r>
                      <a:r>
                        <a:rPr lang="en-US" altLang="zh-CN" sz="900" dirty="0" smtClean="0"/>
                        <a:t>;</a:t>
                      </a:r>
                      <a:endParaRPr lang="en-US" altLang="zh-CN" sz="900" dirty="0" smtClean="0"/>
                    </a:p>
                    <a:p>
                      <a:pPr algn="ctr"/>
                      <a:r>
                        <a:rPr lang="zh-CN" altLang="en-US" sz="900" dirty="0" smtClean="0"/>
                        <a:t>物料单独进</a:t>
                      </a:r>
                      <a:r>
                        <a:rPr lang="en-US" altLang="zh-CN" sz="900" dirty="0" smtClean="0"/>
                        <a:t>;</a:t>
                      </a:r>
                      <a:endParaRPr lang="en-US" altLang="zh-CN" sz="900" dirty="0" smtClean="0"/>
                    </a:p>
                    <a:p>
                      <a:pPr algn="ctr"/>
                      <a:r>
                        <a:rPr lang="zh-CN" altLang="en-US" sz="900" dirty="0" smtClean="0"/>
                        <a:t>储罐增加在线</a:t>
                      </a:r>
                      <a:r>
                        <a:rPr lang="en-US" altLang="zh-CN" sz="900" dirty="0" smtClean="0"/>
                        <a:t>CIP</a:t>
                      </a:r>
                      <a:r>
                        <a:rPr lang="zh-CN" altLang="en-US" sz="900" dirty="0" smtClean="0"/>
                        <a:t>清洗，满足清洁需求。</a:t>
                      </a:r>
                      <a:endParaRPr lang="zh-CN" altLang="en-US" sz="900" dirty="0"/>
                    </a:p>
                  </a:txBody>
                  <a:tcPr anchor="ctr"/>
                </a:tc>
              </a:tr>
              <a:tr h="887088">
                <a:tc vMerge="1"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dirty="0" smtClean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dirty="0" smtClean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dirty="0" smtClean="0"/>
                    </a:p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 vMerge="1">
                  <a:tcPr anchor="ctr"/>
                </a:tc>
                <a:tc vMerge="1"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dirty="0" smtClean="0"/>
                    </a:p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dirty="0" smtClean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dirty="0" smtClean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dirty="0" smtClean="0"/>
                    </a:p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 vMerge="1">
                  <a:tcPr anchor="ctr"/>
                </a:tc>
              </a:tr>
              <a:tr h="792189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1200" dirty="0" smtClean="0"/>
                        <a:t>TFF</a:t>
                      </a:r>
                      <a:endParaRPr lang="en-US" altLang="zh-CN" sz="1200" dirty="0" smtClean="0"/>
                    </a:p>
                    <a:p>
                      <a:pPr algn="ctr"/>
                      <a:r>
                        <a:rPr lang="zh-CN" altLang="en-US" sz="1200" dirty="0" smtClean="0"/>
                        <a:t>超滤主体</a:t>
                      </a:r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smtClean="0"/>
                        <a:t>316L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/>
                        <a:t>隔膜阀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/>
                        <a:t>符合要求，均为卡盘连接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 smtClean="0"/>
                        <a:t>符合要求</a:t>
                      </a:r>
                      <a:endParaRPr lang="zh-CN" altLang="en-US" sz="9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 smtClean="0"/>
                        <a:t>坡度符合要求</a:t>
                      </a:r>
                      <a:endParaRPr lang="zh-CN" altLang="en-US" sz="900" dirty="0" smtClean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/>
                        <a:t>符合要求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/>
                        <a:t>符合要求</a:t>
                      </a:r>
                      <a:endParaRPr lang="zh-CN" alt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 smtClean="0"/>
                        <a:t>符合要求</a:t>
                      </a:r>
                      <a:endParaRPr lang="zh-CN" altLang="en-US" sz="9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/>
                        <a:t>符合要求</a:t>
                      </a:r>
                      <a:endParaRPr lang="zh-CN" altLang="en-US" sz="9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zh-CN" sz="900" dirty="0" smtClean="0"/>
                        <a:t>N/A</a:t>
                      </a:r>
                      <a:endParaRPr lang="zh-CN" altLang="en-US" sz="900" dirty="0"/>
                    </a:p>
                  </a:txBody>
                  <a:tcPr anchor="ctr"/>
                </a:tc>
              </a:tr>
              <a:tr h="1115396">
                <a:tc vMerge="1"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 vMerge="1">
                  <a:tcPr anchor="ctr"/>
                </a:tc>
                <a:tc vMerge="1"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dirty="0" smtClean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/>
                    </a:p>
                  </a:txBody>
                  <a:tcPr/>
                </a:tc>
                <a:tc vMerge="1">
                  <a:tcPr/>
                </a:tc>
              </a:tr>
            </a:tbl>
          </a:graphicData>
        </a:graphic>
      </p:graphicFrame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0866" y="3658984"/>
            <a:ext cx="978396" cy="733797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466" y="3673709"/>
            <a:ext cx="958587" cy="724039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7970" y="3673709"/>
            <a:ext cx="975652" cy="704346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539" y="3673710"/>
            <a:ext cx="987296" cy="70434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3630" y="3620989"/>
            <a:ext cx="989981" cy="771792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8472" y="5285409"/>
            <a:ext cx="905139" cy="978345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5968" y="3620989"/>
            <a:ext cx="876438" cy="766535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55968" y="5285409"/>
            <a:ext cx="876438" cy="988226"/>
          </a:xfrm>
          <a:prstGeom prst="rect">
            <a:avLst/>
          </a:prstGeom>
        </p:spPr>
      </p:pic>
      <p:pic>
        <p:nvPicPr>
          <p:cNvPr id="39" name="图片 38"/>
          <p:cNvPicPr>
            <a:picLocks noChangeAspect="1"/>
          </p:cNvPicPr>
          <p:nvPr/>
        </p:nvPicPr>
        <p:blipFill rotWithShape="1">
          <a:blip r:embed="rId9"/>
          <a:srcRect l="-513" t="12323" r="15967" b="10020"/>
          <a:stretch>
            <a:fillRect/>
          </a:stretch>
        </p:blipFill>
        <p:spPr>
          <a:xfrm>
            <a:off x="1900866" y="5404905"/>
            <a:ext cx="970602" cy="753896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09894" y="5482132"/>
            <a:ext cx="952632" cy="775463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11843" y="5285409"/>
            <a:ext cx="757676" cy="10102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57917" y="5291020"/>
            <a:ext cx="736961" cy="98261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46572" y="5299218"/>
            <a:ext cx="736961" cy="9826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27829" y="3600448"/>
            <a:ext cx="597136" cy="79618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126672" y="923808"/>
          <a:ext cx="10001021" cy="51108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9537"/>
                <a:gridCol w="834016"/>
                <a:gridCol w="1032988"/>
                <a:gridCol w="1235491"/>
                <a:gridCol w="687294"/>
                <a:gridCol w="1227309"/>
                <a:gridCol w="940938"/>
                <a:gridCol w="1180906"/>
                <a:gridCol w="1041271"/>
                <a:gridCol w="1041271"/>
              </a:tblGrid>
              <a:tr h="487837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2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项目</a:t>
                      </a:r>
                      <a:endParaRPr lang="zh-CN" altLang="en-US" sz="12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+mn-lt"/>
                        </a:rPr>
                        <a:t>材质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+mn-lt"/>
                        </a:rPr>
                        <a:t>阀门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 smtClean="0">
                          <a:effectLst/>
                          <a:latin typeface="+mn-lt"/>
                        </a:rPr>
                        <a:t>连接方式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charset="-122"/>
                        </a:rPr>
                        <a:t>管路标准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charset="-122"/>
                        </a:rPr>
                        <a:t>清洁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 hMerge="1"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+mn-lt"/>
                        </a:rPr>
                        <a:t>坡度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 smtClean="0">
                          <a:effectLst/>
                          <a:latin typeface="+mn-lt"/>
                        </a:rPr>
                        <a:t>低点排</a:t>
                      </a:r>
                      <a:r>
                        <a:rPr lang="zh-CN" altLang="en-US" sz="1200" b="1" u="none" strike="noStrike" dirty="0">
                          <a:effectLst/>
                          <a:latin typeface="+mn-lt"/>
                        </a:rPr>
                        <a:t>净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charset="-122"/>
                        </a:rPr>
                        <a:t>备注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</a:tr>
              <a:tr h="9838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 smtClean="0">
                          <a:effectLst/>
                        </a:rPr>
                        <a:t>C3</a:t>
                      </a:r>
                      <a:r>
                        <a:rPr lang="zh-CN" altLang="en-US" sz="800" b="1" u="none" strike="noStrike" dirty="0" smtClean="0">
                          <a:effectLst/>
                        </a:rPr>
                        <a:t>标准</a:t>
                      </a:r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不锈钢、合金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dirty="0" smtClean="0">
                          <a:effectLst/>
                          <a:latin typeface="+mn-ea"/>
                          <a:ea typeface="+mn-ea"/>
                        </a:rPr>
                        <a:t>隔膜阀或其他可在位清洗阀门，禁止使用球阀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u="none" strike="noStrike" dirty="0" smtClean="0">
                          <a:effectLst/>
                          <a:latin typeface="+mn-lt"/>
                          <a:ea typeface="+mn-ea"/>
                        </a:rPr>
                        <a:t>三夹快装接头（实体垫片密封）</a:t>
                      </a:r>
                      <a:endParaRPr lang="ja-JP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BPE</a:t>
                      </a: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规格管材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管路可进行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CIP</a:t>
                      </a: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清洗，使用３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D</a:t>
                      </a: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减少残留死区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 hMerge="1"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 smtClean="0"/>
                        <a:t>坡度大于</a:t>
                      </a:r>
                      <a:r>
                        <a:rPr lang="en-US" altLang="zh-CN" sz="900" dirty="0" smtClean="0"/>
                        <a:t>1%</a:t>
                      </a:r>
                      <a:r>
                        <a:rPr lang="zh-CN" altLang="en-US" sz="900" dirty="0" smtClean="0"/>
                        <a:t>，实现完全排空</a:t>
                      </a:r>
                      <a:endParaRPr lang="zh-CN" altLang="en-US" sz="900" dirty="0"/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设置低点排放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 rowSpan="7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1. </a:t>
                      </a:r>
                      <a:r>
                        <a:rPr lang="zh-CN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  <a:cs typeface="+mn-cs"/>
                        </a:rPr>
                        <a:t>表面抛光度为出厂标准，符合要求；</a:t>
                      </a:r>
                      <a:endParaRPr lang="en-US" altLang="zh-CN" sz="9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  <a:cs typeface="+mn-cs"/>
                        </a:rPr>
                        <a:t>2.</a:t>
                      </a:r>
                      <a:r>
                        <a:rPr lang="zh-CN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  <a:cs typeface="+mn-cs"/>
                        </a:rPr>
                        <a:t>管路不涉及流量计问题</a:t>
                      </a:r>
                      <a:r>
                        <a:rPr lang="zh-CN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  <a:cs typeface="+mn-cs"/>
                        </a:rPr>
                        <a:t>；</a:t>
                      </a:r>
                      <a:endParaRPr lang="en-US" altLang="zh-CN" sz="9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+mn-ea"/>
                        <a:cs typeface="+mn-cs"/>
                      </a:endParaRPr>
                    </a:p>
                  </a:txBody>
                  <a:tcPr marL="2691" marR="2691" marT="2691" marB="0" anchor="ctr"/>
                </a:tc>
              </a:tr>
              <a:tr h="24818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Solvent Drum </a:t>
                      </a:r>
                      <a:endParaRPr lang="en-US" sz="800" b="1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  <a:p>
                      <a:pPr algn="ctr" fontAlgn="ctr"/>
                      <a:r>
                        <a:rPr lang="en-US" altLang="zh-CN" sz="1050" b="1" u="none" strike="noStrike" dirty="0" smtClean="0">
                          <a:effectLst/>
                        </a:rPr>
                        <a:t>→</a:t>
                      </a:r>
                      <a:r>
                        <a:rPr lang="en-US" altLang="zh-CN" sz="1000" b="1" u="none" strike="noStrike" dirty="0" smtClean="0">
                          <a:effectLst/>
                        </a:rPr>
                        <a:t> </a:t>
                      </a:r>
                      <a:endParaRPr lang="en-US" altLang="zh-CN" sz="1000" b="1" u="none" strike="noStrike" dirty="0" smtClean="0">
                        <a:effectLst/>
                      </a:endParaRPr>
                    </a:p>
                    <a:p>
                      <a:pPr algn="ctr" fontAlgn="ctr"/>
                      <a:r>
                        <a:rPr lang="en-US" altLang="zh-CN" sz="800" b="1" u="none" strike="noStrike" dirty="0" smtClean="0">
                          <a:effectLst/>
                        </a:rPr>
                        <a:t> TJ4S-1211-TFF02</a:t>
                      </a:r>
                      <a:endParaRPr lang="en-US" altLang="zh-CN" sz="800" b="1" u="none" strike="noStrike" dirty="0" smtClean="0">
                        <a:effectLst/>
                      </a:endParaRPr>
                    </a:p>
                    <a:p>
                      <a:pPr algn="ctr" fontAlgn="ctr"/>
                      <a:r>
                        <a:rPr lang="zh-CN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乙腈</a:t>
                      </a:r>
                      <a:r>
                        <a:rPr lang="en-US" altLang="zh-CN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/</a:t>
                      </a:r>
                      <a:r>
                        <a:rPr lang="zh-CN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水管路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316L Stainless Steel/DN25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符合要求</a:t>
                      </a:r>
                      <a:endParaRPr lang="zh-CN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符合，使用卡盘连接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不符合要求，管路需更换为</a:t>
                      </a:r>
                      <a:r>
                        <a:rPr lang="en-US" altLang="zh-CN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BPE</a:t>
                      </a:r>
                      <a:r>
                        <a:rPr lang="zh-CN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管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不符合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</a:rPr>
                        <a:t>改造方案</a:t>
                      </a:r>
                      <a:endParaRPr lang="zh-CN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符合要求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有低点排净</a:t>
                      </a:r>
                      <a:endParaRPr lang="zh-CN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</a:tr>
              <a:tr h="91886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 smtClean="0"/>
                    </a:p>
                    <a:p>
                      <a:endParaRPr lang="zh-CN" altLang="en-US" dirty="0"/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 smtClean="0"/>
                    </a:p>
                    <a:p>
                      <a:endParaRPr lang="zh-CN" altLang="en-US" dirty="0"/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 smtClean="0"/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使用符合</a:t>
                      </a:r>
                      <a:r>
                        <a:rPr lang="en-US" altLang="zh-CN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3D</a:t>
                      </a:r>
                      <a:r>
                        <a:rPr lang="zh-CN" altLang="en-US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的管路减少残留死角</a:t>
                      </a:r>
                      <a:endParaRPr lang="zh-CN" altLang="en-US" sz="700" b="0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+mn-ea"/>
                      </a:endParaRPr>
                    </a:p>
                    <a:p>
                      <a:pPr algn="ctr" fontAlgn="ctr"/>
                      <a:endParaRPr lang="zh-CN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</a:tr>
              <a:tr h="24456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CNC-Solvent  </a:t>
                      </a:r>
                      <a:r>
                        <a:rPr lang="en-US" altLang="zh-CN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 </a:t>
                      </a:r>
                      <a:r>
                        <a:rPr lang="en-US" altLang="zh-CN" sz="1050" b="1" u="none" strike="noStrike" dirty="0" smtClean="0">
                          <a:effectLst/>
                        </a:rPr>
                        <a:t>→</a:t>
                      </a:r>
                      <a:r>
                        <a:rPr lang="en-US" altLang="zh-CN" sz="800" b="1" u="none" strike="noStrike" dirty="0" smtClean="0">
                          <a:effectLst/>
                        </a:rPr>
                        <a:t>   </a:t>
                      </a:r>
                      <a:endParaRPr lang="en-US" altLang="zh-CN" sz="800" b="1" u="none" strike="noStrike" dirty="0" smtClean="0">
                        <a:effectLst/>
                      </a:endParaRPr>
                    </a:p>
                    <a:p>
                      <a:pPr algn="ctr" fontAlgn="ctr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TJ4S-1211-TFF02-T01</a:t>
                      </a:r>
                      <a:endParaRPr lang="en-US" sz="800" b="1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  <a:p>
                      <a:pPr algn="ctr" fontAlgn="ctr"/>
                      <a:r>
                        <a:rPr lang="zh-CN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甲醇管路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等线" panose="02010600030101010101" charset="-122"/>
                          <a:ea typeface="等线" panose="02010600030101010101" charset="-122"/>
                          <a:cs typeface="+mn-cs"/>
                        </a:rPr>
                        <a:t>316L Stainless Steel/DN25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等线" panose="02010600030101010101" charset="-122"/>
                        <a:ea typeface="等线" panose="02010600030101010101" charset="-122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符合要求</a:t>
                      </a:r>
                      <a:endParaRPr lang="zh-CN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符合，使用卡盘连接</a:t>
                      </a:r>
                      <a:endParaRPr lang="zh-CN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不符合要求，管路需更换为</a:t>
                      </a:r>
                      <a:r>
                        <a:rPr lang="en-US" altLang="zh-CN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BPE</a:t>
                      </a:r>
                      <a:r>
                        <a:rPr lang="zh-CN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管</a:t>
                      </a:r>
                      <a:endParaRPr lang="zh-CN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不符合</a:t>
                      </a:r>
                      <a:endParaRPr lang="zh-CN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改造方案</a:t>
                      </a:r>
                      <a:endParaRPr lang="zh-CN" altLang="en-US" sz="8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符合要求</a:t>
                      </a:r>
                      <a:endParaRPr lang="zh-CN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有低点排净</a:t>
                      </a:r>
                      <a:endParaRPr lang="zh-CN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</a:tr>
              <a:tr h="965297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 smtClean="0"/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 smtClean="0"/>
                    </a:p>
                    <a:p>
                      <a:endParaRPr lang="zh-CN" altLang="en-US" dirty="0"/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使用符合</a:t>
                      </a:r>
                      <a:r>
                        <a:rPr lang="en-US" altLang="zh-CN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3D</a:t>
                      </a:r>
                      <a:r>
                        <a:rPr lang="zh-CN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的管路减少残留死角</a:t>
                      </a:r>
                      <a:endParaRPr lang="zh-CN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+mn-ea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</a:tr>
              <a:tr h="29700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TJ4S-1211-R02</a:t>
                      </a:r>
                      <a:endParaRPr lang="en-US" sz="800" b="1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  <a:p>
                      <a:pPr algn="ctr" fontAlgn="ctr"/>
                      <a:r>
                        <a:rPr lang="en-US" altLang="zh-CN" sz="800" b="1" u="none" strike="noStrike" dirty="0" smtClean="0">
                          <a:effectLst/>
                        </a:rPr>
                        <a:t>→</a:t>
                      </a:r>
                      <a:r>
                        <a:rPr lang="en-US" altLang="zh-CN" sz="500" b="1" u="none" strike="noStrike" dirty="0" smtClean="0">
                          <a:effectLst/>
                        </a:rPr>
                        <a:t> </a:t>
                      </a:r>
                      <a:endParaRPr lang="en-US" altLang="zh-CN" sz="500" b="1" u="none" strike="noStrike" dirty="0" smtClean="0">
                        <a:effectLst/>
                      </a:endParaRPr>
                    </a:p>
                    <a:p>
                      <a:pPr algn="ctr" fontAlgn="ctr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TJ4S-1211-TFF02</a:t>
                      </a:r>
                      <a:endParaRPr lang="en-US" sz="800" b="1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  <a:p>
                      <a:pPr algn="ctr" fontAlgn="ctr"/>
                      <a:r>
                        <a:rPr lang="zh-CN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氢氧化钠管路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等线" panose="02010600030101010101" charset="-122"/>
                          <a:ea typeface="等线" panose="02010600030101010101" charset="-122"/>
                          <a:cs typeface="+mn-cs"/>
                        </a:rPr>
                        <a:t>316L Stainless Steel/DN25</a:t>
                      </a:r>
                      <a:endParaRPr kumimoji="0" lang="en-US" altLang="zh-CN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等线" panose="02010600030101010101" charset="-122"/>
                        <a:ea typeface="等线" panose="02010600030101010101" charset="-122"/>
                        <a:cs typeface="+mn-cs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  <a:cs typeface="+mn-cs"/>
                        </a:rPr>
                        <a:t>符合要求</a:t>
                      </a:r>
                      <a:endParaRPr lang="zh-CN" altLang="en-US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+mn-ea"/>
                        <a:cs typeface="+mn-cs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符合，使用卡盘连接</a:t>
                      </a:r>
                      <a:endParaRPr lang="zh-CN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  <a:cs typeface="+mn-cs"/>
                        </a:rPr>
                        <a:t>不符合要求，管路需更换为</a:t>
                      </a:r>
                      <a:r>
                        <a:rPr lang="en-US" altLang="zh-CN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  <a:cs typeface="+mn-cs"/>
                        </a:rPr>
                        <a:t>BPE</a:t>
                      </a:r>
                      <a:r>
                        <a:rPr lang="zh-CN" altLang="en-US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  <a:cs typeface="+mn-cs"/>
                        </a:rPr>
                        <a:t>管</a:t>
                      </a:r>
                      <a:endParaRPr lang="zh-CN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+mn-ea"/>
                        <a:cs typeface="+mn-cs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  <a:cs typeface="+mn-cs"/>
                        </a:rPr>
                        <a:t>不符合</a:t>
                      </a:r>
                      <a:endParaRPr lang="zh-CN" altLang="en-US" sz="7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+mn-ea"/>
                        <a:cs typeface="+mn-cs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改造方案</a:t>
                      </a:r>
                      <a:endParaRPr lang="zh-CN" altLang="en-US" sz="8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7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+mn-cs"/>
                        </a:rPr>
                        <a:t>符合要求</a:t>
                      </a:r>
                      <a:endParaRPr lang="zh-CN" altLang="en-US" sz="70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+mn-cs"/>
                      </a:endParaRPr>
                    </a:p>
                  </a:txBody>
                  <a:tcPr marL="2691" marR="2691" marT="2691" marB="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  <a:cs typeface="+mn-cs"/>
                        </a:rPr>
                        <a:t>有低点排净，符合要求</a:t>
                      </a:r>
                      <a:endParaRPr lang="zh-CN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+mn-ea"/>
                        <a:cs typeface="+mn-cs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</a:tr>
              <a:tr h="965297">
                <a:tc vMerge="1">
                  <a:tcPr marL="2691" marR="2691" marT="2691" marB="0" anchor="ctr"/>
                </a:tc>
                <a:tc vMerge="1"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dirty="0" smtClean="0"/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dirty="0" smtClean="0"/>
                        <a:t>更换过滤器，满足排净需求</a:t>
                      </a:r>
                      <a:endParaRPr lang="zh-CN" altLang="en-US" sz="800" dirty="0" smtClean="0"/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800" dirty="0" smtClean="0"/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  <a:tc vMerge="1">
                  <a:tcPr/>
                </a:tc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367" y="2658580"/>
            <a:ext cx="1083556" cy="902291"/>
          </a:xfrm>
          <a:prstGeom prst="rect">
            <a:avLst/>
          </a:prstGeom>
        </p:spPr>
      </p:pic>
      <p:pic>
        <p:nvPicPr>
          <p:cNvPr id="9" name="图片 8" descr="https://weboffice-zjk.docs.dingtalk.com/api/v3/office/copy/Qk9jbzFUNkJDZ05mWHhaV1BnN3BlWlE4M1ZOOXN6cXB1dW1KOGhmdTRrSGpMSUdOQ05NamZEalMwd0YyZ1lTQURydzBvalZJS0Z3aUtJZnl6NVF4Z2F1RWo2WlgwY05kQThNMG5VeW5WWFdqNi9FeWNJQW8yUUpIandDbkpzSmZpTVNueE1hL1JXMW1OMXo5SkZScG9CSDJBdFBIWTRnUFJHZDE4SVBDQys5aTJrdU9kT1ZRSEVhd09kRC9PQjNnK20zajhqVXEzYXJaWUpBR3VhTmV6VHdpdW5tMlhTR0p6OU9BV1RiL2pjNzJITFBMdXY5aDhMZ3RUbnlNSFp1eU1FQjNVb2trUDJjPQ==/attach/object/ac9e4adae7622284ef524de4879b5ca950e75b74?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 rot="16200000">
            <a:off x="3888500" y="3753991"/>
            <a:ext cx="965678" cy="1083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图片 9" descr="https://weboffice-zjk.docs.dingtalk.com/api/v3/office/copy/Qk9jbzFUNkJDZ05mWHhaV1BnN3BlWlE4M1ZOOXN6cXB1dW1KOGhmdTRrSGpMSUdOQ05NamZEalMwd0YyZ1lTQURydzBvalZJS0Z3aUtJZnl6NVF4Z2F1RWo2WlgwY05kQThNMG5VeW5WWFdqNi9FeWNJQW8yUUpIandDbkpzSmZpTVNueE1hL1JXMW1OMXo5SkZScG9CSDJBdFBIWTRnUFJHZDE4SVBDQys5aTJrdU9kT1ZRSEVhd09kRC9PQjNnK20zajhqVXEzYXJaWUpBR3VhTmV6VHdpdW5tMlhTR0p6OU9BV1RiL2pjNzJITFBMdXY5aDhMZ3RUbnlNSFp1eU1FQjNVb2trUDJjPQ==/attach/object/6293e19f6f6c4350d3b4eb212d8eae595ffcbf0b?"/>
          <p:cNvPicPr>
            <a:picLocks noChangeAspect="1" noChangeArrowheads="1"/>
          </p:cNvPicPr>
          <p:nvPr/>
        </p:nvPicPr>
        <p:blipFill rotWithShape="1">
          <a:blip r:embed="rId4"/>
          <a:srcRect r="16932"/>
          <a:stretch>
            <a:fillRect/>
          </a:stretch>
        </p:blipFill>
        <p:spPr bwMode="auto">
          <a:xfrm rot="5400000">
            <a:off x="3986028" y="4931651"/>
            <a:ext cx="791543" cy="1104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6439" y="2646218"/>
            <a:ext cx="965174" cy="88386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6"/>
          <a:srcRect t="12517" b="9524"/>
          <a:stretch>
            <a:fillRect/>
          </a:stretch>
        </p:blipFill>
        <p:spPr>
          <a:xfrm>
            <a:off x="2757935" y="3793639"/>
            <a:ext cx="1042182" cy="95598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7"/>
          <a:srcRect t="7357" b="12947"/>
          <a:stretch>
            <a:fillRect/>
          </a:stretch>
        </p:blipFill>
        <p:spPr>
          <a:xfrm>
            <a:off x="2766543" y="5074634"/>
            <a:ext cx="1024965" cy="80833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58068" y="2658580"/>
            <a:ext cx="792379" cy="90739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70512" y="3809850"/>
            <a:ext cx="751163" cy="97821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58068" y="5088312"/>
            <a:ext cx="751164" cy="83569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47883" y="2646218"/>
            <a:ext cx="792379" cy="904242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47883" y="3793639"/>
            <a:ext cx="792379" cy="95599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05412" y="2646219"/>
            <a:ext cx="793940" cy="904242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14"/>
          <a:srcRect t="11985"/>
          <a:stretch>
            <a:fillRect/>
          </a:stretch>
        </p:blipFill>
        <p:spPr>
          <a:xfrm>
            <a:off x="8058687" y="5088312"/>
            <a:ext cx="813724" cy="808333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58687" y="3795447"/>
            <a:ext cx="850356" cy="98502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555171" y="1102178"/>
          <a:ext cx="11225894" cy="504772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9664"/>
                <a:gridCol w="679533"/>
                <a:gridCol w="863518"/>
                <a:gridCol w="938893"/>
                <a:gridCol w="947057"/>
                <a:gridCol w="1020535"/>
                <a:gridCol w="742950"/>
                <a:gridCol w="980188"/>
                <a:gridCol w="1079918"/>
                <a:gridCol w="1195234"/>
                <a:gridCol w="1195234"/>
                <a:gridCol w="1003170"/>
              </a:tblGrid>
              <a:tr h="68784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2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项目</a:t>
                      </a:r>
                      <a:endParaRPr lang="zh-CN" altLang="en-US" sz="12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+mn-lt"/>
                        </a:rPr>
                        <a:t>材质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+mn-lt"/>
                        </a:rPr>
                        <a:t>阀门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 smtClean="0">
                          <a:effectLst/>
                          <a:latin typeface="+mn-lt"/>
                        </a:rPr>
                        <a:t>连接方式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charset="-122"/>
                        </a:rPr>
                        <a:t>管路标准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charset="-122"/>
                        </a:rPr>
                        <a:t>清洁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 hMerge="1"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>
                          <a:effectLst/>
                          <a:latin typeface="+mn-lt"/>
                        </a:rPr>
                        <a:t>坡度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charset="-122"/>
                        </a:rPr>
                        <a:t>流量计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u="none" strike="noStrike" dirty="0" smtClean="0">
                          <a:effectLst/>
                          <a:latin typeface="+mn-lt"/>
                        </a:rPr>
                        <a:t>低点排</a:t>
                      </a:r>
                      <a:r>
                        <a:rPr lang="zh-CN" altLang="en-US" sz="1200" b="1" u="none" strike="noStrike" dirty="0">
                          <a:effectLst/>
                          <a:latin typeface="+mn-lt"/>
                        </a:rPr>
                        <a:t>净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 hMerge="1"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等线" panose="02010600030101010101" charset="-122"/>
                        </a:rPr>
                        <a:t>备注</a:t>
                      </a:r>
                      <a:endParaRPr lang="zh-CN" alt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</a:tr>
              <a:tr h="12493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u="none" strike="noStrike" dirty="0" smtClean="0">
                          <a:effectLst/>
                        </a:rPr>
                        <a:t>C4</a:t>
                      </a:r>
                      <a:r>
                        <a:rPr lang="zh-CN" altLang="en-US" sz="800" b="1" u="none" strike="noStrike" dirty="0" smtClean="0">
                          <a:effectLst/>
                        </a:rPr>
                        <a:t>标准</a:t>
                      </a:r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不锈钢、合金材质，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BPE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900" u="none" strike="noStrike" dirty="0" smtClean="0">
                          <a:effectLst/>
                          <a:latin typeface="+mn-ea"/>
                          <a:ea typeface="+mn-ea"/>
                        </a:rPr>
                        <a:t>隔膜阀或其他可在位清洗阀门，禁止使用球阀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u="none" strike="noStrike" dirty="0" smtClean="0">
                          <a:effectLst/>
                          <a:latin typeface="+mn-lt"/>
                          <a:ea typeface="+mn-ea"/>
                        </a:rPr>
                        <a:t>三夹快装接头</a:t>
                      </a:r>
                      <a:r>
                        <a:rPr lang="ja-JP" altLang="en-US" sz="900" u="none" strike="noStrike" dirty="0" smtClean="0">
                          <a:effectLst/>
                          <a:latin typeface="+mn-lt"/>
                          <a:ea typeface="+mn-ea"/>
                        </a:rPr>
                        <a:t>（</a:t>
                      </a:r>
                      <a:r>
                        <a:rPr lang="zh-CN" altLang="en-US" sz="900" u="none" strike="noStrike" dirty="0" smtClean="0">
                          <a:effectLst/>
                          <a:latin typeface="+mn-lt"/>
                          <a:ea typeface="+mn-ea"/>
                        </a:rPr>
                        <a:t>实体垫片密封</a:t>
                      </a:r>
                      <a:r>
                        <a:rPr lang="ja-JP" altLang="en-US" sz="900" u="none" strike="noStrike" dirty="0" smtClean="0">
                          <a:effectLst/>
                          <a:latin typeface="+mn-lt"/>
                          <a:ea typeface="+mn-ea"/>
                        </a:rPr>
                        <a:t>）</a:t>
                      </a:r>
                      <a:endParaRPr lang="ja-JP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BPE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管路可进行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CIP</a:t>
                      </a: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清洗，使用３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D</a:t>
                      </a: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减少残留该死区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 hMerge="1"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+mn-cs"/>
                        </a:rPr>
                        <a:t>坡度大于</a:t>
                      </a:r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+mn-cs"/>
                        </a:rPr>
                        <a:t>1%</a:t>
                      </a:r>
                      <a:r>
                        <a:rPr lang="zh-CN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+mn-cs"/>
                        </a:rPr>
                        <a:t>，实现完全排空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+mn-cs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+mn-cs"/>
                        </a:rPr>
                        <a:t>无不可排净的流量计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+mn-cs"/>
                      </a:endParaRPr>
                    </a:p>
                  </a:txBody>
                  <a:tcPr marL="2691" marR="2691" marT="2691" marB="0" anchor="ctr"/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+mn-cs"/>
                        </a:rPr>
                        <a:t>设置低点排放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+mn-cs"/>
                      </a:endParaRPr>
                    </a:p>
                  </a:txBody>
                  <a:tcPr marL="2691" marR="2691" marT="2691" marB="0" anchor="ctr"/>
                </a:tc>
                <a:tc hMerge="1">
                  <a:tcPr marL="2691" marR="2691" marT="2691" marB="0" anchor="ctr"/>
                </a:tc>
                <a:tc rowSpan="5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+mn-cs"/>
                        </a:rPr>
                        <a:t>1.</a:t>
                      </a:r>
                      <a:r>
                        <a:rPr lang="zh-CN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+mn-cs"/>
                        </a:rPr>
                        <a:t>管路材质为</a:t>
                      </a:r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+mn-cs"/>
                        </a:rPr>
                        <a:t>BPE</a:t>
                      </a:r>
                      <a:r>
                        <a:rPr lang="zh-CN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+mn-cs"/>
                        </a:rPr>
                        <a:t>，符合要求</a:t>
                      </a:r>
                      <a:endParaRPr lang="en-US" altLang="zh-CN" sz="9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r>
                        <a:rPr lang="en-US" altLang="zh-CN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+mn-cs"/>
                        </a:rPr>
                        <a:t>2.</a:t>
                      </a:r>
                      <a:r>
                        <a:rPr lang="zh-CN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+mn-cs"/>
                        </a:rPr>
                        <a:t>表面抛光度为出厂标准，符合要求</a:t>
                      </a:r>
                      <a:endParaRPr lang="en-US" altLang="zh-CN" sz="9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endParaRPr lang="en-US" altLang="zh-CN" sz="9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endParaRPr lang="en-US" altLang="zh-CN" sz="9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+mn-cs"/>
                      </a:endParaRPr>
                    </a:p>
                    <a:p>
                      <a:pPr marL="0" algn="ctr" defTabSz="914400" rtl="0" eaLnBrk="1" fontAlgn="ctr" latinLnBrk="0" hangingPunct="1"/>
                      <a:r>
                        <a:rPr lang="zh-CN" altLang="en-US" sz="1000" b="1" i="0" u="none" strike="noStrike" kern="1200" dirty="0" smtClean="0">
                          <a:solidFill>
                            <a:srgbClr val="FF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+mn-cs"/>
                        </a:rPr>
                        <a:t>详情见附件</a:t>
                      </a:r>
                      <a:endParaRPr lang="zh-CN" altLang="en-US" sz="1000" b="1" i="0" u="none" strike="noStrike" kern="1200" dirty="0">
                        <a:solidFill>
                          <a:srgbClr val="FF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+mn-cs"/>
                      </a:endParaRPr>
                    </a:p>
                  </a:txBody>
                  <a:tcPr marL="2691" marR="2691" marT="2691" marB="0" anchor="ctr"/>
                </a:tc>
              </a:tr>
              <a:tr h="28216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TJ4S-1211-HPPC03-AT03  </a:t>
                      </a:r>
                      <a:endParaRPr lang="en-US" sz="800" b="1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  <a:p>
                      <a:pPr algn="ctr" fontAlgn="ctr"/>
                      <a:r>
                        <a:rPr lang="en-US" altLang="zh-CN" sz="1050" b="1" u="none" strike="noStrike" dirty="0" smtClean="0">
                          <a:effectLst/>
                        </a:rPr>
                        <a:t>→</a:t>
                      </a:r>
                      <a:r>
                        <a:rPr lang="en-US" altLang="zh-CN" sz="1000" b="1" u="none" strike="noStrike" dirty="0" smtClean="0">
                          <a:effectLst/>
                        </a:rPr>
                        <a:t> </a:t>
                      </a:r>
                      <a:endParaRPr lang="en-US" altLang="zh-CN" sz="1000" b="1" u="none" strike="noStrike" dirty="0" smtClean="0">
                        <a:effectLst/>
                      </a:endParaRPr>
                    </a:p>
                    <a:p>
                      <a:pPr algn="ctr" fontAlgn="ctr"/>
                      <a:r>
                        <a:rPr lang="en-US" altLang="zh-CN" sz="800" b="1" u="none" strike="noStrike" dirty="0" smtClean="0">
                          <a:effectLst/>
                        </a:rPr>
                        <a:t> TJ4S-1211-TFF02-T01</a:t>
                      </a:r>
                      <a:endParaRPr lang="en-US" altLang="zh-CN" sz="800" b="1" u="none" strike="noStrike" dirty="0" smtClean="0">
                        <a:effectLst/>
                      </a:endParaRPr>
                    </a:p>
                    <a:p>
                      <a:pPr algn="ctr" fontAlgn="ctr"/>
                      <a:r>
                        <a:rPr lang="zh-CN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制备组分加入储罐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符合要求，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BPE</a:t>
                      </a:r>
                      <a:endParaRPr lang="en-US" altLang="zh-CN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+mn-ea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符合，使用隔膜阀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符合，使用卡盘连接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符合要求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不符合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  <a:cs typeface="+mn-cs"/>
                        </a:rPr>
                        <a:t>改造方案</a:t>
                      </a:r>
                      <a:endParaRPr lang="zh-CN" altLang="en-US" sz="9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+mn-ea"/>
                        <a:cs typeface="+mn-cs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+mn-cs"/>
                        </a:rPr>
                        <a:t>符合要求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+mn-cs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+mn-cs"/>
                        </a:rPr>
                        <a:t>符合，流量计</a:t>
                      </a:r>
                      <a:r>
                        <a:rPr lang="zh-CN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  <a:cs typeface="+mn-cs"/>
                        </a:rPr>
                        <a:t>竖直安装</a:t>
                      </a:r>
                      <a:endParaRPr lang="zh-CN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符合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改造方案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</a:tr>
              <a:tr h="1091547">
                <a:tc vMerge="1">
                  <a:tcPr/>
                </a:tc>
                <a:tc vMerge="1"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sz="900" dirty="0" smtClean="0"/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 smtClean="0"/>
                        <a:t>改造管路满足</a:t>
                      </a:r>
                      <a:r>
                        <a:rPr lang="en-US" altLang="zh-CN" sz="900" dirty="0" smtClean="0"/>
                        <a:t>3D</a:t>
                      </a:r>
                      <a:r>
                        <a:rPr lang="zh-CN" altLang="en-US" sz="900" dirty="0" smtClean="0"/>
                        <a:t>标准，使用</a:t>
                      </a:r>
                      <a:r>
                        <a:rPr lang="en-US" altLang="zh-CN" sz="900" dirty="0" smtClean="0"/>
                        <a:t>CIP</a:t>
                      </a:r>
                      <a:r>
                        <a:rPr lang="zh-CN" altLang="en-US" sz="900" dirty="0" smtClean="0"/>
                        <a:t>进行在线清洁</a:t>
                      </a:r>
                      <a:endParaRPr lang="zh-CN" altLang="en-US" sz="900" dirty="0" smtClean="0"/>
                    </a:p>
                    <a:p>
                      <a:endParaRPr lang="zh-CN" altLang="en-US" sz="900" dirty="0"/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N/A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+mn-ea"/>
                      </a:endParaRPr>
                    </a:p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</a:tr>
              <a:tr h="411712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TJ4S-1211-TFF02-T01  </a:t>
                      </a:r>
                      <a:r>
                        <a:rPr lang="en-US" altLang="zh-CN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 </a:t>
                      </a:r>
                      <a:r>
                        <a:rPr lang="en-US" altLang="zh-CN" sz="1050" b="1" u="none" strike="noStrike" dirty="0" smtClean="0">
                          <a:effectLst/>
                        </a:rPr>
                        <a:t>→</a:t>
                      </a:r>
                      <a:r>
                        <a:rPr lang="en-US" altLang="zh-CN" sz="800" b="1" u="none" strike="noStrike" dirty="0" smtClean="0">
                          <a:effectLst/>
                        </a:rPr>
                        <a:t>   </a:t>
                      </a:r>
                      <a:endParaRPr lang="en-US" altLang="zh-CN" sz="800" b="1" u="none" strike="noStrike" dirty="0" smtClean="0">
                        <a:effectLst/>
                      </a:endParaRPr>
                    </a:p>
                    <a:p>
                      <a:pPr algn="ctr" fontAlgn="ctr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TJ4S-1211-TFF02</a:t>
                      </a:r>
                      <a:endParaRPr lang="en-US" sz="800" b="1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  <a:p>
                      <a:pPr algn="ctr" fontAlgn="ctr"/>
                      <a:r>
                        <a:rPr lang="zh-CN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甲醇和制备组分加入超滤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符合要求，</a:t>
                      </a: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BPE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符合，使用隔膜阀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符合，使用卡盘连接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符合要求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不符合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 smtClean="0"/>
                        <a:t>改造方案</a:t>
                      </a:r>
                      <a:endParaRPr lang="zh-CN" altLang="en-US" sz="900" dirty="0" smtClean="0"/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符合要求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改造方案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不符合，管路无低点排净，过滤器无低点排净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改造方案</a:t>
                      </a:r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</a:tr>
              <a:tr h="1323450">
                <a:tc vMerge="1">
                  <a:tcPr/>
                </a:tc>
                <a:tc vMerge="1"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sz="900" dirty="0"/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 smtClean="0"/>
                        <a:t>改造管路满足</a:t>
                      </a:r>
                      <a:r>
                        <a:rPr lang="en-US" altLang="zh-CN" sz="900" dirty="0" smtClean="0"/>
                        <a:t>3D</a:t>
                      </a:r>
                      <a:r>
                        <a:rPr lang="zh-CN" altLang="en-US" sz="900" dirty="0" smtClean="0"/>
                        <a:t>标准，使用</a:t>
                      </a:r>
                      <a:r>
                        <a:rPr lang="en-US" altLang="zh-CN" sz="900" dirty="0" smtClean="0"/>
                        <a:t>CIP</a:t>
                      </a:r>
                      <a:r>
                        <a:rPr lang="zh-CN" altLang="en-US" sz="900" dirty="0" smtClean="0"/>
                        <a:t>进行在线清洁</a:t>
                      </a:r>
                      <a:endParaRPr lang="zh-CN" altLang="en-US" sz="900" dirty="0" smtClean="0"/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900" dirty="0" smtClean="0"/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N/A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+mn-ea"/>
                      </a:endParaRPr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 marL="2691" marR="2691" marT="269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增加低点排净口；</a:t>
                      </a:r>
                      <a:endParaRPr lang="en-US" altLang="zh-CN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+mn-ea"/>
                      </a:endParaRPr>
                    </a:p>
                    <a:p>
                      <a:pPr algn="ctr" fontAlgn="ctr"/>
                      <a:r>
                        <a:rPr lang="zh-CN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charset="-122"/>
                          <a:ea typeface="+mn-ea"/>
                        </a:rPr>
                        <a:t>过滤器增加进液排净口</a:t>
                      </a:r>
                      <a:endParaRPr lang="zh-CN" altLang="en-US" sz="900" b="0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+mn-ea"/>
                      </a:endParaRPr>
                    </a:p>
                    <a:p>
                      <a:pPr algn="ctr" fontAlgn="ctr"/>
                      <a:endParaRPr lang="zh-CN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2691" marR="2691" marT="2691" marB="0" anchor="ctr"/>
                </a:tc>
                <a:tc vMerge="1">
                  <a:tcPr marL="2691" marR="2691" marT="2691" marB="0" anchor="ctr"/>
                </a:tc>
              </a:tr>
            </a:tbl>
          </a:graphicData>
        </a:graphic>
      </p:graphicFrame>
      <p:pic>
        <p:nvPicPr>
          <p:cNvPr id="22" name="图片 21"/>
          <p:cNvPicPr/>
          <p:nvPr/>
        </p:nvPicPr>
        <p:blipFill>
          <a:blip r:embed="rId2"/>
          <a:stretch>
            <a:fillRect/>
          </a:stretch>
        </p:blipFill>
        <p:spPr>
          <a:xfrm>
            <a:off x="2712003" y="3484834"/>
            <a:ext cx="889775" cy="624689"/>
          </a:xfrm>
          <a:prstGeom prst="rect">
            <a:avLst/>
          </a:prstGeom>
        </p:spPr>
      </p:pic>
      <p:pic>
        <p:nvPicPr>
          <p:cNvPr id="23" name="ID_7056E3DE993849B097D73D71306A319B" descr="upload_post_object_v2_9946852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6709" y="5034917"/>
            <a:ext cx="901613" cy="692573"/>
          </a:xfrm>
          <a:prstGeom prst="rect">
            <a:avLst/>
          </a:prstGeom>
        </p:spPr>
      </p:pic>
      <p:pic>
        <p:nvPicPr>
          <p:cNvPr id="24" name="图片 23"/>
          <p:cNvPicPr/>
          <p:nvPr/>
        </p:nvPicPr>
        <p:blipFill>
          <a:blip r:embed="rId4"/>
          <a:stretch>
            <a:fillRect/>
          </a:stretch>
        </p:blipFill>
        <p:spPr>
          <a:xfrm>
            <a:off x="1815242" y="3463876"/>
            <a:ext cx="855445" cy="624689"/>
          </a:xfrm>
          <a:prstGeom prst="rect">
            <a:avLst/>
          </a:prstGeom>
        </p:spPr>
      </p:pic>
      <p:pic>
        <p:nvPicPr>
          <p:cNvPr id="25" name="ID_52347A3A78B044F786719B78E7A0D051" descr="upload_post_object_v2_370093976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5242" y="5046963"/>
            <a:ext cx="855445" cy="697657"/>
          </a:xfrm>
          <a:prstGeom prst="rect">
            <a:avLst/>
          </a:prstGeom>
        </p:spPr>
      </p:pic>
      <p:pic>
        <p:nvPicPr>
          <p:cNvPr id="26" name="ID_63A1A211A4FB4BE3ABC66FEC16AA1969" descr="upload_post_object_v2_208661048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0718" y="5038312"/>
            <a:ext cx="850223" cy="685782"/>
          </a:xfrm>
          <a:prstGeom prst="rect">
            <a:avLst/>
          </a:prstGeom>
        </p:spPr>
      </p:pic>
      <p:pic>
        <p:nvPicPr>
          <p:cNvPr id="27" name="图片 26"/>
          <p:cNvPicPr/>
          <p:nvPr/>
        </p:nvPicPr>
        <p:blipFill>
          <a:blip r:embed="rId7"/>
          <a:stretch>
            <a:fillRect/>
          </a:stretch>
        </p:blipFill>
        <p:spPr>
          <a:xfrm>
            <a:off x="4557006" y="3477698"/>
            <a:ext cx="1003919" cy="631825"/>
          </a:xfrm>
          <a:prstGeom prst="rect">
            <a:avLst/>
          </a:prstGeom>
        </p:spPr>
      </p:pic>
      <p:pic>
        <p:nvPicPr>
          <p:cNvPr id="28" name="ID_B21277D4E7644EC19A1FBF04659F3E2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5552" y="5019646"/>
            <a:ext cx="1003919" cy="704448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18180" y="3416418"/>
            <a:ext cx="764107" cy="821250"/>
          </a:xfrm>
          <a:prstGeom prst="rect">
            <a:avLst/>
          </a:prstGeom>
        </p:spPr>
      </p:pic>
      <p:pic>
        <p:nvPicPr>
          <p:cNvPr id="30" name="图片 29"/>
          <p:cNvPicPr/>
          <p:nvPr/>
        </p:nvPicPr>
        <p:blipFill>
          <a:blip r:embed="rId10"/>
          <a:stretch>
            <a:fillRect/>
          </a:stretch>
        </p:blipFill>
        <p:spPr>
          <a:xfrm>
            <a:off x="8546854" y="3416418"/>
            <a:ext cx="747726" cy="821250"/>
          </a:xfrm>
          <a:prstGeom prst="rect">
            <a:avLst/>
          </a:prstGeom>
        </p:spPr>
      </p:pic>
      <p:pic>
        <p:nvPicPr>
          <p:cNvPr id="31" name="ID_EBE94E2721F440F7953A9930A6612DC2" descr="upload_post_object_v2_320643668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15569" y="4972021"/>
            <a:ext cx="555282" cy="799695"/>
          </a:xfrm>
          <a:prstGeom prst="rect">
            <a:avLst/>
          </a:prstGeom>
        </p:spPr>
      </p:pic>
      <p:pic>
        <p:nvPicPr>
          <p:cNvPr id="32" name="ID_B21277D4E7644EC19A1FBF04659F3E2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49621" y="4964387"/>
            <a:ext cx="535457" cy="79598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04342" y="3416418"/>
            <a:ext cx="757052" cy="8212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4342" y="4915632"/>
            <a:ext cx="723632" cy="9124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67567" y="3485686"/>
            <a:ext cx="879520" cy="6238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4240</Words>
  <Application>WPS 演示</Application>
  <PresentationFormat>宽屏</PresentationFormat>
  <Paragraphs>644</Paragraphs>
  <Slides>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4" baseType="lpstr">
      <vt:lpstr>Arial</vt:lpstr>
      <vt:lpstr>宋体</vt:lpstr>
      <vt:lpstr>Wingdings</vt:lpstr>
      <vt:lpstr>等线</vt:lpstr>
      <vt:lpstr>Arial</vt:lpstr>
      <vt:lpstr>Calibri</vt:lpstr>
      <vt:lpstr>微软雅黑</vt:lpstr>
      <vt:lpstr>Impact</vt:lpstr>
      <vt:lpstr>Times New Roman</vt:lpstr>
      <vt:lpstr>Arial Unicode MS</vt:lpstr>
      <vt:lpstr>等线 Light</vt:lpstr>
      <vt:lpstr>Yu Gothic</vt:lpstr>
      <vt:lpstr>MS PGothic</vt:lpstr>
      <vt:lpstr>Office 主题​​</vt:lpstr>
      <vt:lpstr>ZWCAD.Drawing.2020</vt:lpstr>
      <vt:lpstr>ZWCAD.Drawing.2020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Qixuan Bu17334</dc:creator>
  <cp:lastModifiedBy>BT</cp:lastModifiedBy>
  <cp:revision>256</cp:revision>
  <dcterms:created xsi:type="dcterms:W3CDTF">2026-08-11T10:09:00Z</dcterms:created>
  <dcterms:modified xsi:type="dcterms:W3CDTF">2026-10-07T10:41:01Z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2DF86E9A534C45C6A208A90191D99672_12</vt:lpwstr>
  </property>
  <property fmtid="{D5CDD505-2E9C-101B-9397-08002B2CF9AE}" pid="3" name="KSOProductBuildVer">
    <vt:lpwstr>2052-12.1.0.28043</vt:lpwstr>
  </property>
</Properties>
</file>