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70" r:id="rId4"/>
    <p:sldMasterId id="2147483681" r:id="rId5"/>
    <p:sldMasterId id="2147483693" r:id="rId6"/>
    <p:sldMasterId id="2147483705" r:id="rId7"/>
    <p:sldMasterId id="2147483717" r:id="rId8"/>
    <p:sldMasterId id="2147483729" r:id="rId9"/>
    <p:sldMasterId id="2147483740" r:id="rId10"/>
    <p:sldMasterId id="2147483751" r:id="rId11"/>
    <p:sldMasterId id="2147483763" r:id="rId12"/>
    <p:sldMasterId id="2147483775" r:id="rId13"/>
    <p:sldMasterId id="2147483787" r:id="rId14"/>
    <p:sldMasterId id="2147483798" r:id="rId15"/>
  </p:sldMasterIdLst>
  <p:notesMasterIdLst>
    <p:notesMasterId r:id="rId18"/>
  </p:notesMasterIdLst>
  <p:sldIdLst>
    <p:sldId id="885" r:id="rId29"/>
    <p:sldId id="876" r:id="rId16"/>
    <p:sldId id="884" r:id="rId17"/>
    <p:sldId id="882" r:id="rId19"/>
    <p:sldId id="881" r:id="rId20"/>
    <p:sldId id="880" r:id="rId21"/>
    <p:sldId id="879" r:id="rId22"/>
    <p:sldId id="883" r:id="rId23"/>
    <p:sldId id="878" r:id="rId24"/>
  </p:sldIdLst>
  <p:sldSz cx="24384000" cy="13716000"/>
  <p:notesSz cx="6858000" cy="9144000"/>
  <p:defaultTextStyle>
    <a:defPPr>
      <a:defRPr lang="en-US"/>
    </a:defPPr>
    <a:lvl1pPr marL="0" lvl="0" indent="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1pPr>
    <a:lvl2pPr marL="0" lvl="1" indent="2286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2pPr>
    <a:lvl3pPr marL="0" lvl="2" indent="4572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3pPr>
    <a:lvl4pPr marL="0" lvl="3" indent="6858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4pPr>
    <a:lvl5pPr marL="0" lvl="4"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5pPr>
    <a:lvl6pPr marL="2286000" lvl="5"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6pPr>
    <a:lvl7pPr marL="2743200" lvl="6"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7pPr>
    <a:lvl8pPr marL="3200400" lvl="7"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8pPr>
    <a:lvl9pPr marL="3657600" lvl="8"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9pPr>
  </p:defaultTextStyle>
  <p:extLst>
    <p:ext uri="{EFAFB233-063F-42B5-8137-9DF3F51BA10A}">
      <p15:sldGuideLst xmlns:p15="http://schemas.microsoft.com/office/powerpoint/2012/main">
        <p15:guide id="1" pos="7684" userDrawn="1">
          <p15:clr>
            <a:srgbClr val="A4A3A4"/>
          </p15:clr>
        </p15:guide>
        <p15:guide id="2" orient="horz" pos="43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Yonggang Shi" initials="YS" lastIdx="1" clrIdx="0"/>
  <p:cmAuthor id="4" name="Qichen Liu" initials="QL" lastIdx="3" clrIdx="1"/>
  <p:cmAuthor id="5" name="Kai Liu9244" initials="KL"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9BD5"/>
    <a:srgbClr val="EAEFF7"/>
    <a:srgbClr val="D2DEEF"/>
    <a:srgbClr val="EAF0F7"/>
    <a:srgbClr val="3A6DB4"/>
    <a:srgbClr val="00356A"/>
    <a:srgbClr val="3F6E9A"/>
    <a:srgbClr val="CDDCEA"/>
    <a:srgbClr val="689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55" autoAdjust="0"/>
    <p:restoredTop sz="94012" autoAdjust="0"/>
  </p:normalViewPr>
  <p:slideViewPr>
    <p:cSldViewPr snapToGrid="0" snapToObjects="1" showGuides="1">
      <p:cViewPr varScale="1">
        <p:scale>
          <a:sx n="34" d="100"/>
          <a:sy n="34" d="100"/>
        </p:scale>
        <p:origin x="572" y="84"/>
      </p:cViewPr>
      <p:guideLst>
        <p:guide pos="7684"/>
        <p:guide orient="horz" pos="4332"/>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notesMaster" Target="notesMasters/notesMaster1.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 Id="rId28" Type="http://schemas.openxmlformats.org/officeDocument/2006/relationships/commentAuthors" Target="commentAuthors.xml"/><Relationship Id="rId2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6"/>
          <p:cNvSpPr>
            <a:spLocks noGrp="1" noRot="1" noChangeAspect="1"/>
          </p:cNvSpPr>
          <p:nvPr>
            <p:ph type="sldImg"/>
          </p:nvPr>
        </p:nvSpPr>
        <p:spPr>
          <a:xfrm>
            <a:off x="1143000" y="685800"/>
            <a:ext cx="4572000" cy="3429000"/>
          </a:xfrm>
          <a:prstGeom prst="rect">
            <a:avLst/>
          </a:prstGeom>
          <a:noFill/>
          <a:ln w="9525">
            <a:noFill/>
          </a:ln>
        </p:spPr>
      </p:sp>
      <p:sp>
        <p:nvSpPr>
          <p:cNvPr id="6147" name="Shape 67"/>
          <p:cNvSpPr>
            <a:spLocks noGrp="1"/>
          </p:cNvSpPr>
          <p:nvPr>
            <p:ph type="body" sz="quarter"/>
          </p:nvPr>
        </p:nvSpPr>
        <p:spPr>
          <a:xfrm>
            <a:off x="914400" y="4343400"/>
            <a:ext cx="5029200" cy="4114800"/>
          </a:xfrm>
          <a:prstGeom prst="rect">
            <a:avLst/>
          </a:prstGeom>
          <a:noFill/>
          <a:ln w="9525">
            <a:noFill/>
          </a:ln>
        </p:spPr>
        <p:txBody>
          <a:bodyPr anchor="t"/>
          <a:lstStyle/>
          <a:p>
            <a:pPr lvl="0"/>
            <a:endParaRPr lang="zh-CN" altLang="zh-CN"/>
          </a:p>
        </p:txBody>
      </p:sp>
    </p:spTree>
  </p:cSld>
  <p:clrMap bg1="lt1" tx1="dk1" bg2="lt2" tx2="dk2" accent1="accent1" accent2="accent2" accent3="accent3" accent4="accent4" accent5="accent5" accent6="accent6" hlink="hlink" folHlink="folHlink"/>
  <p:hf sldNum="0" hdr="0" ftr="0" dt="0"/>
  <p:notesStyle>
    <a:lvl1pPr defTabSz="457200" latinLnBrk="0">
      <a:lnSpc>
        <a:spcPct val="117000"/>
      </a:lnSpc>
      <a:defRPr sz="2200">
        <a:latin typeface="+mn-lt"/>
        <a:ea typeface="+mn-ea"/>
        <a:cs typeface="+mn-cs"/>
        <a:sym typeface="Helvetica Neue" panose="02000503000000020004"/>
      </a:defRPr>
    </a:lvl1pPr>
    <a:lvl2pPr indent="228600" defTabSz="457200" latinLnBrk="0">
      <a:lnSpc>
        <a:spcPct val="117000"/>
      </a:lnSpc>
      <a:defRPr sz="2200">
        <a:latin typeface="+mn-lt"/>
        <a:ea typeface="+mn-ea"/>
        <a:cs typeface="+mn-cs"/>
        <a:sym typeface="Helvetica Neue" panose="02000503000000020004"/>
      </a:defRPr>
    </a:lvl2pPr>
    <a:lvl3pPr indent="457200" defTabSz="457200" latinLnBrk="0">
      <a:lnSpc>
        <a:spcPct val="117000"/>
      </a:lnSpc>
      <a:defRPr sz="2200">
        <a:latin typeface="+mn-lt"/>
        <a:ea typeface="+mn-ea"/>
        <a:cs typeface="+mn-cs"/>
        <a:sym typeface="Helvetica Neue" panose="02000503000000020004"/>
      </a:defRPr>
    </a:lvl3pPr>
    <a:lvl4pPr indent="685800" defTabSz="457200" latinLnBrk="0">
      <a:lnSpc>
        <a:spcPct val="117000"/>
      </a:lnSpc>
      <a:defRPr sz="2200">
        <a:latin typeface="+mn-lt"/>
        <a:ea typeface="+mn-ea"/>
        <a:cs typeface="+mn-cs"/>
        <a:sym typeface="Helvetica Neue" panose="02000503000000020004"/>
      </a:defRPr>
    </a:lvl4pPr>
    <a:lvl5pPr indent="914400" defTabSz="457200" latinLnBrk="0">
      <a:lnSpc>
        <a:spcPct val="117000"/>
      </a:lnSpc>
      <a:defRPr sz="2200">
        <a:latin typeface="+mn-lt"/>
        <a:ea typeface="+mn-ea"/>
        <a:cs typeface="+mn-cs"/>
        <a:sym typeface="Helvetica Neue" panose="02000503000000020004"/>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e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e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2.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jpe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2.jpe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fld>
            <a:r>
              <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fld>
            <a:r>
              <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fld>
            <a:r>
              <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fld>
            <a:r>
              <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panose="020B0503020204020204" pitchFamily="34" charset="-122"/>
              </a:rPr>
              <a:t>-</a:t>
            </a:r>
            <a:fld id="{FAEDECE0-B3E3-4E93-9B91-9F10B30F5B07}" type="slidenum">
              <a:rPr lang="en-US" altLang="zh-CN" smtClean="0">
                <a:solidFill>
                  <a:prstClr val="white"/>
                </a:solidFill>
                <a:ea typeface="微软雅黑" panose="020B0503020204020204" pitchFamily="34" charset="-122"/>
              </a:rPr>
            </a:fld>
            <a:r>
              <a:rPr lang="en-US" altLang="zh-CN">
                <a:solidFill>
                  <a:prstClr val="white"/>
                </a:solidFill>
                <a:ea typeface="微软雅黑" panose="020B0503020204020204" pitchFamily="34" charset="-122"/>
              </a:rPr>
              <a:t>-</a:t>
            </a:r>
            <a:endParaRPr lang="zh-CN" altLang="en-US" dirty="0">
              <a:solidFill>
                <a:prstClr val="white"/>
              </a:solidFill>
              <a:ea typeface="微软雅黑" panose="020B0503020204020204" pitchFamily="34" charset="-122"/>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a:solidFill>
                <a:prstClr val="black">
                  <a:tint val="75000"/>
                </a:prstClr>
              </a:solidFill>
              <a:ea typeface="微软雅黑" panose="020B0503020204020204" pitchFamily="34" charset="-122"/>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panose="020B0503020204020204" pitchFamily="34" charset="-122"/>
              </a:rPr>
              <a:t>-</a:t>
            </a:r>
            <a:fld id="{FAEDECE0-B3E3-4E93-9B91-9F10B30F5B07}" type="slidenum">
              <a:rPr lang="en-US" altLang="zh-CN" smtClean="0">
                <a:solidFill>
                  <a:prstClr val="white"/>
                </a:solidFill>
                <a:ea typeface="微软雅黑" panose="020B0503020204020204" pitchFamily="34" charset="-122"/>
              </a:rPr>
            </a:fld>
            <a:r>
              <a:rPr lang="en-US" altLang="zh-CN">
                <a:solidFill>
                  <a:prstClr val="white"/>
                </a:solidFill>
                <a:ea typeface="微软雅黑" panose="020B0503020204020204" pitchFamily="34" charset="-122"/>
              </a:rPr>
              <a:t>-</a:t>
            </a:r>
            <a:endParaRPr lang="zh-CN" altLang="en-US" dirty="0">
              <a:solidFill>
                <a:prstClr val="white"/>
              </a:solidFill>
              <a:ea typeface="微软雅黑" panose="020B0503020204020204" pitchFamily="34" charset="-122"/>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a:t>单击此处编辑标题</a:t>
            </a:r>
            <a:endParaRPr lang="zh-CN" altLang="en-US"/>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a:t>单击此处编辑副标题</a:t>
            </a:r>
            <a:endParaRPr lang="zh-CN" altLang="en-US"/>
          </a:p>
        </p:txBody>
      </p:sp>
      <p:sp>
        <p:nvSpPr>
          <p:cNvPr id="17" name="页脚占位符 16"/>
          <p:cNvSpPr>
            <a:spLocks noGrp="1"/>
          </p:cNvSpPr>
          <p:nvPr>
            <p:ph type="ftr" sz="quarter" idx="11"/>
          </p:nvPr>
        </p:nvSpPr>
        <p:spPr/>
        <p:txBody>
          <a:bodyPr/>
          <a:lstStyle>
            <a:lvl1pPr>
              <a:defRPr>
                <a:latin typeface="+mn-ea"/>
              </a:defRPr>
            </a:lvl1pPr>
          </a:lstStyle>
          <a:p>
            <a:endParaRPr lang="zh-CN" altLang="en-US"/>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endParaRPr>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endParaRPr>
              <a:sym typeface="+mn-ea"/>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endParaRPr>
              <a:sym typeface="+mn-ea"/>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endParaRPr>
              <a:sym typeface="+mn-ea"/>
            </a:endParaRP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endParaRPr>
              <a:sym typeface="+mn-ea"/>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fld>
            <a:r>
              <a:rPr lang="en-US" altLang="zh-CN"/>
              <a:t>-</a:t>
            </a:r>
            <a:endParaRPr lang="zh-CN" altLang="en-US"/>
          </a:p>
        </p:txBody>
      </p:sp>
      <p:sp>
        <p:nvSpPr>
          <p:cNvPr id="7" name="文本框 6"/>
          <p:cNvSpPr txBox="1"/>
          <p:nvPr/>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rPr>
              <a:t>Confidential</a:t>
            </a:r>
            <a:endParaRPr kumimoji="0" lang="zh-CN" altLang="en-US" sz="20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3"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fld>
            <a:r>
              <a:rPr kumimoji="0" lang="zh-CN" altLang="en-US"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panose="020B0503020204020204" pitchFamily="34" charset="-122"/>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9" Type="http://schemas.openxmlformats.org/officeDocument/2006/relationships/slideLayout" Target="../slideLayouts/slideLayout72.xml"/><Relationship Id="rId10" Type="http://schemas.openxmlformats.org/officeDocument/2006/relationships/slideLayout" Target="../slideLayouts/slideLayout73.xml"/><Relationship Id="rId11" Type="http://schemas.openxmlformats.org/officeDocument/2006/relationships/slideLayout" Target="../slideLayouts/slideLayout74.xml"/><Relationship Id="rId1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slideLayout" Target="../slideLayouts/slideLayout78.xml"/><Relationship Id="rId5" Type="http://schemas.openxmlformats.org/officeDocument/2006/relationships/slideLayout" Target="../slideLayouts/slideLayout79.xml"/><Relationship Id="rId6" Type="http://schemas.openxmlformats.org/officeDocument/2006/relationships/slideLayout" Target="../slideLayouts/slideLayout80.xml"/><Relationship Id="rId7" Type="http://schemas.openxmlformats.org/officeDocument/2006/relationships/slideLayout" Target="../slideLayouts/slideLayout81.xml"/><Relationship Id="rId8" Type="http://schemas.openxmlformats.org/officeDocument/2006/relationships/slideLayout" Target="../slideLayouts/slideLayout82.xml"/><Relationship Id="rId9" Type="http://schemas.openxmlformats.org/officeDocument/2006/relationships/slideLayout" Target="../slideLayouts/slideLayout83.xml"/><Relationship Id="rId10" Type="http://schemas.openxmlformats.org/officeDocument/2006/relationships/slideLayout" Target="../slideLayouts/slideLayout84.xml"/><Relationship Id="rId1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slideLayout" Target="../slideLayouts/slideLayout96.xml"/><Relationship Id="rId3" Type="http://schemas.openxmlformats.org/officeDocument/2006/relationships/slideLayout" Target="../slideLayouts/slideLayout97.xml"/><Relationship Id="rId4" Type="http://schemas.openxmlformats.org/officeDocument/2006/relationships/slideLayout" Target="../slideLayouts/slideLayout98.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9" Type="http://schemas.openxmlformats.org/officeDocument/2006/relationships/slideLayout" Target="../slideLayouts/slideLayout103.xml"/><Relationship Id="rId10" Type="http://schemas.openxmlformats.org/officeDocument/2006/relationships/slideLayout" Target="../slideLayouts/slideLayout104.xml"/><Relationship Id="rId11" Type="http://schemas.openxmlformats.org/officeDocument/2006/relationships/slideLayout" Target="../slideLayouts/slideLayout105.xml"/><Relationship Id="rId1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slideLayout" Target="../slideLayouts/slideLayout107.xml"/><Relationship Id="rId3" Type="http://schemas.openxmlformats.org/officeDocument/2006/relationships/slideLayout" Target="../slideLayouts/slideLayout108.xml"/><Relationship Id="rId4" Type="http://schemas.openxmlformats.org/officeDocument/2006/relationships/slideLayout" Target="../slideLayouts/slideLayout109.xml"/><Relationship Id="rId5" Type="http://schemas.openxmlformats.org/officeDocument/2006/relationships/slideLayout" Target="../slideLayouts/slideLayout110.xml"/><Relationship Id="rId6" Type="http://schemas.openxmlformats.org/officeDocument/2006/relationships/slideLayout" Target="../slideLayouts/slideLayout111.xml"/><Relationship Id="rId7" Type="http://schemas.openxmlformats.org/officeDocument/2006/relationships/slideLayout" Target="../slideLayouts/slideLayout112.xml"/><Relationship Id="rId8" Type="http://schemas.openxmlformats.org/officeDocument/2006/relationships/slideLayout" Target="../slideLayouts/slideLayout113.xml"/><Relationship Id="rId9" Type="http://schemas.openxmlformats.org/officeDocument/2006/relationships/slideLayout" Target="../slideLayouts/slideLayout114.xml"/><Relationship Id="rId10" Type="http://schemas.openxmlformats.org/officeDocument/2006/relationships/slideLayout" Target="../slideLayouts/slideLayout115.xml"/><Relationship Id="rId11" Type="http://schemas.openxmlformats.org/officeDocument/2006/relationships/slideLayout" Target="../slideLayouts/slideLayout116.xml"/><Relationship Id="rId1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slideLayout" Target="../slideLayouts/slideLayout118.xml"/><Relationship Id="rId3" Type="http://schemas.openxmlformats.org/officeDocument/2006/relationships/slideLayout" Target="../slideLayouts/slideLayout119.xml"/><Relationship Id="rId4" Type="http://schemas.openxmlformats.org/officeDocument/2006/relationships/slideLayout" Target="../slideLayouts/slideLayout120.xml"/><Relationship Id="rId5" Type="http://schemas.openxmlformats.org/officeDocument/2006/relationships/slideLayout" Target="../slideLayouts/slideLayout121.xml"/><Relationship Id="rId6" Type="http://schemas.openxmlformats.org/officeDocument/2006/relationships/slideLayout" Target="../slideLayouts/slideLayout122.xml"/><Relationship Id="rId7" Type="http://schemas.openxmlformats.org/officeDocument/2006/relationships/slideLayout" Target="../slideLayouts/slideLayout123.xml"/><Relationship Id="rId8" Type="http://schemas.openxmlformats.org/officeDocument/2006/relationships/slideLayout" Target="../slideLayouts/slideLayout124.xml"/><Relationship Id="rId9" Type="http://schemas.openxmlformats.org/officeDocument/2006/relationships/slideLayout" Target="../slideLayouts/slideLayout125.xml"/><Relationship Id="rId10" Type="http://schemas.openxmlformats.org/officeDocument/2006/relationships/slideLayout" Target="../slideLayouts/slideLayout126.xml"/><Relationship Id="rId11" Type="http://schemas.openxmlformats.org/officeDocument/2006/relationships/slideLayout" Target="../slideLayouts/slideLayout127.xml"/><Relationship Id="rId12"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slideLayout" Target="../slideLayouts/slideLayout129.xml"/><Relationship Id="rId3" Type="http://schemas.openxmlformats.org/officeDocument/2006/relationships/slideLayout" Target="../slideLayouts/slideLayout130.xml"/><Relationship Id="rId4" Type="http://schemas.openxmlformats.org/officeDocument/2006/relationships/slideLayout" Target="../slideLayouts/slideLayout131.xml"/><Relationship Id="rId5" Type="http://schemas.openxmlformats.org/officeDocument/2006/relationships/slideLayout" Target="../slideLayouts/slideLayout132.xml"/><Relationship Id="rId6" Type="http://schemas.openxmlformats.org/officeDocument/2006/relationships/slideLayout" Target="../slideLayouts/slideLayout133.xml"/><Relationship Id="rId7" Type="http://schemas.openxmlformats.org/officeDocument/2006/relationships/slideLayout" Target="../slideLayouts/slideLayout134.xml"/><Relationship Id="rId8" Type="http://schemas.openxmlformats.org/officeDocument/2006/relationships/slideLayout" Target="../slideLayouts/slideLayout135.xml"/><Relationship Id="rId9" Type="http://schemas.openxmlformats.org/officeDocument/2006/relationships/slideLayout" Target="../slideLayouts/slideLayout136.xml"/><Relationship Id="rId10" Type="http://schemas.openxmlformats.org/officeDocument/2006/relationships/slideLayout" Target="../slideLayouts/slideLayout137.xml"/><Relationship Id="rId11"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slideLayout" Target="../slideLayouts/slideLayout139.xml"/><Relationship Id="rId3" Type="http://schemas.openxmlformats.org/officeDocument/2006/relationships/slideLayout" Target="../slideLayouts/slideLayout140.xml"/><Relationship Id="rId4" Type="http://schemas.openxmlformats.org/officeDocument/2006/relationships/slideLayout" Target="../slideLayouts/slideLayout141.xml"/><Relationship Id="rId5" Type="http://schemas.openxmlformats.org/officeDocument/2006/relationships/slideLayout" Target="../slideLayouts/slideLayout142.xml"/><Relationship Id="rId6" Type="http://schemas.openxmlformats.org/officeDocument/2006/relationships/slideLayout" Target="../slideLayouts/slideLayout143.xml"/><Relationship Id="rId7" Type="http://schemas.openxmlformats.org/officeDocument/2006/relationships/slideLayout" Target="../slideLayouts/slideLayout144.xml"/><Relationship Id="rId8" Type="http://schemas.openxmlformats.org/officeDocument/2006/relationships/slideLayout" Target="../slideLayouts/slideLayout145.xml"/><Relationship Id="rId9" Type="http://schemas.openxmlformats.org/officeDocument/2006/relationships/slideLayout" Target="../slideLayouts/slideLayout146.xml"/><Relationship Id="rId10" Type="http://schemas.openxmlformats.org/officeDocument/2006/relationships/slideLayout" Target="../slideLayouts/slideLayout147.xml"/><Relationship Id="rId11" Type="http://schemas.openxmlformats.org/officeDocument/2006/relationships/slideLayout" Target="../slideLayouts/slideLayout148.xml"/><Relationship Id="rId12"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panose="020B0503020204020204" pitchFamily="34" charset="-122"/>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panose="020B0503020204020204" pitchFamily="34" charset="-122"/>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panose="020B0503020204020204" pitchFamily="34" charset="-122"/>
              </a:rPr>
            </a:fld>
            <a:endParaRPr lang="zh-CN" altLang="en-US" dirty="0">
              <a:solidFill>
                <a:prstClr val="black">
                  <a:tint val="75000"/>
                </a:prstClr>
              </a:solidFill>
              <a:ea typeface="微软雅黑" panose="020B0503020204020204" pitchFamily="34" charset="-122"/>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cs typeface="+mn-cs"/>
                <a:sym typeface="Arial" panose="020B0604020202020204" pitchFamily="34" charset="0"/>
              </a:rPr>
            </a:fld>
            <a:endParaRPr kumimoji="0" lang="zh-CN" altLang="en-US" sz="2400" b="0" i="0" u="none" strike="noStrike" kern="1200" cap="none" spc="0" normalizeH="0" baseline="0" noProof="0" dirty="0">
              <a:ln>
                <a:noFill/>
              </a:ln>
              <a:solidFill>
                <a:prstClr val="black">
                  <a:tint val="75000"/>
                </a:prstClr>
              </a:solidFill>
              <a:effectLst/>
              <a:uLnTx/>
              <a:uFillTx/>
              <a:latin typeface="微软雅黑" panose="020B0503020204020204" pitchFamily="34" charset="-122"/>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fld>
            <a:endParaRPr lang="zh-CN" altLang="en-US"/>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endParaRPr>
              <a:sym typeface="+mn-ea"/>
            </a:endParaRP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148.xml"/></Relationships>
</file>

<file path=ppt/slides/_rels/slide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46.xml"/><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4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430000" y="502920"/>
            <a:ext cx="12070080" cy="822960"/>
          </a:xfrm>
          <a:prstGeom prst="rect">
            <a:avLst/>
          </a:prstGeom>
          <a:noFill/>
        </p:spPr>
        <p:txBody>
          <a:bodyPr wrap="none">
            <a:spAutoFit/>
          </a:bodyPr>
          <a:lstStyle/>
          <a:p>
            <a:pPr algn="r"/>
            <a:r>
              <a:rPr sz="3200" b="1">
                <a:solidFill>
                  <a:srgbClr val="3C6CB3"/>
                </a:solidFill>
                <a:latin typeface="微软雅黑"/>
              </a:rPr>
              <a:t>Process-control improvements</a:t>
            </a:r>
          </a:p>
        </p:txBody>
      </p:sp>
      <p:sp>
        <p:nvSpPr>
          <p:cNvPr id="3" name="TextBox 2"/>
          <p:cNvSpPr txBox="1"/>
          <p:nvPr/>
        </p:nvSpPr>
        <p:spPr>
          <a:xfrm>
            <a:off x="2011680" y="2103120"/>
            <a:ext cx="20116800" cy="9601200"/>
          </a:xfrm>
          <a:prstGeom prst="rect">
            <a:avLst/>
          </a:prstGeom>
          <a:noFill/>
        </p:spPr>
        <p:txBody>
          <a:bodyPr wrap="square">
            <a:spAutoFit/>
          </a:bodyPr>
          <a:lstStyle/>
          <a:p>
            <a:pPr>
              <a:spcBef>
                <a:spcPts val="0"/>
              </a:spcBef>
              <a:spcAft>
                <a:spcPts val="200"/>
              </a:spcAft>
            </a:pPr>
            <a:r>
              <a:rPr sz="2800" b="1">
                <a:solidFill>
                  <a:srgbClr val="1C2833"/>
                </a:solidFill>
                <a:latin typeface="微软雅黑"/>
                <a:ea typeface="微软雅黑"/>
              </a:rPr>
              <a:t>The following work was completed to strengthen process control:</a:t>
            </a:r>
          </a:p>
          <a:p>
            <a:pPr lvl="1">
              <a:spcBef>
                <a:spcPts val="1000"/>
              </a:spcBef>
              <a:spcAft>
                <a:spcPts val="200"/>
              </a:spcAft>
            </a:pPr>
            <a:r>
              <a:rPr sz="2600" b="0">
                <a:solidFill>
                  <a:srgbClr val="1C2833"/>
                </a:solidFill>
                <a:latin typeface="微软雅黑"/>
                <a:ea typeface="微软雅黑"/>
              </a:rPr>
              <a:t>A mass flow meter and a sight glass were added on the iodine-solution transfer line.</a:t>
            </a:r>
          </a:p>
          <a:p>
            <a:pPr lvl="1">
              <a:spcBef>
                <a:spcPts val="600"/>
              </a:spcBef>
              <a:spcAft>
                <a:spcPts val="200"/>
              </a:spcAft>
            </a:pPr>
            <a:r>
              <a:rPr sz="2600" b="0">
                <a:solidFill>
                  <a:srgbClr val="1C2833"/>
                </a:solidFill>
                <a:latin typeface="微软雅黑"/>
                <a:ea typeface="微软雅黑"/>
              </a:rPr>
              <a:t>Supplemental verification of the synthesizer system low-temperature limit was completed.</a:t>
            </a:r>
          </a:p>
          <a:p>
            <a:pPr lvl="1">
              <a:spcBef>
                <a:spcPts val="600"/>
              </a:spcBef>
              <a:spcAft>
                <a:spcPts val="200"/>
              </a:spcAft>
            </a:pPr>
            <a:r>
              <a:rPr sz="2600" b="0">
                <a:solidFill>
                  <a:srgbClr val="1C2833"/>
                </a:solidFill>
                <a:latin typeface="微软雅黑"/>
                <a:ea typeface="微软雅黑"/>
              </a:rPr>
              <a:t>Synthesizer software was improved, including the reports and the displays.</a:t>
            </a:r>
          </a:p>
          <a:p>
            <a:pPr>
              <a:spcBef>
                <a:spcPts val="1600"/>
              </a:spcBef>
              <a:spcAft>
                <a:spcPts val="200"/>
              </a:spcAft>
            </a:pPr>
            <a:r>
              <a:rPr sz="2800" b="1">
                <a:solidFill>
                  <a:srgbClr val="1C2833"/>
                </a:solidFill>
                <a:latin typeface="微软雅黑"/>
                <a:ea typeface="微软雅黑"/>
              </a:rPr>
              <a:t>Principal improvements made at the client’s request:</a:t>
            </a:r>
          </a:p>
          <a:p>
            <a:pPr lvl="1">
              <a:spcBef>
                <a:spcPts val="1000"/>
              </a:spcBef>
              <a:spcAft>
                <a:spcPts val="200"/>
              </a:spcAft>
            </a:pPr>
            <a:r>
              <a:rPr sz="2600" b="0">
                <a:solidFill>
                  <a:srgbClr val="1C2833"/>
                </a:solidFill>
                <a:latin typeface="微软雅黑"/>
                <a:ea typeface="微软雅黑"/>
              </a:rPr>
              <a:t>Operator confirmation was added for waste discharge and system transfer. The tuning-fork level switch and the PLC software were modified and verified.</a:t>
            </a:r>
          </a:p>
          <a:p>
            <a:pPr lvl="1">
              <a:spcBef>
                <a:spcPts val="600"/>
              </a:spcBef>
              <a:spcAft>
                <a:spcPts val="200"/>
              </a:spcAft>
            </a:pPr>
            <a:r>
              <a:rPr sz="2600" b="0">
                <a:solidFill>
                  <a:srgbClr val="1C2833"/>
                </a:solidFill>
                <a:latin typeface="微软雅黑"/>
                <a:ea typeface="微软雅黑"/>
              </a:rPr>
              <a:t>Peristaltic-pump tubing is not compatible with prolonged DIC/DIPEA contact, so transfer was changed to a metering pump.</a:t>
            </a:r>
          </a:p>
          <a:p>
            <a:pPr lvl="1">
              <a:spcBef>
                <a:spcPts val="600"/>
              </a:spcBef>
              <a:spcAft>
                <a:spcPts val="200"/>
              </a:spcAft>
            </a:pPr>
            <a:r>
              <a:rPr sz="2600" b="0">
                <a:solidFill>
                  <a:srgbClr val="1C2833"/>
                </a:solidFill>
                <a:latin typeface="微软雅黑"/>
                <a:ea typeface="微软雅黑"/>
              </a:rPr>
              <a:t>Process piping, the deprotection preparation vessel, and ancillary equipment were passivated and inspected, then cleaned and tested.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en-US" altLang="zh-CN" sz="4400" dirty="0">
                <a:solidFill>
                  <a:schemeClr val="accent1">
                    <a:lumMod val="50000"/>
                  </a:schemeClr>
                </a:solidFill>
              </a:rPr>
              <a:t>Spray-ball installation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5" name="文本框 4"/>
          <p:cNvSpPr txBox="1"/>
          <p:nvPr/>
        </p:nvSpPr>
        <p:spPr>
          <a:xfrm>
            <a:off x="1931130" y="1990988"/>
            <a:ext cx="17538584" cy="1015663"/>
          </a:xfrm>
          <a:prstGeom prst="rect">
            <a:avLst/>
          </a:prstGeom>
          <a:noFill/>
        </p:spPr>
        <p:txBody>
          <a:bodyPr wrap="none" rtlCol="0">
            <a:spAutoFit/>
          </a:bodyPr>
          <a:lstStyle/>
          <a:p>
            <a:pPr lvl="0"/>
            <a:r>
              <a:rPr lang="en-US" altLang="zh-CN" sz="3200" dirty="0" smtClean="0">
                <a:solidFill>
                  <a:schemeClr val="tx1"/>
                </a:solidFill>
                <a:latin typeface="+mn-lt"/>
                <a:ea typeface="+mn-ea"/>
              </a:rPr>
              <a:t>1. Spray-ball installation, coverage test, riboflavin cleaning, and particulate check for AT09/AT01.</a:t>
            </a:r>
            <a:r>
              <a:rPr lang="en-US" altLang="zh-CN" sz="3200" dirty="0">
                <a:solidFill>
                  <a:schemeClr val="tx1"/>
                </a:solidFill>
                <a:latin typeface="+mn-lt"/>
                <a:ea typeface="+mn-ea"/>
              </a:rPr>
              <a:t/>
            </a:r>
            <a:endParaRPr lang="zh-CN" altLang="zh-CN" sz="3200" dirty="0">
              <a:solidFill>
                <a:schemeClr val="tx1"/>
              </a:solidFill>
              <a:latin typeface="+mn-lt"/>
              <a:ea typeface="+mn-ea"/>
            </a:endParaRPr>
          </a:p>
          <a:p>
            <a:endParaRPr lang="zh-CN" altLang="en-US" sz="2800" dirty="0"/>
          </a:p>
        </p:txBody>
      </p:sp>
      <p:sp>
        <p:nvSpPr>
          <p:cNvPr id="3" name="矩形 2"/>
          <p:cNvSpPr/>
          <p:nvPr/>
        </p:nvSpPr>
        <p:spPr>
          <a:xfrm>
            <a:off x="1575530" y="3006651"/>
            <a:ext cx="21436870" cy="4709160"/>
          </a:xfrm>
          <a:prstGeom prst="rect">
            <a:avLst/>
          </a:prstGeom>
        </p:spPr>
        <p:txBody>
          <a:bodyPr wrap="square">
            <a:spAutoFit/>
          </a:bodyPr>
          <a:lstStyle/>
          <a:p>
            <a:r>
              <a:rPr lang="en-US" altLang="zh-CN" sz="3200" dirty="0">
                <a:solidFill>
                  <a:srgbClr val="0000FF"/>
                </a:solidFill>
                <a:latin typeface="+mn-lt"/>
                <a:ea typeface="+mn-ea"/>
              </a:rPr>
              <a:t>ASYM</a:t>
            </a:r>
            <a:r>
              <a:rPr lang="en-US" altLang="zh-CN" sz="3200" dirty="0" smtClean="0">
                <a:solidFill>
                  <a:srgbClr val="0000FF"/>
                </a:solidFill>
                <a:latin typeface="+mn-lt"/>
                <a:ea typeface="+mn-ea"/>
              </a:rPr>
              <a:t>:</a:t>
            </a:r>
            <a:endParaRPr lang="en-US" altLang="zh-CN" sz="3200" dirty="0" smtClean="0">
              <a:solidFill>
                <a:srgbClr val="0000FF"/>
              </a:solidFill>
              <a:latin typeface="+mn-lt"/>
              <a:ea typeface="+mn-ea"/>
            </a:endParaRPr>
          </a:p>
          <a:p>
            <a:r>
              <a:rPr lang="en-US" altLang="zh-CN" sz="3200" dirty="0" smtClean="0">
                <a:solidFill>
                  <a:srgbClr val="0000FF"/>
                </a:solidFill>
                <a:latin typeface="+mn-lt"/>
                <a:ea typeface="+mn-ea"/>
              </a:rPr>
              <a:t>1</a:t>
            </a:r>
            <a:r>
              <a:rPr lang="en-US" altLang="zh-CN" sz="3200" dirty="0">
                <a:solidFill>
                  <a:srgbClr val="0000FF"/>
                </a:solidFill>
                <a:latin typeface="+mn-lt"/>
                <a:ea typeface="+mn-ea"/>
              </a:rPr>
              <a:t>. A stainless steel spray ball was used for the spray coverage test on mixing vessel AT09. Iodine is not compatible with prolonged stainless-steel contact, so this spray ball will be used only as a temporary accessory and will not remain in the vessel</a:t>
            </a:r>
            <a:r>
              <a:rPr lang="en-US" altLang="zh-CN" sz="3200" dirty="0" smtClean="0">
                <a:solidFill>
                  <a:srgbClr val="0000FF"/>
                </a:solidFill>
                <a:latin typeface="+mn-lt"/>
                <a:ea typeface="+mn-ea"/>
              </a:rPr>
              <a:t>.</a:t>
            </a:r>
            <a:endParaRPr lang="en-US" altLang="zh-CN" sz="3200" dirty="0" smtClean="0">
              <a:solidFill>
                <a:srgbClr val="0000FF"/>
              </a:solidFill>
              <a:latin typeface="+mn-lt"/>
              <a:ea typeface="+mn-ea"/>
            </a:endParaRPr>
          </a:p>
          <a:p>
            <a:r>
              <a:rPr lang="en-US" altLang="zh-CN" sz="3200" dirty="0">
                <a:solidFill>
                  <a:srgbClr val="0000FF"/>
                </a:solidFill>
                <a:latin typeface="+mn-lt"/>
                <a:ea typeface="+mn-ea"/>
              </a:rPr>
              <a:t>2. A PTFE spray ball has been purchased for mixing vessel AT09, following Lilly's recommendation and material-compatibility assessment. Given the project timeline, we recommend a trial run and completion of the supplemental spray-coverage verification and cleaning confirmation before this vessel is used for the project</a:t>
            </a:r>
            <a:r>
              <a:rPr lang="en-US" altLang="zh-CN" sz="3200" dirty="0" smtClean="0">
                <a:solidFill>
                  <a:srgbClr val="0000FF"/>
                </a:solidFill>
                <a:latin typeface="+mn-lt"/>
                <a:ea typeface="+mn-ea"/>
              </a:rPr>
              <a:t>.</a:t>
            </a:r>
            <a:endParaRPr lang="en-US" altLang="zh-CN" sz="3200" dirty="0" smtClean="0">
              <a:solidFill>
                <a:srgbClr val="0000FF"/>
              </a:solidFill>
              <a:latin typeface="+mn-lt"/>
              <a:ea typeface="+mn-ea"/>
            </a:endParaRPr>
          </a:p>
          <a:p>
            <a:r>
              <a:rPr lang="en-US" altLang="zh-CN" sz="3200" dirty="0">
                <a:solidFill>
                  <a:srgbClr val="0000FF"/>
                </a:solidFill>
                <a:latin typeface="+mn-lt"/>
                <a:ea typeface="+mn-ea"/>
              </a:rPr>
              <a:t>Proposed completion date: 10/20/2026</a:t>
            </a:r>
            <a:r>
              <a:rPr lang="en-US" altLang="zh-CN" sz="3200" dirty="0" smtClean="0">
                <a:solidFill>
                  <a:srgbClr val="0000FF"/>
                </a:solidFill>
                <a:latin typeface="+mn-lt"/>
                <a:ea typeface="+mn-ea"/>
              </a:rPr>
              <a:t/>
            </a:r>
            <a:endParaRPr lang="en-US" altLang="zh-CN" sz="3200" dirty="0" smtClean="0">
              <a:solidFill>
                <a:srgbClr val="0000FF"/>
              </a:solidFill>
              <a:latin typeface="+mn-lt"/>
              <a:ea typeface="+mn-ea"/>
            </a:endParaRPr>
          </a:p>
          <a:p>
            <a:r>
              <a:rPr lang="en-US" altLang="zh-CN" sz="3200" dirty="0">
                <a:solidFill>
                  <a:srgbClr val="0000FF"/>
                </a:solidFill>
                <a:latin typeface="+mn-lt"/>
                <a:ea typeface="+mn-ea"/>
              </a:rPr>
              <a:t>3. Mixing vessel AT01 is equipped with a spray ball and has completed spray coverage testing. The missing on-site identification tag has been corrected. </a:t>
            </a:r>
            <a:endParaRPr lang="zh-CN" altLang="en-US" sz="3200" dirty="0">
              <a:solidFill>
                <a:srgbClr val="0000FF"/>
              </a:solidFill>
              <a:latin typeface="+mn-lt"/>
              <a:ea typeface="+mn-ea"/>
            </a:endParaRPr>
          </a:p>
        </p:txBody>
      </p:sp>
      <p:grpSp>
        <p:nvGrpSpPr>
          <p:cNvPr id="8" name="组合 7"/>
          <p:cNvGrpSpPr/>
          <p:nvPr/>
        </p:nvGrpSpPr>
        <p:grpSpPr>
          <a:xfrm>
            <a:off x="19860768" y="9103843"/>
            <a:ext cx="3320866" cy="3945467"/>
            <a:chOff x="9436100" y="9143999"/>
            <a:chExt cx="2959100" cy="3945467"/>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36100" y="9143999"/>
              <a:ext cx="2959100" cy="3945467"/>
            </a:xfrm>
            <a:prstGeom prst="rect">
              <a:avLst/>
            </a:prstGeom>
          </p:spPr>
        </p:pic>
        <p:sp>
          <p:nvSpPr>
            <p:cNvPr id="7" name="文本框 6"/>
            <p:cNvSpPr txBox="1"/>
            <p:nvPr/>
          </p:nvSpPr>
          <p:spPr>
            <a:xfrm>
              <a:off x="9906000" y="12649200"/>
              <a:ext cx="2119683" cy="400110"/>
            </a:xfrm>
            <a:prstGeom prst="rect">
              <a:avLst/>
            </a:prstGeom>
            <a:noFill/>
          </p:spPr>
          <p:txBody>
            <a:bodyPr wrap="none" rtlCol="0">
              <a:spAutoFit/>
            </a:bodyPr>
            <a:lstStyle/>
            <a:p>
              <a:r>
                <a:rPr lang="en-US" altLang="zh-CN" dirty="0" smtClean="0">
                  <a:solidFill>
                    <a:srgbClr val="FF0000"/>
                  </a:solidFill>
                </a:rPr>
                <a:t>TJ4S-1200-AT01</a:t>
              </a:r>
              <a:endParaRPr lang="zh-CN" altLang="en-US" dirty="0">
                <a:solidFill>
                  <a:srgbClr val="FF0000"/>
                </a:solidFill>
              </a:endParaRPr>
            </a:p>
          </p:txBody>
        </p:sp>
      </p:grpSp>
      <p:grpSp>
        <p:nvGrpSpPr>
          <p:cNvPr id="11" name="组合 10"/>
          <p:cNvGrpSpPr/>
          <p:nvPr/>
        </p:nvGrpSpPr>
        <p:grpSpPr>
          <a:xfrm>
            <a:off x="13953744" y="9103843"/>
            <a:ext cx="5499679" cy="3811281"/>
            <a:chOff x="8302961" y="9397928"/>
            <a:chExt cx="5101553" cy="3411171"/>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02961" y="9397928"/>
              <a:ext cx="2558378" cy="3411171"/>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1339" y="9418199"/>
              <a:ext cx="2543175" cy="3390900"/>
            </a:xfrm>
            <a:prstGeom prst="rect">
              <a:avLst/>
            </a:prstGeom>
          </p:spPr>
        </p:pic>
        <p:sp>
          <p:nvSpPr>
            <p:cNvPr id="10" name="文本框 9"/>
            <p:cNvSpPr txBox="1"/>
            <p:nvPr/>
          </p:nvSpPr>
          <p:spPr>
            <a:xfrm>
              <a:off x="8639320" y="12361334"/>
              <a:ext cx="4444037" cy="400110"/>
            </a:xfrm>
            <a:prstGeom prst="rect">
              <a:avLst/>
            </a:prstGeom>
            <a:noFill/>
          </p:spPr>
          <p:txBody>
            <a:bodyPr wrap="none" rtlCol="0">
              <a:spAutoFit/>
            </a:bodyPr>
            <a:lstStyle/>
            <a:p>
              <a:r>
                <a:rPr lang="en-US" altLang="zh-CN" dirty="0">
                  <a:solidFill>
                    <a:srgbClr val="FF0000"/>
                  </a:solidFill>
                </a:rPr>
                <a:t>TJ4S-1213-AT09</a:t>
              </a:r>
              <a:r>
                <a:rPr lang="en-US" altLang="zh-CN" dirty="0">
                  <a:solidFill>
                    <a:srgbClr val="FF0000"/>
                  </a:solidFill>
                </a:rPr>
                <a:t>Dedicated spray ball</a:t>
              </a:r>
              <a:endParaRPr lang="zh-CN" altLang="en-US" dirty="0">
                <a:solidFill>
                  <a:srgbClr val="FF0000"/>
                </a:solidFill>
              </a:endParaRPr>
            </a:p>
          </p:txBody>
        </p:sp>
      </p:grpSp>
      <p:sp>
        <p:nvSpPr>
          <p:cNvPr id="12" name="TextBox 11"/>
          <p:cNvSpPr txBox="1"/>
          <p:nvPr/>
        </p:nvSpPr>
        <p:spPr>
          <a:xfrm>
            <a:off x="1587166" y="8275320"/>
            <a:ext cx="17862786" cy="640080"/>
          </a:xfrm>
          <a:prstGeom prst="rect">
            <a:avLst/>
          </a:prstGeom>
          <a:noFill/>
        </p:spPr>
        <p:txBody>
          <a:bodyPr wrap="square">
            <a:spAutoFit/>
          </a:bodyPr>
          <a:lstStyle/>
          <a:p>
            <a:r>
              <a:rPr sz="2400">
                <a:solidFill>
                  <a:srgbClr val="FF0000"/>
                </a:solidFill>
                <a:latin typeface="微软雅黑"/>
                <a:ea typeface="微软雅黑"/>
              </a:rPr>
              <a:t>Fixing the spray ball in place would add 2 days for verification and cleaning. We recommend keeping the current rinse method.</a:t>
            </a:r>
          </a:p>
        </p:txBody>
      </p:sp>
      <p:graphicFrame>
        <p:nvGraphicFramePr>
          <p:cNvPr id="12" name="表格 11"/>
          <p:cNvGraphicFramePr>
            <a:graphicFrameLocks noGrp="1"/>
          </p:cNvGraphicFramePr>
          <p:nvPr>
            <p:extLst>
              <p:ext uri="{D42A27DB-BD31-4B8C-83A1-F6EECF244321}">
                <p14:modId xmlns:p14="http://schemas.microsoft.com/office/powerpoint/2010/main" val="272780038"/>
              </p:ext>
            </p:extLst>
          </p:nvPr>
        </p:nvGraphicFramePr>
        <p:xfrm>
          <a:off x="1587166" y="9836728"/>
          <a:ext cx="11573024" cy="2996960"/>
        </p:xfrm>
        <a:graphic>
          <a:graphicData uri="http://schemas.openxmlformats.org/drawingml/2006/table">
            <a:tbl>
              <a:tblPr/>
              <a:tblGrid>
                <a:gridCol w="1479884">
                  <a:extLst>
                    <a:ext uri="{9D8B030D-6E8A-4147-A177-3AD203B41FA5}">
                      <a16:colId xmlns:a16="http://schemas.microsoft.com/office/drawing/2014/main" val="4231785485"/>
                    </a:ext>
                  </a:extLst>
                </a:gridCol>
                <a:gridCol w="1891048">
                  <a:extLst>
                    <a:ext uri="{9D8B030D-6E8A-4147-A177-3AD203B41FA5}">
                      <a16:colId xmlns:a16="http://schemas.microsoft.com/office/drawing/2014/main" val="1118872730"/>
                    </a:ext>
                  </a:extLst>
                </a:gridCol>
                <a:gridCol w="842991">
                  <a:extLst>
                    <a:ext uri="{9D8B030D-6E8A-4147-A177-3AD203B41FA5}">
                      <a16:colId xmlns:a16="http://schemas.microsoft.com/office/drawing/2014/main" val="4186127771"/>
                    </a:ext>
                  </a:extLst>
                </a:gridCol>
                <a:gridCol w="1221428">
                  <a:extLst>
                    <a:ext uri="{9D8B030D-6E8A-4147-A177-3AD203B41FA5}">
                      <a16:colId xmlns:a16="http://schemas.microsoft.com/office/drawing/2014/main" val="1760775270"/>
                    </a:ext>
                  </a:extLst>
                </a:gridCol>
                <a:gridCol w="1221428">
                  <a:extLst>
                    <a:ext uri="{9D8B030D-6E8A-4147-A177-3AD203B41FA5}">
                      <a16:colId xmlns:a16="http://schemas.microsoft.com/office/drawing/2014/main" val="3188875527"/>
                    </a:ext>
                  </a:extLst>
                </a:gridCol>
                <a:gridCol w="2108984">
                  <a:extLst>
                    <a:ext uri="{9D8B030D-6E8A-4147-A177-3AD203B41FA5}">
                      <a16:colId xmlns:a16="http://schemas.microsoft.com/office/drawing/2014/main" val="4178731468"/>
                    </a:ext>
                  </a:extLst>
                </a:gridCol>
                <a:gridCol w="1585833">
                  <a:extLst>
                    <a:ext uri="{9D8B030D-6E8A-4147-A177-3AD203B41FA5}">
                      <a16:colId xmlns:a16="http://schemas.microsoft.com/office/drawing/2014/main" val="4290337702"/>
                    </a:ext>
                  </a:extLst>
                </a:gridCol>
                <a:gridCol w="1221428">
                  <a:extLst>
                    <a:ext uri="{9D8B030D-6E8A-4147-A177-3AD203B41FA5}">
                      <a16:colId xmlns:a16="http://schemas.microsoft.com/office/drawing/2014/main" val="3178622526"/>
                    </a:ext>
                  </a:extLst>
                </a:gridCol>
              </a:tblGrid>
              <a:tr h="749240">
                <a:tc gridSpan="8">
                  <a:txBody>
                    <a:bodyPr/>
                    <a:lstStyle/>
                    <a:p>
                      <a:pPr algn="ctr" fontAlgn="ctr"/>
                      <a:r>
                        <a:rPr lang="zh-CN" altLang="en-US" sz="2400" b="1" i="0" u="none" strike="noStrike" dirty="0">
                          <a:solidFill>
                            <a:srgbClr val="FFFFFF"/>
                          </a:solidFill>
                          <a:effectLst/>
                          <a:latin typeface="微软雅黑" panose="020B0503020204020204" pitchFamily="34" charset="-122"/>
                          <a:ea typeface="微软雅黑" panose="020B0503020204020204" pitchFamily="34" charset="-122"/>
                        </a:rPr>
                        <a:t>Verification Plan and Material-Feed Schedule Evaluation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749240">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Plan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Plan 1</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Rinse coverage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dirty="0" err="1">
                          <a:solidFill>
                            <a:srgbClr val="000000"/>
                          </a:solidFill>
                          <a:effectLst/>
                          <a:latin typeface="微软雅黑" panose="020B0503020204020204" pitchFamily="34" charset="-122"/>
                          <a:ea typeface="微软雅黑" panose="020B0503020204020204" pitchFamily="34" charset="-122"/>
                        </a:rPr>
                        <a:t>CMa</a:t>
                      </a:r>
                      <a:endParaRPr 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Feed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423112"/>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Plan 2</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dirty="0" err="1">
                          <a:solidFill>
                            <a:srgbClr val="000000"/>
                          </a:solidFill>
                          <a:effectLst/>
                          <a:latin typeface="微软雅黑" panose="020B0503020204020204" pitchFamily="34" charset="-122"/>
                          <a:ea typeface="微软雅黑" panose="020B0503020204020204" pitchFamily="34" charset="-122"/>
                        </a:rPr>
                        <a:t>CMa</a:t>
                      </a:r>
                      <a:endParaRPr 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kern="1200" dirty="0">
                          <a:solidFill>
                            <a:srgbClr val="0070C0"/>
                          </a:solidFill>
                          <a:effectLst/>
                          <a:latin typeface="微软雅黑" panose="020B0503020204020204" pitchFamily="34" charset="-122"/>
                          <a:ea typeface="微软雅黑" panose="020B0503020204020204" pitchFamily="34" charset="-122"/>
                          <a:cs typeface="+mn-cs"/>
                        </a:rPr>
                        <a:t>Feed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9985861"/>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normAutofit fontScale="75000" lnSpcReduction="20000"/>
          </a:bodyPr>
          <a:lstStyle/>
          <a:p>
            <a:pPr>
              <a:defRPr/>
            </a:pPr>
            <a:r>
              <a:rPr lang="en-US" altLang="zh-CN" dirty="0"/>
              <a:t>-</a:t>
            </a:r>
            <a:fld id="{FAEDECE0-B3E3-4E93-9B91-9F10B30F5B07}" type="slidenum">
              <a:rPr lang="en-US" altLang="zh-CN" smtClean="0"/>
            </a:fld>
            <a:r>
              <a:rPr lang="en-US" altLang="zh-CN" dirty="0"/>
              <a:t>-</a:t>
            </a:r>
            <a:endParaRPr lang="zh-CN" altLang="en-US" dirty="0"/>
          </a:p>
        </p:txBody>
      </p:sp>
      <p:sp>
        <p:nvSpPr>
          <p:cNvPr id="2" name="文本框 1"/>
          <p:cNvSpPr txBox="1"/>
          <p:nvPr/>
        </p:nvSpPr>
        <p:spPr>
          <a:xfrm>
            <a:off x="16831896" y="714644"/>
            <a:ext cx="7315200" cy="769441"/>
          </a:xfrm>
          <a:prstGeom prst="rect">
            <a:avLst/>
          </a:prstGeom>
          <a:noFill/>
        </p:spPr>
        <p:txBody>
          <a:bodyPr wrap="square" rtlCol="0">
            <a:spAutoFit/>
          </a:bodyPr>
          <a:lstStyle/>
          <a:p>
            <a:r>
              <a:rPr lang="en-US" altLang="zh-CN" sz="2400" b="1" dirty="0" smtClean="0">
                <a:solidFill>
                  <a:srgbClr val="3C6CB3"/>
                </a:solidFill>
                <a:latin typeface="+mj-ea"/>
                <a:ea typeface="+mj-ea"/>
              </a:rPr>
              <a:t>SPPS option review</a:t>
            </a:r>
            <a:endParaRPr lang="zh-CN" altLang="en-US" sz="2400" b="1" dirty="0">
              <a:solidFill>
                <a:srgbClr val="3C6CB3"/>
              </a:solidFill>
              <a:latin typeface="+mj-ea"/>
              <a:ea typeface="+mj-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0449" y="2652774"/>
            <a:ext cx="12472667" cy="6028530"/>
          </a:xfrm>
          <a:prstGeom prst="rect">
            <a:avLst/>
          </a:prstGeom>
        </p:spPr>
      </p:pic>
      <p:sp>
        <p:nvSpPr>
          <p:cNvPr id="3" name="文本框 2"/>
          <p:cNvSpPr txBox="1"/>
          <p:nvPr/>
        </p:nvSpPr>
        <p:spPr>
          <a:xfrm>
            <a:off x="2777706" y="4917355"/>
            <a:ext cx="6745856" cy="1017917"/>
          </a:xfrm>
          <a:prstGeom prst="rect">
            <a:avLst/>
          </a:prstGeom>
          <a:noFill/>
          <a:ln>
            <a:solidFill>
              <a:srgbClr val="FF0000"/>
            </a:solidFill>
          </a:ln>
        </p:spPr>
        <p:txBody>
          <a:bodyPr wrap="square" rtlCol="0">
            <a:spAutoFit/>
          </a:bodyPr>
          <a:lstStyle/>
          <a:p>
            <a:endParaRPr lang="zh-CN" altLang="en-US" dirty="0"/>
          </a:p>
        </p:txBody>
      </p:sp>
      <p:graphicFrame>
        <p:nvGraphicFramePr>
          <p:cNvPr id="5" name="表格 4"/>
          <p:cNvGraphicFramePr>
            <a:graphicFrameLocks noGrp="1"/>
          </p:cNvGraphicFramePr>
          <p:nvPr/>
        </p:nvGraphicFramePr>
        <p:xfrm>
          <a:off x="490451" y="8591424"/>
          <a:ext cx="12472665" cy="2743200"/>
        </p:xfrm>
        <a:graphic>
          <a:graphicData uri="http://schemas.openxmlformats.org/drawingml/2006/table">
            <a:tbl>
              <a:tblPr/>
              <a:tblGrid>
                <a:gridCol w="1316377"/>
                <a:gridCol w="2316598"/>
                <a:gridCol w="908522"/>
                <a:gridCol w="1316377"/>
                <a:gridCol w="1316377"/>
                <a:gridCol w="1998980"/>
                <a:gridCol w="1807845"/>
                <a:gridCol w="1491589"/>
              </a:tblGrid>
              <a:tr h="914906">
                <a:tc gridSpan="8">
                  <a:txBody>
                    <a:bodyPr/>
                    <a:lstStyle/>
                    <a:p>
                      <a:pPr algn="ctr" fontAlgn="ctr"/>
                      <a:r>
                        <a:rPr lang="zh-CN" altLang="en-US" sz="2000" b="1" i="0" u="none" strike="noStrike">
                          <a:solidFill>
                            <a:srgbClr val="FFFFFF"/>
                          </a:solidFill>
                          <a:effectLst/>
                          <a:latin typeface="微软雅黑" panose="020B0503020204020204" pitchFamily="34" charset="-122"/>
                          <a:ea typeface="微软雅黑" panose="020B0503020204020204" pitchFamily="34" charset="-122"/>
                        </a:rPr>
                        <a:t>Verification Plan and Material-Feed Schedule Evaluation</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p/>
                  </a:txBody>
                  <a:tcPr/>
                </a:tc>
                <a:tc hMerge="1">
                  <a:txBody>
                    <a:bodyPr/>
                    <a:p/>
                  </a:txBody>
                  <a:tcPr/>
                </a:tc>
                <a:tc hMerge="1">
                  <a:txBody>
                    <a:bodyPr/>
                    <a:p/>
                  </a:txBody>
                  <a:tcPr/>
                </a:tc>
                <a:tc hMerge="1">
                  <a:txBody>
                    <a:bodyPr/>
                    <a:p/>
                  </a:txBody>
                  <a:tcPr/>
                </a:tc>
                <a:tc hMerge="1">
                  <a:txBody>
                    <a:bodyPr/>
                    <a:p/>
                  </a:txBody>
                  <a:tcPr/>
                </a:tc>
                <a:tc hMerge="1">
                  <a:txBody>
                    <a:bodyPr/>
                    <a:p/>
                  </a:txBody>
                  <a:tcPr/>
                </a:tc>
                <a:tc hMerge="1">
                  <a:txBody>
                    <a:bodyPr/>
                    <a:p/>
                  </a:txBody>
                  <a:tcPr/>
                </a:tc>
              </a:tr>
              <a:tr h="914906">
                <a:tc>
                  <a:txBody>
                    <a:bodyPr/>
                    <a:lstStyle/>
                    <a:p>
                      <a:pPr algn="ctr" fontAlgn="ctr"/>
                      <a:r>
                        <a:rPr lang="zh-CN" altLang="en-US" sz="2000" b="1" i="0" u="none" strike="noStrike">
                          <a:solidFill>
                            <a:srgbClr val="FFFFFF"/>
                          </a:solidFill>
                          <a:effectLst/>
                          <a:latin typeface="微软雅黑" panose="020B0503020204020204" pitchFamily="34" charset="-122"/>
                          <a:ea typeface="微软雅黑" panose="020B0503020204020204" pitchFamily="34" charset="-122"/>
                        </a:rPr>
                        <a:t>Plan</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20</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21</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22</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23</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24</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25</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000" b="1" i="0" u="none" strike="noStrike">
                          <a:solidFill>
                            <a:srgbClr val="FFFFFF"/>
                          </a:solidFill>
                          <a:effectLst/>
                          <a:latin typeface="微软雅黑" panose="020B0503020204020204" pitchFamily="34" charset="-122"/>
                          <a:ea typeface="微软雅黑" panose="020B0503020204020204" pitchFamily="34" charset="-122"/>
                        </a:rPr>
                        <a:t>26</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r>
              <a:tr h="914906">
                <a:tc>
                  <a:txBody>
                    <a:bodyPr/>
                    <a:lstStyle/>
                    <a:p>
                      <a:pPr algn="ctr" fontAlgn="ctr"/>
                      <a:r>
                        <a:rPr lang="zh-CN" altLang="en-US" sz="2000" b="0" i="0" u="none" strike="noStrike" dirty="0" smtClean="0">
                          <a:solidFill>
                            <a:srgbClr val="000000"/>
                          </a:solidFill>
                          <a:effectLst/>
                          <a:latin typeface="微软雅黑" panose="020B0503020204020204" pitchFamily="34" charset="-122"/>
                          <a:ea typeface="微软雅黑" panose="020B0503020204020204" pitchFamily="34" charset="-122"/>
                        </a:rPr>
                        <a:t>Plan 1</a:t>
                      </a:r>
                      <a:endParaRPr lang="en-US" altLang="zh-CN" sz="2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000" b="0" i="0" u="none" strike="noStrike">
                          <a:solidFill>
                            <a:srgbClr val="000000"/>
                          </a:solidFill>
                          <a:effectLst/>
                          <a:latin typeface="微软雅黑" panose="020B0503020204020204" pitchFamily="34" charset="-122"/>
                          <a:ea typeface="微软雅黑" panose="020B0503020204020204" pitchFamily="34" charset="-122"/>
                        </a:rPr>
                        <a:t>Software Upgrade</a:t>
                      </a:r>
                      <a:endParaRPr lang="zh-CN" altLang="en-US" sz="2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000" b="0" i="0" u="none" strike="noStrike">
                          <a:solidFill>
                            <a:srgbClr val="000000"/>
                          </a:solidFill>
                          <a:effectLst/>
                          <a:latin typeface="微软雅黑" panose="020B0503020204020204" pitchFamily="34" charset="-122"/>
                          <a:ea typeface="微软雅黑" panose="020B0503020204020204" pitchFamily="34" charset="-122"/>
                        </a:rPr>
                        <a:t>Verification</a:t>
                      </a:r>
                      <a:endParaRPr lang="zh-CN" altLang="en-US" sz="2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p/>
                  </a:txBody>
                  <a:tcPr/>
                </a:tc>
                <a:tc gridSpan="2">
                  <a:txBody>
                    <a:bodyPr/>
                    <a:lstStyle/>
                    <a:p>
                      <a:pPr algn="ctr" fontAlgn="ctr"/>
                      <a:r>
                        <a:rPr lang="zh-CN" altLang="en-US" sz="2000" b="0" i="0" u="none" strike="noStrike">
                          <a:solidFill>
                            <a:srgbClr val="000000"/>
                          </a:solidFill>
                          <a:effectLst/>
                          <a:latin typeface="微软雅黑" panose="020B0503020204020204" pitchFamily="34" charset="-122"/>
                          <a:ea typeface="微软雅黑" panose="020B0503020204020204" pitchFamily="34" charset="-122"/>
                        </a:rPr>
                        <a:t>Iodine Trial Run</a:t>
                      </a:r>
                      <a:endParaRPr lang="zh-CN" altLang="en-US" sz="2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p/>
                  </a:txBody>
                  <a:tcPr/>
                </a:tc>
                <a:tc>
                  <a:txBody>
                    <a:bodyPr/>
                    <a:lstStyle/>
                    <a:p>
                      <a:pPr algn="ctr" fontAlgn="ctr"/>
                      <a:r>
                        <a:rPr lang="en-US" sz="2000" b="0" i="0" u="none" strike="noStrike">
                          <a:solidFill>
                            <a:srgbClr val="000000"/>
                          </a:solidFill>
                          <a:effectLst/>
                          <a:latin typeface="微软雅黑" panose="020B0503020204020204" pitchFamily="34" charset="-122"/>
                          <a:ea typeface="微软雅黑" panose="020B0503020204020204" pitchFamily="34" charset="-122"/>
                        </a:rPr>
                        <a:t>CMa</a:t>
                      </a:r>
                      <a:endParaRPr lang="en-US" sz="2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000" b="1" i="0" u="none" strike="noStrike" dirty="0">
                          <a:solidFill>
                            <a:srgbClr val="0070C0"/>
                          </a:solidFill>
                          <a:effectLst/>
                          <a:latin typeface="微软雅黑" panose="020B0503020204020204" pitchFamily="34" charset="-122"/>
                          <a:ea typeface="微软雅黑" panose="020B0503020204020204" pitchFamily="34" charset="-122"/>
                        </a:rPr>
                        <a:t>Feed</a:t>
                      </a:r>
                      <a:endParaRPr lang="zh-CN" altLang="en-US" sz="2000" b="1" i="0" u="none" strike="noStrike" dirty="0">
                        <a:solidFill>
                          <a:srgbClr val="0070C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文本框 6"/>
          <p:cNvSpPr txBox="1"/>
          <p:nvPr/>
        </p:nvSpPr>
        <p:spPr>
          <a:xfrm>
            <a:off x="13646989" y="2486968"/>
            <a:ext cx="4744528" cy="521970"/>
          </a:xfrm>
          <a:prstGeom prst="rect">
            <a:avLst/>
          </a:prstGeom>
          <a:noFill/>
        </p:spPr>
        <p:txBody>
          <a:bodyPr wrap="square" rtlCol="0">
            <a:spAutoFit/>
          </a:bodyPr>
          <a:lstStyle/>
          <a:p>
            <a:r>
              <a:rPr lang="zh-CN" altLang="en-US" sz="2800" b="1" dirty="0" smtClean="0">
                <a:solidFill>
                  <a:srgbClr val="0070C0"/>
                </a:solidFill>
                <a:latin typeface="+mj-ea"/>
                <a:ea typeface="+mj-ea"/>
              </a:rPr>
              <a:t>Evaluation of each plan</a:t>
            </a:r>
            <a:endParaRPr lang="zh-CN" altLang="en-US" sz="2800" b="1" dirty="0" smtClean="0">
              <a:solidFill>
                <a:srgbClr val="0070C0"/>
              </a:solidFill>
              <a:latin typeface="+mj-ea"/>
              <a:ea typeface="+mj-ea"/>
            </a:endParaRPr>
          </a:p>
        </p:txBody>
      </p:sp>
      <p:sp>
        <p:nvSpPr>
          <p:cNvPr id="8" name="矩形 7"/>
          <p:cNvSpPr/>
          <p:nvPr/>
        </p:nvSpPr>
        <p:spPr>
          <a:xfrm>
            <a:off x="13646989" y="3033749"/>
            <a:ext cx="9661584" cy="2122805"/>
          </a:xfrm>
          <a:prstGeom prst="rect">
            <a:avLst/>
          </a:prstGeom>
        </p:spPr>
        <p:txBody>
          <a:bodyPr wrap="square">
            <a:spAutoFit/>
          </a:bodyPr>
          <a:lstStyle/>
          <a:p>
            <a:pPr>
              <a:lnSpc>
                <a:spcPct val="150000"/>
              </a:lnSpc>
            </a:pPr>
            <a:r>
              <a:rPr lang="en-US" altLang="zh-CN" sz="2200" dirty="0" smtClean="0">
                <a:latin typeface="+mj-ea"/>
                <a:ea typeface="+mj-ea"/>
              </a:rPr>
              <a:t>1. Plan 1 provides audible and visual alarms for high-high/low-low limits, together with high/low pre-alarms; personnel respond on site once triggered, so any excursion beyond the process range is detected immediately;</a:t>
            </a:r>
            <a:endParaRPr lang="en-US" altLang="zh-CN" sz="2200" dirty="0" smtClean="0">
              <a:latin typeface="+mj-ea"/>
              <a:ea typeface="+mj-ea"/>
            </a:endParaRPr>
          </a:p>
        </p:txBody>
      </p:sp>
      <p:sp>
        <p:nvSpPr>
          <p:cNvPr id="9" name="矩形 8"/>
          <p:cNvSpPr/>
          <p:nvPr/>
        </p:nvSpPr>
        <p:spPr>
          <a:xfrm>
            <a:off x="13646989" y="5182538"/>
            <a:ext cx="9661585" cy="4154170"/>
          </a:xfrm>
          <a:prstGeom prst="rect">
            <a:avLst/>
          </a:prstGeom>
        </p:spPr>
        <p:txBody>
          <a:bodyPr wrap="square">
            <a:spAutoFit/>
          </a:bodyPr>
          <a:lstStyle/>
          <a:p>
            <a:pPr>
              <a:lnSpc>
                <a:spcPct val="150000"/>
              </a:lnSpc>
            </a:pPr>
            <a:r>
              <a:rPr lang="en-US" altLang="zh-CN" sz="2200" dirty="0" smtClean="0">
                <a:latin typeface="+mj-ea"/>
                <a:ea typeface="+mj-ea"/>
              </a:rPr>
              <a:t>2. Plans 2 and 3</a:t>
            </a:r>
            <a:endParaRPr lang="en-US" altLang="zh-CN" sz="2200" dirty="0" smtClean="0">
              <a:latin typeface="+mj-ea"/>
              <a:ea typeface="+mj-ea"/>
            </a:endParaRPr>
          </a:p>
          <a:p>
            <a:pPr>
              <a:lnSpc>
                <a:spcPct val="150000"/>
              </a:lnSpc>
            </a:pPr>
            <a:r>
              <a:rPr lang="en-US" altLang="zh-CN" sz="2200" dirty="0" smtClean="0">
                <a:latin typeface="+mj-ea"/>
                <a:ea typeface="+mj-ea"/>
              </a:rPr>
              <a:t>a. Provide only high/low audible and visual alarms, which management requires to be set at pre-alarm values; personnel respond on site once an alarm is triggered, and any excursion beyond the process range must be reconciled between the OR and the electronic data;</a:t>
            </a:r>
            <a:endParaRPr lang="en-US" altLang="zh-CN" sz="2200" dirty="0" smtClean="0">
              <a:latin typeface="+mj-ea"/>
              <a:ea typeface="+mj-ea"/>
            </a:endParaRPr>
          </a:p>
          <a:p>
            <a:pPr>
              <a:lnSpc>
                <a:spcPct val="150000"/>
              </a:lnSpc>
            </a:pPr>
            <a:r>
              <a:rPr lang="en-US" altLang="zh-CN" sz="2200" dirty="0" smtClean="0">
                <a:latin typeface="+mj-ea"/>
                <a:ea typeface="+mj-ea"/>
              </a:rPr>
              <a:t>b. The MOR already records the minimum and maximum temperature for each operation, so the risk of a missed excursion is low;</a:t>
            </a:r>
            <a:r>
              <a:rPr lang="en-US" altLang="zh-CN" sz="2200" dirty="0" smtClean="0">
                <a:latin typeface="+mj-ea"/>
                <a:ea typeface="+mj-ea"/>
                <a:sym typeface="+mn-ea"/>
              </a:rPr>
              <a:t/>
            </a:r>
            <a:r>
              <a:rPr lang="en-US" altLang="zh-CN" sz="2200" dirty="0" smtClean="0">
                <a:latin typeface="+mj-ea"/>
                <a:ea typeface="+mj-ea"/>
              </a:rPr>
              <a:t/>
            </a:r>
            <a:endParaRPr lang="en-US" altLang="zh-CN" sz="2200" dirty="0" smtClean="0">
              <a:latin typeface="+mj-ea"/>
              <a:ea typeface="+mj-ea"/>
            </a:endParaRPr>
          </a:p>
        </p:txBody>
      </p:sp>
      <p:sp>
        <p:nvSpPr>
          <p:cNvPr id="10" name="矩形 9"/>
          <p:cNvSpPr/>
          <p:nvPr/>
        </p:nvSpPr>
        <p:spPr>
          <a:xfrm>
            <a:off x="13646988" y="9352222"/>
            <a:ext cx="10023894" cy="3138170"/>
          </a:xfrm>
          <a:prstGeom prst="rect">
            <a:avLst/>
          </a:prstGeom>
        </p:spPr>
        <p:txBody>
          <a:bodyPr wrap="square">
            <a:spAutoFit/>
          </a:bodyPr>
          <a:lstStyle/>
          <a:p>
            <a:pPr>
              <a:lnSpc>
                <a:spcPct val="150000"/>
              </a:lnSpc>
            </a:pPr>
            <a:r>
              <a:rPr lang="en-US" altLang="zh-CN" sz="2200" dirty="0" smtClean="0">
                <a:latin typeface="+mj-ea"/>
                <a:ea typeface="+mj-ea"/>
              </a:rPr>
              <a:t>3. The software upgrade in Plan 1 takes 3 days. We assess that the current software, together with the MOR record of the temperature minimum and maximum, meets production needs.</a:t>
            </a:r>
            <a:endParaRPr lang="en-US" altLang="zh-CN" sz="2200" dirty="0" smtClean="0">
              <a:latin typeface="+mj-ea"/>
              <a:ea typeface="+mj-ea"/>
            </a:endParaRPr>
          </a:p>
        </p:txBody>
      </p:sp>
      <p:sp>
        <p:nvSpPr>
          <p:cNvPr id="11" name="矩形 10"/>
          <p:cNvSpPr/>
          <p:nvPr/>
        </p:nvSpPr>
        <p:spPr>
          <a:xfrm>
            <a:off x="13646989" y="12605865"/>
            <a:ext cx="10023894" cy="429895"/>
          </a:xfrm>
          <a:prstGeom prst="rect">
            <a:avLst/>
          </a:prstGeom>
        </p:spPr>
        <p:txBody>
          <a:bodyPr wrap="square">
            <a:spAutoFit/>
          </a:bodyPr>
          <a:lstStyle/>
          <a:p>
            <a:r>
              <a:rPr lang="zh-CN" altLang="en-US" sz="2200" dirty="0" smtClean="0">
                <a:solidFill>
                  <a:srgbClr val="FF0000"/>
                </a:solidFill>
                <a:latin typeface="+mj-ea"/>
                <a:ea typeface="+mj-ea"/>
              </a:rPr>
              <a:t>We recommend keeping the current software and the MOR temperature records.</a:t>
            </a:r>
            <a:endParaRPr lang="zh-CN" altLang="en-US" sz="2200" dirty="0" smtClean="0">
              <a:solidFill>
                <a:srgbClr val="FF0000"/>
              </a:solidFill>
              <a:latin typeface="+mj-ea"/>
              <a:ea typeface="+mj-ea"/>
            </a:endParaRPr>
          </a:p>
        </p:txBody>
      </p:sp>
      <p:sp>
        <p:nvSpPr>
          <p:cNvPr id="12" name="文本框 11"/>
          <p:cNvSpPr txBox="1"/>
          <p:nvPr/>
        </p:nvSpPr>
        <p:spPr>
          <a:xfrm>
            <a:off x="7211695" y="4119245"/>
            <a:ext cx="3185160" cy="771525"/>
          </a:xfrm>
          <a:prstGeom prst="rect">
            <a:avLst/>
          </a:prstGeom>
          <a:noFill/>
        </p:spPr>
        <p:txBody>
          <a:bodyPr wrap="square" rtlCol="0">
            <a:noAutofit/>
          </a:bodyPr>
          <a:lstStyle/>
          <a:p>
            <a:r>
              <a:rPr lang="zh-CN" altLang="en-US" sz="2400" b="1" dirty="0" smtClean="0">
                <a:solidFill>
                  <a:srgbClr val="FF0000"/>
                </a:solidFill>
                <a:latin typeface="+mj-ea"/>
                <a:ea typeface="+mj-ea"/>
              </a:rPr>
              <a:t>Software </a:t>
            </a:r>
            <a:r>
              <a:rPr lang="en-US" altLang="zh-CN" sz="2400" b="1" dirty="0" smtClean="0">
                <a:solidFill>
                  <a:srgbClr val="FF0000"/>
                </a:solidFill>
                <a:latin typeface="+mj-ea"/>
                <a:ea typeface="+mj-ea"/>
              </a:rPr>
              <a:t>Update</a:t>
            </a:r>
            <a:endParaRPr lang="en-US" altLang="zh-CN" sz="2400" b="1" dirty="0" smtClean="0">
              <a:solidFill>
                <a:srgbClr val="FF0000"/>
              </a:solidFill>
              <a:latin typeface="+mj-ea"/>
              <a:ea typeface="+mj-ea"/>
            </a:endParaRPr>
          </a:p>
        </p:txBody>
      </p:sp>
      <p:sp>
        <p:nvSpPr>
          <p:cNvPr id="13" name="文本框 12"/>
          <p:cNvSpPr txBox="1"/>
          <p:nvPr/>
        </p:nvSpPr>
        <p:spPr>
          <a:xfrm>
            <a:off x="1937991" y="1799012"/>
            <a:ext cx="15171141" cy="584775"/>
          </a:xfrm>
          <a:prstGeom prst="rect">
            <a:avLst/>
          </a:prstGeom>
          <a:noFill/>
        </p:spPr>
        <p:txBody>
          <a:bodyPr wrap="none" rtlCol="0">
            <a:spAutoFit/>
          </a:bodyPr>
          <a:lstStyle/>
          <a:p>
            <a:r>
              <a:rPr lang="en-US" altLang="zh-CN" sz="3200" dirty="0" smtClean="0">
                <a:solidFill>
                  <a:schemeClr val="tx1"/>
                </a:solidFill>
                <a:latin typeface="+mn-lt"/>
                <a:ea typeface="+mn-ea"/>
              </a:rPr>
              <a:t>2. Add high-high and low-low jacket-temperature alarms for synthesizer SY16 to the PLC.</a:t>
            </a:r>
            <a:r>
              <a:rPr lang="en-US" altLang="zh-CN" sz="3200" dirty="0">
                <a:solidFill>
                  <a:schemeClr val="tx1"/>
                </a:solidFill>
                <a:latin typeface="+mn-lt"/>
                <a:ea typeface="+mn-ea"/>
              </a:rPr>
              <a:t/>
            </a:r>
            <a:r>
              <a:rPr lang="en-US" altLang="zh-CN" sz="3200" dirty="0" smtClean="0">
                <a:solidFill>
                  <a:schemeClr val="tx1"/>
                </a:solidFill>
                <a:latin typeface="+mn-lt"/>
                <a:ea typeface="+mn-ea"/>
              </a:rPr>
              <a:t/>
            </a:r>
            <a:endParaRPr lang="zh-CN" altLang="en-US" sz="3200" dirty="0">
              <a:solidFill>
                <a:schemeClr val="tx1"/>
              </a:solidFill>
              <a:latin typeface="+mn-lt"/>
              <a:ea typeface="+mn-ea"/>
            </a:endParaRPr>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31130" y="2100497"/>
            <a:ext cx="14074687" cy="584775"/>
          </a:xfrm>
          <a:prstGeom prst="rect">
            <a:avLst/>
          </a:prstGeom>
          <a:noFill/>
        </p:spPr>
        <p:txBody>
          <a:bodyPr wrap="none" rtlCol="0">
            <a:spAutoFit/>
          </a:bodyPr>
          <a:lstStyle/>
          <a:p>
            <a:pPr lvl="0">
              <a:spcAft>
                <a:spcPts val="0"/>
              </a:spcAft>
              <a:buSzPts val="1000"/>
              <a:tabLst>
                <a:tab pos="457200" algn="l"/>
              </a:tabLst>
            </a:pPr>
            <a:r>
              <a:rPr lang="en-US" altLang="zh-CN" sz="3200" dirty="0" smtClean="0">
                <a:solidFill>
                  <a:schemeClr val="tx1"/>
                </a:solidFill>
                <a:latin typeface="+mn-lt"/>
                <a:ea typeface="+mn-ea"/>
              </a:rPr>
              <a:t>3. Unused </a:t>
            </a:r>
            <a:r>
              <a:rPr lang="en-US" altLang="zh-CN" sz="3200" dirty="0">
                <a:solidFill>
                  <a:schemeClr val="tx1"/>
                </a:solidFill>
                <a:latin typeface="+mn-lt"/>
                <a:ea typeface="+mn-ea"/>
              </a:rPr>
              <a:t>side loop dead legs removal from iodine solution transfer </a:t>
            </a:r>
            <a:r>
              <a:rPr lang="en-US" altLang="zh-CN" sz="3200" dirty="0" smtClean="0">
                <a:solidFill>
                  <a:schemeClr val="tx1"/>
                </a:solidFill>
                <a:latin typeface="+mn-lt"/>
                <a:ea typeface="+mn-ea"/>
              </a:rPr>
              <a:t>pipeline.</a:t>
            </a:r>
            <a:endParaRPr lang="zh-CN" altLang="zh-CN" sz="3200" dirty="0">
              <a:solidFill>
                <a:schemeClr val="tx1"/>
              </a:solidFill>
              <a:latin typeface="+mn-lt"/>
              <a:ea typeface="+mn-ea"/>
            </a:endParaRPr>
          </a:p>
        </p:txBody>
      </p:sp>
      <p:sp>
        <p:nvSpPr>
          <p:cNvPr id="4" name="矩形 3"/>
          <p:cNvSpPr/>
          <p:nvPr/>
        </p:nvSpPr>
        <p:spPr>
          <a:xfrm>
            <a:off x="1931130" y="3072872"/>
            <a:ext cx="13861487" cy="584775"/>
          </a:xfrm>
          <a:prstGeom prst="rect">
            <a:avLst/>
          </a:prstGeom>
        </p:spPr>
        <p:txBody>
          <a:bodyPr wrap="square">
            <a:spAutoFit/>
          </a:bodyPr>
          <a:lstStyle/>
          <a:p>
            <a:r>
              <a:rPr lang="en-US" altLang="zh-CN" sz="3200" dirty="0">
                <a:solidFill>
                  <a:srgbClr val="0000FF"/>
                </a:solidFill>
                <a:latin typeface="+mn-lt"/>
                <a:ea typeface="+mn-ea"/>
              </a:rPr>
              <a:t>ASYM: Completed. The redundant valves have been removed, and PTFE blind flanges have been installed with identification tags attached.</a:t>
            </a:r>
            <a:endParaRPr lang="zh-CN" altLang="en-US" sz="3200" dirty="0">
              <a:solidFill>
                <a:srgbClr val="0000FF"/>
              </a:solidFill>
              <a:latin typeface="+mn-lt"/>
              <a:ea typeface="+mn-ea"/>
            </a:endParaRPr>
          </a:p>
        </p:txBody>
      </p:sp>
      <p:grpSp>
        <p:nvGrpSpPr>
          <p:cNvPr id="5" name="组合 4"/>
          <p:cNvGrpSpPr/>
          <p:nvPr/>
        </p:nvGrpSpPr>
        <p:grpSpPr>
          <a:xfrm>
            <a:off x="12896850" y="4438650"/>
            <a:ext cx="10344150" cy="7758113"/>
            <a:chOff x="12896850" y="4438650"/>
            <a:chExt cx="10344150" cy="7758113"/>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896850" y="4438650"/>
              <a:ext cx="10344150" cy="7758113"/>
            </a:xfrm>
            <a:prstGeom prst="rect">
              <a:avLst/>
            </a:prstGeom>
          </p:spPr>
        </p:pic>
        <p:sp>
          <p:nvSpPr>
            <p:cNvPr id="7" name="矩形 6"/>
            <p:cNvSpPr/>
            <p:nvPr/>
          </p:nvSpPr>
          <p:spPr>
            <a:xfrm>
              <a:off x="14801850" y="8610600"/>
              <a:ext cx="1943100" cy="131445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zh-CN" altLang="en-US" sz="4400" dirty="0" smtClean="0">
                <a:solidFill>
                  <a:schemeClr val="accent1">
                    <a:lumMod val="50000"/>
                  </a:schemeClr>
                </a:solidFill>
              </a:rPr>
              <a:t>Pipeline Rectification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8501" y="2049539"/>
            <a:ext cx="14931410" cy="1015663"/>
          </a:xfrm>
          <a:prstGeom prst="rect">
            <a:avLst/>
          </a:prstGeom>
          <a:noFill/>
        </p:spPr>
        <p:txBody>
          <a:bodyPr wrap="square" rtlCol="0">
            <a:spAutoFit/>
          </a:bodyPr>
          <a:lstStyle/>
          <a:p>
            <a:r>
              <a:rPr lang="en-US" altLang="zh-CN" sz="3200" dirty="0" smtClean="0">
                <a:solidFill>
                  <a:schemeClr val="tx1"/>
                </a:solidFill>
                <a:latin typeface="+mn-lt"/>
                <a:ea typeface="+mn-ea"/>
              </a:rPr>
              <a:t>4. Iodine </a:t>
            </a:r>
            <a:r>
              <a:rPr lang="en-US" altLang="zh-CN" sz="3200" dirty="0">
                <a:solidFill>
                  <a:schemeClr val="tx1"/>
                </a:solidFill>
                <a:latin typeface="+mn-lt"/>
                <a:ea typeface="+mn-ea"/>
              </a:rPr>
              <a:t>solution nitrogen transfer time qualification before solvent run.</a:t>
            </a:r>
            <a:endParaRPr lang="zh-CN" altLang="zh-CN" sz="3200" dirty="0">
              <a:solidFill>
                <a:schemeClr val="tx1"/>
              </a:solidFill>
              <a:latin typeface="+mn-lt"/>
              <a:ea typeface="+mn-ea"/>
            </a:endParaRPr>
          </a:p>
          <a:p>
            <a:endParaRPr lang="zh-CN" altLang="en-US" sz="2800" dirty="0"/>
          </a:p>
        </p:txBody>
      </p:sp>
      <p:sp>
        <p:nvSpPr>
          <p:cNvPr id="11" name="矩形 10"/>
          <p:cNvSpPr/>
          <p:nvPr/>
        </p:nvSpPr>
        <p:spPr>
          <a:xfrm>
            <a:off x="2311400" y="3430657"/>
            <a:ext cx="19583400" cy="1569660"/>
          </a:xfrm>
          <a:prstGeom prst="rect">
            <a:avLst/>
          </a:prstGeom>
        </p:spPr>
        <p:txBody>
          <a:bodyPr wrap="square">
            <a:spAutoFit/>
          </a:bodyPr>
          <a:lstStyle/>
          <a:p>
            <a:r>
              <a:rPr lang="en-US" altLang="zh-CN" sz="3200" dirty="0">
                <a:solidFill>
                  <a:srgbClr val="0000FF"/>
                </a:solidFill>
              </a:rPr>
              <a:t>ASYM: </a:t>
            </a:r>
            <a:r>
              <a:rPr lang="zh-CN" altLang="en-US" sz="3200" dirty="0">
                <a:solidFill>
                  <a:srgbClr val="0000FF"/>
                </a:solidFill>
              </a:rPr>
              <a:t>Nitrogen transfer of the iodine solution to the synthesizer will be performed during the solvent run.</a:t>
            </a:r>
            <a:endParaRPr lang="en-US" altLang="zh-CN" sz="3200" dirty="0">
              <a:solidFill>
                <a:srgbClr val="0000FF"/>
              </a:solidFill>
            </a:endParaRPr>
          </a:p>
          <a:p>
            <a:endParaRPr lang="zh-CN" altLang="en-US" sz="3200" dirty="0">
              <a:solidFill>
                <a:srgbClr val="0000FF"/>
              </a:solidFill>
            </a:endParaRPr>
          </a:p>
          <a:p>
            <a:r>
              <a:rPr lang="zh-CN" altLang="en-US" sz="3200" dirty="0">
                <a:solidFill>
                  <a:srgbClr val="0000FF"/>
                </a:solidFill>
              </a:rPr>
              <a:t>Proposed completion date: 10/22/2026</a:t>
            </a:r>
            <a:endParaRPr lang="zh-CN" altLang="en-US" sz="3200" dirty="0">
              <a:solidFill>
                <a:srgbClr val="0000FF"/>
              </a:solidFil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49451" y="2113360"/>
            <a:ext cx="14624516" cy="1015663"/>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5. Post oxidation DMF cooling time qualification by activation tank in solvent </a:t>
            </a:r>
            <a:r>
              <a:rPr lang="en-US" altLang="zh-CN" sz="3200" dirty="0" smtClean="0">
                <a:solidFill>
                  <a:schemeClr val="tx1"/>
                </a:solidFill>
                <a:latin typeface="+mn-lt"/>
                <a:ea typeface="+mn-ea"/>
              </a:rPr>
              <a:t>run.</a:t>
            </a:r>
            <a:endParaRPr lang="zh-CN" altLang="zh-CN" sz="3200" dirty="0">
              <a:solidFill>
                <a:schemeClr val="tx1"/>
              </a:solidFill>
              <a:latin typeface="+mn-lt"/>
              <a:ea typeface="+mn-ea"/>
            </a:endParaRPr>
          </a:p>
          <a:p>
            <a:endParaRPr lang="zh-CN" altLang="en-US" sz="2800" dirty="0"/>
          </a:p>
        </p:txBody>
      </p:sp>
      <p:sp>
        <p:nvSpPr>
          <p:cNvPr id="5" name="矩形 4"/>
          <p:cNvSpPr/>
          <p:nvPr/>
        </p:nvSpPr>
        <p:spPr>
          <a:xfrm>
            <a:off x="1949450" y="3204051"/>
            <a:ext cx="20707349" cy="1569660"/>
          </a:xfrm>
          <a:prstGeom prst="rect">
            <a:avLst/>
          </a:prstGeom>
        </p:spPr>
        <p:txBody>
          <a:bodyPr wrap="square">
            <a:spAutoFit/>
          </a:bodyPr>
          <a:lstStyle/>
          <a:p>
            <a:pPr>
              <a:lnSpc>
                <a:spcPct val="150000"/>
              </a:lnSpc>
            </a:pPr>
            <a:r>
              <a:rPr lang="en-US" altLang="zh-CN" sz="3200" dirty="0">
                <a:solidFill>
                  <a:srgbClr val="0000FF"/>
                </a:solidFill>
              </a:rPr>
              <a:t>ASYM: The post-oxidation DMF cooling-time test in the activation tank will be performed during the solvent run.</a:t>
            </a:r>
            <a:endParaRPr lang="en-US" altLang="zh-CN" sz="3200" dirty="0">
              <a:solidFill>
                <a:srgbClr val="0000FF"/>
              </a:solidFill>
            </a:endParaRPr>
          </a:p>
          <a:p>
            <a:pPr>
              <a:lnSpc>
                <a:spcPct val="150000"/>
              </a:lnSpc>
            </a:pPr>
            <a:r>
              <a:rPr lang="zh-CN" altLang="en-US" sz="3200" dirty="0">
                <a:solidFill>
                  <a:srgbClr val="0000FF"/>
                </a:solidFill>
              </a:rPr>
              <a:t>Proposed completion date: 10/22/2026</a:t>
            </a:r>
            <a:endParaRPr lang="zh-CN" altLang="en-US" sz="3200" dirty="0">
              <a:solidFill>
                <a:srgbClr val="0000FF"/>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23493" y="2094272"/>
            <a:ext cx="23160507" cy="1077218"/>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6. Pre-production equipment train rinse/swab cleanness acceptance or equivalent as stated in contamination control </a:t>
            </a:r>
            <a:r>
              <a:rPr lang="en-US" altLang="zh-CN" sz="3200" dirty="0" smtClean="0">
                <a:solidFill>
                  <a:schemeClr val="tx1"/>
                </a:solidFill>
                <a:latin typeface="+mn-lt"/>
                <a:ea typeface="+mn-ea"/>
              </a:rPr>
              <a:t>strategy</a:t>
            </a:r>
            <a:r>
              <a:rPr lang="en-US" altLang="zh-CN" sz="3200" dirty="0">
                <a:solidFill>
                  <a:schemeClr val="tx1"/>
                </a:solidFill>
                <a:latin typeface="+mn-lt"/>
                <a:ea typeface="+mn-ea"/>
              </a:rPr>
              <a:t>.</a:t>
            </a:r>
            <a:endParaRPr lang="zh-CN" altLang="zh-CN" sz="3200" dirty="0">
              <a:solidFill>
                <a:schemeClr val="tx1"/>
              </a:solidFill>
              <a:latin typeface="+mn-lt"/>
              <a:ea typeface="+mn-ea"/>
            </a:endParaRPr>
          </a:p>
          <a:p>
            <a:endParaRPr lang="zh-CN" altLang="en-US" sz="3200" dirty="0">
              <a:solidFill>
                <a:schemeClr val="tx1"/>
              </a:solidFill>
              <a:latin typeface="+mn-lt"/>
              <a:ea typeface="+mn-ea"/>
            </a:endParaRPr>
          </a:p>
        </p:txBody>
      </p:sp>
      <p:sp>
        <p:nvSpPr>
          <p:cNvPr id="4" name="矩形 3"/>
          <p:cNvSpPr/>
          <p:nvPr/>
        </p:nvSpPr>
        <p:spPr>
          <a:xfrm>
            <a:off x="1223493" y="3152745"/>
            <a:ext cx="16644300" cy="2308324"/>
          </a:xfrm>
          <a:prstGeom prst="rect">
            <a:avLst/>
          </a:prstGeom>
        </p:spPr>
        <p:txBody>
          <a:bodyPr wrap="square">
            <a:spAutoFit/>
          </a:bodyPr>
          <a:lstStyle/>
          <a:p>
            <a:pPr>
              <a:lnSpc>
                <a:spcPct val="150000"/>
              </a:lnSpc>
            </a:pPr>
            <a:r>
              <a:rPr lang="en-US" altLang="zh-CN" sz="3200" dirty="0" smtClean="0">
                <a:solidFill>
                  <a:srgbClr val="0000FF"/>
                </a:solidFill>
              </a:rPr>
              <a:t>ASYM:</a:t>
            </a:r>
            <a:endParaRPr lang="en-US" altLang="zh-CN" sz="3200" dirty="0" smtClean="0">
              <a:solidFill>
                <a:srgbClr val="0000FF"/>
              </a:solidFill>
            </a:endParaRPr>
          </a:p>
          <a:p>
            <a:pPr>
              <a:lnSpc>
                <a:spcPct val="150000"/>
              </a:lnSpc>
            </a:pPr>
            <a:r>
              <a:rPr lang="en-US" altLang="zh-CN" sz="3200" dirty="0" smtClean="0">
                <a:solidFill>
                  <a:srgbClr val="0000FF"/>
                </a:solidFill>
              </a:rPr>
              <a:t>1. Cleaning of the equipment train after passivation has been completed, and TOC testing has also been completed;</a:t>
            </a:r>
            <a:endParaRPr lang="en-US" altLang="zh-CN" sz="3200" dirty="0" smtClean="0">
              <a:solidFill>
                <a:srgbClr val="0000FF"/>
              </a:solidFill>
            </a:endParaRPr>
          </a:p>
          <a:p>
            <a:pPr>
              <a:lnSpc>
                <a:spcPct val="150000"/>
              </a:lnSpc>
            </a:pPr>
            <a:r>
              <a:rPr lang="en-US" altLang="zh-CN" sz="3200" dirty="0" smtClean="0">
                <a:solidFill>
                  <a:srgbClr val="0000FF"/>
                </a:solidFill>
              </a:rPr>
              <a:t>2. Elemental iodine is used during the solvent run; after the run, the equipment train will be cleaned and test strips will be used to confirm iodine residue;</a:t>
            </a:r>
            <a:endParaRPr lang="zh-CN" altLang="en-US" sz="3200" dirty="0">
              <a:solidFill>
                <a:srgbClr val="0000FF"/>
              </a:solidFill>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16100" y="2007913"/>
            <a:ext cx="20434300" cy="2062103"/>
          </a:xfrm>
          <a:prstGeom prst="rect">
            <a:avLst/>
          </a:prstGeom>
        </p:spPr>
        <p:txBody>
          <a:bodyPr wrap="square">
            <a:spAutoFit/>
          </a:bodyPr>
          <a:lstStyle/>
          <a:p>
            <a:pPr>
              <a:spcAft>
                <a:spcPts val="0"/>
              </a:spcAft>
              <a:buSzPts val="1000"/>
              <a:tabLst>
                <a:tab pos="457200" algn="l"/>
              </a:tabLst>
            </a:pPr>
            <a:r>
              <a:rPr lang="en-US" altLang="zh-CN" sz="3200" dirty="0" smtClean="0">
                <a:solidFill>
                  <a:schemeClr val="tx1"/>
                </a:solidFill>
                <a:latin typeface="+mn-lt"/>
                <a:ea typeface="+mn-ea"/>
              </a:rPr>
              <a:t>7. Investigation </a:t>
            </a:r>
            <a:r>
              <a:rPr lang="en-US" altLang="zh-CN" sz="3200" dirty="0">
                <a:solidFill>
                  <a:schemeClr val="tx1"/>
                </a:solidFill>
                <a:latin typeface="+mn-lt"/>
                <a:ea typeface="+mn-ea"/>
              </a:rPr>
              <a:t>on contaminated sampling tool in the glovebox of L3 synthesizer SY16 and yellow solid contamination in the glovebox of L2 synthesizer SY15. Confirmation of contaminant ID is high recommended or at minimum the contamination must be confirmed to be limited to glovebox only, i.e., the possibility of contamination in the synthesizer must be ruled out.</a:t>
            </a:r>
            <a:endParaRPr lang="zh-CN" altLang="zh-CN" sz="3200" dirty="0">
              <a:solidFill>
                <a:schemeClr val="tx1"/>
              </a:solidFill>
              <a:latin typeface="+mn-lt"/>
              <a:ea typeface="+mn-ea"/>
            </a:endParaRPr>
          </a:p>
        </p:txBody>
      </p:sp>
      <p:sp>
        <p:nvSpPr>
          <p:cNvPr id="4" name="矩形 3"/>
          <p:cNvSpPr/>
          <p:nvPr/>
        </p:nvSpPr>
        <p:spPr>
          <a:xfrm>
            <a:off x="1315085" y="3945890"/>
            <a:ext cx="21987510" cy="3046095"/>
          </a:xfrm>
          <a:prstGeom prst="rect">
            <a:avLst/>
          </a:prstGeom>
        </p:spPr>
        <p:txBody>
          <a:bodyPr wrap="square">
            <a:spAutoFit/>
          </a:bodyPr>
          <a:lstStyle/>
          <a:p>
            <a:pPr>
              <a:lnSpc>
                <a:spcPct val="150000"/>
              </a:lnSpc>
            </a:pPr>
            <a:r>
              <a:rPr lang="en-US" altLang="zh-CN" sz="3200" dirty="0" smtClean="0">
                <a:solidFill>
                  <a:srgbClr val="0000FF"/>
                </a:solidFill>
              </a:rPr>
              <a:t>ASYM:</a:t>
            </a:r>
            <a:endParaRPr lang="en-US" altLang="zh-CN" sz="3200" dirty="0" smtClean="0">
              <a:solidFill>
                <a:srgbClr val="0000FF"/>
              </a:solidFill>
            </a:endParaRPr>
          </a:p>
          <a:p>
            <a:pPr>
              <a:lnSpc>
                <a:spcPct val="150000"/>
              </a:lnSpc>
            </a:pPr>
            <a:r>
              <a:rPr lang="en-US" altLang="zh-CN" sz="3200" dirty="0" smtClean="0">
                <a:solidFill>
                  <a:srgbClr val="0000FF"/>
                </a:solidFill>
              </a:rPr>
              <a:t>1. The SY15 synthesizer most recently performed the solid-phase synthesis of 140020 step 1. The yellow solid in the SY15 synthesizer glovebox was collected and identified by IR; internal inspection of the synthesizer found no material residue, and the IR peaks of the tested sample match those of the 140020 peptide resin;</a:t>
            </a:r>
            <a:endParaRPr lang="zh-CN" altLang="en-US" sz="3200" dirty="0">
              <a:solidFill>
                <a:srgbClr val="0000FF"/>
              </a:solidFill>
            </a:endParaRPr>
          </a:p>
        </p:txBody>
      </p:sp>
      <p:grpSp>
        <p:nvGrpSpPr>
          <p:cNvPr id="6" name="组合 5"/>
          <p:cNvGrpSpPr/>
          <p:nvPr/>
        </p:nvGrpSpPr>
        <p:grpSpPr>
          <a:xfrm>
            <a:off x="597976" y="7156922"/>
            <a:ext cx="23188047" cy="4723809"/>
            <a:chOff x="696762" y="7502829"/>
            <a:chExt cx="23188047" cy="4723809"/>
          </a:xfrm>
        </p:grpSpPr>
        <p:pic>
          <p:nvPicPr>
            <p:cNvPr id="2" name="图片 1"/>
            <p:cNvPicPr>
              <a:picLocks noChangeAspect="1"/>
            </p:cNvPicPr>
            <p:nvPr/>
          </p:nvPicPr>
          <p:blipFill>
            <a:blip r:embed="rId1"/>
            <a:stretch>
              <a:fillRect/>
            </a:stretch>
          </p:blipFill>
          <p:spPr>
            <a:xfrm>
              <a:off x="696762" y="7502829"/>
              <a:ext cx="11495238" cy="4723809"/>
            </a:xfrm>
            <a:prstGeom prst="rect">
              <a:avLst/>
            </a:prstGeom>
          </p:spPr>
        </p:pic>
        <p:pic>
          <p:nvPicPr>
            <p:cNvPr id="5" name="图片 4"/>
            <p:cNvPicPr>
              <a:picLocks noChangeAspect="1"/>
            </p:cNvPicPr>
            <p:nvPr/>
          </p:nvPicPr>
          <p:blipFill>
            <a:blip r:embed="rId2"/>
            <a:stretch>
              <a:fillRect/>
            </a:stretch>
          </p:blipFill>
          <p:spPr>
            <a:xfrm>
              <a:off x="12437190" y="7528229"/>
              <a:ext cx="11447619" cy="4657143"/>
            </a:xfrm>
            <a:prstGeom prst="rect">
              <a:avLst/>
            </a:prstGeom>
          </p:spPr>
        </p:pic>
      </p:grpSp>
      <p:sp>
        <p:nvSpPr>
          <p:cNvPr id="7" name="矩形 6"/>
          <p:cNvSpPr/>
          <p:nvPr/>
        </p:nvSpPr>
        <p:spPr>
          <a:xfrm>
            <a:off x="5905854" y="11880731"/>
            <a:ext cx="1891946" cy="830997"/>
          </a:xfrm>
          <a:prstGeom prst="rect">
            <a:avLst/>
          </a:prstGeom>
        </p:spPr>
        <p:txBody>
          <a:bodyPr wrap="square">
            <a:spAutoFit/>
          </a:bodyPr>
          <a:lstStyle/>
          <a:p>
            <a:pPr>
              <a:lnSpc>
                <a:spcPct val="150000"/>
              </a:lnSpc>
            </a:pPr>
            <a:r>
              <a:rPr lang="zh-CN" altLang="en-US" sz="1800" dirty="0" smtClean="0">
                <a:solidFill>
                  <a:srgbClr val="0000FF"/>
                </a:solidFill>
              </a:rPr>
              <a:t>Reference Standard</a:t>
            </a:r>
            <a:endParaRPr lang="zh-CN" altLang="en-US" sz="1800" dirty="0">
              <a:solidFill>
                <a:srgbClr val="0000FF"/>
              </a:solidFill>
            </a:endParaRPr>
          </a:p>
        </p:txBody>
      </p:sp>
      <p:sp>
        <p:nvSpPr>
          <p:cNvPr id="8" name="矩形 7"/>
          <p:cNvSpPr/>
          <p:nvPr/>
        </p:nvSpPr>
        <p:spPr>
          <a:xfrm>
            <a:off x="15443200" y="11749593"/>
            <a:ext cx="5842000" cy="830997"/>
          </a:xfrm>
          <a:prstGeom prst="rect">
            <a:avLst/>
          </a:prstGeom>
        </p:spPr>
        <p:txBody>
          <a:bodyPr wrap="square">
            <a:spAutoFit/>
          </a:bodyPr>
          <a:lstStyle/>
          <a:p>
            <a:pPr>
              <a:lnSpc>
                <a:spcPct val="150000"/>
              </a:lnSpc>
            </a:pPr>
            <a:r>
              <a:rPr lang="en-US" altLang="zh-CN" sz="1800" dirty="0" smtClean="0">
                <a:solidFill>
                  <a:srgbClr val="0000FF"/>
                </a:solidFill>
              </a:rPr>
              <a:t>Yellow Solid in the SY15 Synthesizer Glovebox</a:t>
            </a:r>
            <a:endParaRPr lang="zh-CN" altLang="en-US" sz="1800" dirty="0">
              <a:solidFill>
                <a:srgbClr val="0000FF"/>
              </a:solidFill>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16100" y="2007913"/>
            <a:ext cx="20434300" cy="2062103"/>
          </a:xfrm>
          <a:prstGeom prst="rect">
            <a:avLst/>
          </a:prstGeom>
        </p:spPr>
        <p:txBody>
          <a:bodyPr wrap="square">
            <a:spAutoFit/>
          </a:bodyPr>
          <a:lstStyle/>
          <a:p>
            <a:pPr>
              <a:spcAft>
                <a:spcPts val="0"/>
              </a:spcAft>
              <a:buSzPts val="1000"/>
              <a:tabLst>
                <a:tab pos="457200" algn="l"/>
              </a:tabLst>
            </a:pPr>
            <a:r>
              <a:rPr lang="en-US" altLang="zh-CN" sz="3200" dirty="0" smtClean="0">
                <a:solidFill>
                  <a:schemeClr val="tx1"/>
                </a:solidFill>
                <a:latin typeface="+mn-lt"/>
                <a:ea typeface="+mn-ea"/>
              </a:rPr>
              <a:t>7. Investigation </a:t>
            </a:r>
            <a:r>
              <a:rPr lang="en-US" altLang="zh-CN" sz="3200" dirty="0">
                <a:solidFill>
                  <a:schemeClr val="tx1"/>
                </a:solidFill>
                <a:latin typeface="+mn-lt"/>
                <a:ea typeface="+mn-ea"/>
              </a:rPr>
              <a:t>on contaminated sampling tool in the glovebox of L3 synthesizer SY16 and yellow solid contamination in the glovebox of L2 synthesizer SY15. Confirmation of contaminant ID is high recommended or at minimum the contamination must be confirmed to be limited to glovebox only, i.e., the possibility of contamination in the synthesizer must be ruled out.</a:t>
            </a:r>
            <a:endParaRPr lang="zh-CN" altLang="zh-CN" sz="3200" dirty="0">
              <a:solidFill>
                <a:schemeClr val="tx1"/>
              </a:solidFill>
              <a:latin typeface="+mn-lt"/>
              <a:ea typeface="+mn-ea"/>
            </a:endParaRPr>
          </a:p>
        </p:txBody>
      </p:sp>
      <p:sp>
        <p:nvSpPr>
          <p:cNvPr id="4" name="矩形 3"/>
          <p:cNvSpPr/>
          <p:nvPr/>
        </p:nvSpPr>
        <p:spPr>
          <a:xfrm>
            <a:off x="733425" y="3796665"/>
            <a:ext cx="23172420" cy="3773170"/>
          </a:xfrm>
          <a:prstGeom prst="rect">
            <a:avLst/>
          </a:prstGeom>
        </p:spPr>
        <p:txBody>
          <a:bodyPr wrap="square">
            <a:noAutofit/>
          </a:bodyPr>
          <a:lstStyle/>
          <a:p>
            <a:pPr>
              <a:lnSpc>
                <a:spcPct val="150000"/>
              </a:lnSpc>
            </a:pPr>
            <a:r>
              <a:rPr lang="en-US" altLang="zh-CN" sz="3200" dirty="0" smtClean="0">
                <a:solidFill>
                  <a:srgbClr val="0000FF"/>
                </a:solidFill>
              </a:rPr>
              <a:t>ASYM:</a:t>
            </a:r>
            <a:endParaRPr lang="en-US" altLang="zh-CN" sz="3200" dirty="0" smtClean="0">
              <a:solidFill>
                <a:srgbClr val="0000FF"/>
              </a:solidFill>
            </a:endParaRPr>
          </a:p>
          <a:p>
            <a:pPr>
              <a:lnSpc>
                <a:spcPct val="150000"/>
              </a:lnSpc>
            </a:pPr>
            <a:r>
              <a:rPr lang="en-US" altLang="zh-CN" sz="3200" dirty="0">
                <a:solidFill>
                  <a:srgbClr val="0000FF"/>
                </a:solidFill>
              </a:rPr>
              <a:t>2. A sample was taken from the contaminated portion in the SY16 synthesizer glovebox and identified by IR. The reference selected were substances previously used on the equipment with low volatility—DMF and ethylene glycol. Internal inspection of the synthesizer found no material residue; based on the IR spectra, the contaminant on the LDPE bag matches the characteristic peaks of ethylene glycol;</a:t>
            </a:r>
            <a:endParaRPr lang="en-US" altLang="zh-CN" sz="3200" dirty="0" smtClean="0">
              <a:solidFill>
                <a:srgbClr val="0000FF"/>
              </a:solidFill>
            </a:endParaRPr>
          </a:p>
          <a:p>
            <a:pPr>
              <a:lnSpc>
                <a:spcPct val="150000"/>
              </a:lnSpc>
            </a:pPr>
            <a:endParaRPr lang="zh-CN" altLang="en-US" sz="3200" dirty="0">
              <a:solidFill>
                <a:srgbClr val="0000FF"/>
              </a:solidFill>
            </a:endParaRPr>
          </a:p>
        </p:txBody>
      </p:sp>
      <p:pic>
        <p:nvPicPr>
          <p:cNvPr id="6" name="图片 5"/>
          <p:cNvPicPr>
            <a:picLocks noChangeAspect="1"/>
          </p:cNvPicPr>
          <p:nvPr/>
        </p:nvPicPr>
        <p:blipFill>
          <a:blip r:embed="rId1"/>
          <a:stretch>
            <a:fillRect/>
          </a:stretch>
        </p:blipFill>
        <p:spPr>
          <a:xfrm>
            <a:off x="838200" y="7582495"/>
            <a:ext cx="11087931" cy="4503605"/>
          </a:xfrm>
          <a:prstGeom prst="rect">
            <a:avLst/>
          </a:prstGeom>
        </p:spPr>
      </p:pic>
      <p:pic>
        <p:nvPicPr>
          <p:cNvPr id="7" name="图片 6"/>
          <p:cNvPicPr>
            <a:picLocks noChangeAspect="1"/>
          </p:cNvPicPr>
          <p:nvPr/>
        </p:nvPicPr>
        <p:blipFill>
          <a:blip r:embed="rId2"/>
          <a:stretch>
            <a:fillRect/>
          </a:stretch>
        </p:blipFill>
        <p:spPr>
          <a:xfrm>
            <a:off x="12744096" y="7582495"/>
            <a:ext cx="11161510" cy="4503605"/>
          </a:xfrm>
          <a:prstGeom prst="rect">
            <a:avLst/>
          </a:prstGeom>
        </p:spPr>
      </p:pic>
      <p:sp>
        <p:nvSpPr>
          <p:cNvPr id="9" name="矩形 8"/>
          <p:cNvSpPr/>
          <p:nvPr/>
        </p:nvSpPr>
        <p:spPr>
          <a:xfrm>
            <a:off x="17767300" y="12247218"/>
            <a:ext cx="1891946" cy="739754"/>
          </a:xfrm>
          <a:prstGeom prst="rect">
            <a:avLst/>
          </a:prstGeom>
        </p:spPr>
        <p:txBody>
          <a:bodyPr wrap="square">
            <a:spAutoFit/>
          </a:bodyPr>
          <a:lstStyle/>
          <a:p>
            <a:pPr>
              <a:lnSpc>
                <a:spcPct val="150000"/>
              </a:lnSpc>
            </a:pPr>
            <a:r>
              <a:rPr lang="zh-CN" altLang="en-US" sz="1800" dirty="0" smtClean="0">
                <a:solidFill>
                  <a:srgbClr val="0000FF"/>
                </a:solidFill>
              </a:rPr>
              <a:t>Ethylene Glycol</a:t>
            </a:r>
            <a:endParaRPr lang="zh-CN" altLang="en-US" sz="1800" dirty="0">
              <a:solidFill>
                <a:srgbClr val="0000FF"/>
              </a:solidFill>
            </a:endParaRPr>
          </a:p>
        </p:txBody>
      </p:sp>
      <p:sp>
        <p:nvSpPr>
          <p:cNvPr id="10" name="矩形 9"/>
          <p:cNvSpPr/>
          <p:nvPr/>
        </p:nvSpPr>
        <p:spPr>
          <a:xfrm>
            <a:off x="3714750" y="12106347"/>
            <a:ext cx="6472759" cy="830997"/>
          </a:xfrm>
          <a:prstGeom prst="rect">
            <a:avLst/>
          </a:prstGeom>
        </p:spPr>
        <p:txBody>
          <a:bodyPr wrap="square">
            <a:spAutoFit/>
          </a:bodyPr>
          <a:lstStyle/>
          <a:p>
            <a:pPr>
              <a:lnSpc>
                <a:spcPct val="150000"/>
              </a:lnSpc>
            </a:pPr>
            <a:r>
              <a:rPr lang="en-US" altLang="zh-CN" sz="1800" dirty="0" smtClean="0">
                <a:solidFill>
                  <a:srgbClr val="0000FF"/>
                </a:solidFill>
              </a:rPr>
              <a:t>LDPE Contaminant in the SY16 Synthesizer Glovebox</a:t>
            </a:r>
            <a:endParaRPr lang="zh-CN" altLang="en-US" sz="1800" dirty="0">
              <a:solidFill>
                <a:srgbClr val="0000FF"/>
              </a:solidFill>
            </a:endParaRP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5557</Words>
  <Application>WPS Presentation</Application>
  <PresentationFormat>自定义</PresentationFormat>
  <Paragraphs>163</Paragraphs>
  <Slides>8</Slides>
  <Notes>1</Notes>
  <HiddenSlides>0</HiddenSlides>
  <MMClips>0</MMClips>
  <ScaleCrop>false</ScaleCrop>
  <HeadingPairs>
    <vt:vector size="6" baseType="variant">
      <vt:variant>
        <vt:lpstr>已用的字体</vt:lpstr>
      </vt:variant>
      <vt:variant>
        <vt:i4>10</vt:i4>
      </vt:variant>
      <vt:variant>
        <vt:lpstr>主题</vt:lpstr>
      </vt:variant>
      <vt:variant>
        <vt:i4>14</vt:i4>
      </vt:variant>
      <vt:variant>
        <vt:lpstr>幻灯片标题</vt:lpstr>
      </vt:variant>
      <vt:variant>
        <vt:i4>8</vt:i4>
      </vt:variant>
    </vt:vector>
  </HeadingPairs>
  <TitlesOfParts>
    <vt:vector size="32" baseType="lpstr">
      <vt:lpstr>Arial</vt:lpstr>
      <vt:lpstr>宋体</vt:lpstr>
      <vt:lpstr>Wingdings</vt:lpstr>
      <vt:lpstr>微软雅黑</vt:lpstr>
      <vt:lpstr>Arial</vt:lpstr>
      <vt:lpstr>Helvetica Light</vt:lpstr>
      <vt:lpstr>Open Sans</vt:lpstr>
      <vt:lpstr>Segoe Print</vt:lpstr>
      <vt:lpstr>Helvetica Neue</vt:lpstr>
      <vt:lpstr>Arial Unicode MS</vt:lpstr>
      <vt:lpstr>webwppDefTheme</vt:lpstr>
      <vt:lpstr>1_webwppDefTheme</vt:lpstr>
      <vt:lpstr>2_webwppDefTheme</vt:lpstr>
      <vt:lpstr>3_webwppDefTheme</vt:lpstr>
      <vt:lpstr>4_webwppDefTheme</vt:lpstr>
      <vt:lpstr>5_webwppDefTheme</vt:lpstr>
      <vt:lpstr>6_webwppDefTheme</vt:lpstr>
      <vt:lpstr>10_webwppDefTheme</vt:lpstr>
      <vt:lpstr>11_webwppDefTheme</vt:lpstr>
      <vt:lpstr>7_webwppDefTheme</vt:lpstr>
      <vt:lpstr>8_webwppDefTheme</vt:lpstr>
      <vt:lpstr>9_webwppDefTheme</vt:lpstr>
      <vt:lpstr>12_webwppDefTheme</vt:lpstr>
      <vt:lpstr>13_webwppDefTheme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Zechen Wei14669</dc:creator>
  <cp:lastModifiedBy>李涛</cp:lastModifiedBy>
  <cp:revision>404</cp:revision>
  <dcterms:created xsi:type="dcterms:W3CDTF">2025-10-27T09:32:00Z</dcterms:created>
  <dcterms:modified xsi:type="dcterms:W3CDTF">2026-10-19T06:34:38Z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
  </property>
</Properties>
</file>