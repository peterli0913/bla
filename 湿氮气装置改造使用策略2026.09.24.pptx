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ngchao Wang" initials="YW" lastIdx="1" clrIdx="0"/>
  <p:cmAuthor id="2" name="Zhiheng Wang" initials="ZW" lastIdx="1" clrIdx="1">
    <p:extLst>
      <p:ext uri="{19B8F6BF-5375-455C-9EA6-DF929625EA0E}">
        <p15:presenceInfo xmlns:p15="http://schemas.microsoft.com/office/powerpoint/2012/main" userId="Zhiheng W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24T17:33:17.354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19B2B-C672-4819-9876-120A6C66DB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B69B-828D-475B-96B5-C6450DB382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" t="2116" r="4860" b="1865"/>
          <a:stretch/>
        </p:blipFill>
        <p:spPr>
          <a:xfrm>
            <a:off x="4936245" y="892899"/>
            <a:ext cx="6423558" cy="5569247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647505" y="1112946"/>
            <a:ext cx="1990472" cy="41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 smtClean="0"/>
              <a:t>湿氮气-使用策略</a:t>
            </a:r>
            <a:endParaRPr lang="zh-CN" altLang="en-US" b="1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3574922" y="2166730"/>
            <a:ext cx="1573548" cy="361737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3521417" y="3363206"/>
            <a:ext cx="1361322" cy="477274"/>
          </a:xfrm>
          <a:prstGeom prst="straightConnector1">
            <a:avLst/>
          </a:prstGeom>
          <a:ln w="50800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647504" y="1527131"/>
            <a:ext cx="29274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 smtClean="0"/>
              <a:t>湿氮气装置整体策略：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 smtClean="0"/>
              <a:t>一、首次使用时：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 smtClean="0">
                <a:sym typeface="+mn-ea"/>
              </a:rPr>
              <a:t>1.</a:t>
            </a:r>
            <a:r>
              <a:rPr lang="zh-CN" altLang="en-US" sz="1200" b="1" dirty="0" smtClean="0">
                <a:sym typeface="+mn-ea"/>
              </a:rPr>
              <a:t>碱液清洗：依次使用碱液、纯化水进行循环冲洗，最后使用氮气对设备进行吹扫低点排净。</a:t>
            </a:r>
            <a:endParaRPr lang="en-US" altLang="zh-CN" sz="1200" b="1" dirty="0" smtClean="0"/>
          </a:p>
          <a:p>
            <a:pPr>
              <a:lnSpc>
                <a:spcPct val="150000"/>
              </a:lnSpc>
            </a:pPr>
            <a:r>
              <a:rPr lang="en-US" altLang="zh-CN" sz="1200" b="1" dirty="0" smtClean="0"/>
              <a:t>2.</a:t>
            </a:r>
            <a:r>
              <a:rPr lang="zh-CN" altLang="en-US" sz="1200" b="1" dirty="0" smtClean="0"/>
              <a:t> 注射水淋洗：使用无菌软袋，通过无菌链接器，使用注射水对装置进行循环喷淋淋洗后，低点排</a:t>
            </a:r>
            <a:r>
              <a:rPr lang="zh-CN" altLang="en-US" sz="1200" b="1" dirty="0" smtClean="0"/>
              <a:t>净。</a:t>
            </a:r>
            <a:endParaRPr lang="zh-CN" altLang="en-US" sz="1200" b="1" dirty="0" smtClean="0"/>
          </a:p>
          <a:p>
            <a:pPr>
              <a:lnSpc>
                <a:spcPct val="150000"/>
              </a:lnSpc>
            </a:pPr>
            <a:r>
              <a:rPr lang="en-US" altLang="zh-CN" sz="1200" b="1" dirty="0" smtClean="0"/>
              <a:t>3.</a:t>
            </a:r>
            <a:r>
              <a:rPr lang="zh-CN" altLang="en-US" sz="1200" b="1" dirty="0" smtClean="0"/>
              <a:t>注射水进料：再次通过无菌袋加入注射水进行</a:t>
            </a:r>
            <a:r>
              <a:rPr lang="zh-CN" altLang="en-US" sz="1200" b="1" dirty="0" smtClean="0"/>
              <a:t>使用。</a:t>
            </a:r>
            <a:endParaRPr lang="en-US" altLang="zh-CN" sz="1200" b="1" dirty="0" smtClean="0"/>
          </a:p>
          <a:p>
            <a:pPr>
              <a:lnSpc>
                <a:spcPct val="150000"/>
              </a:lnSpc>
            </a:pPr>
            <a:r>
              <a:rPr lang="zh-CN" altLang="en-US" sz="1200" b="1" dirty="0" smtClean="0"/>
              <a:t>二、注射水周期性更换</a:t>
            </a:r>
            <a:endParaRPr lang="en-US" altLang="zh-CN" sz="1200" b="1" dirty="0" smtClean="0"/>
          </a:p>
          <a:p>
            <a:pPr>
              <a:lnSpc>
                <a:spcPct val="150000"/>
              </a:lnSpc>
            </a:pPr>
            <a:r>
              <a:rPr lang="en-US" altLang="zh-CN" sz="1200" b="1" dirty="0" smtClean="0"/>
              <a:t>1</a:t>
            </a:r>
            <a:r>
              <a:rPr lang="en-US" altLang="zh-CN" sz="1200" b="1" dirty="0" smtClean="0"/>
              <a:t>.</a:t>
            </a:r>
            <a:r>
              <a:rPr lang="zh-CN" altLang="en-US" sz="1200" b="1" dirty="0" smtClean="0"/>
              <a:t>低</a:t>
            </a:r>
            <a:r>
              <a:rPr lang="zh-CN" altLang="en-US" sz="1200" b="1" dirty="0" smtClean="0"/>
              <a:t>点排</a:t>
            </a:r>
            <a:r>
              <a:rPr lang="zh-CN" altLang="en-US" sz="1200" b="1" dirty="0" smtClean="0"/>
              <a:t>净。</a:t>
            </a:r>
            <a:endParaRPr lang="zh-CN" altLang="en-US" sz="1200" b="1" dirty="0" smtClean="0"/>
          </a:p>
          <a:p>
            <a:pPr>
              <a:lnSpc>
                <a:spcPct val="150000"/>
              </a:lnSpc>
            </a:pPr>
            <a:r>
              <a:rPr lang="en-US" altLang="zh-CN" sz="1200" b="1" dirty="0" smtClean="0"/>
              <a:t>2</a:t>
            </a:r>
            <a:r>
              <a:rPr lang="en-US" altLang="zh-CN" sz="1200" b="1" dirty="0" smtClean="0"/>
              <a:t>.</a:t>
            </a:r>
            <a:r>
              <a:rPr lang="zh-CN" altLang="en-US" sz="1200" b="1" dirty="0" smtClean="0"/>
              <a:t>补充</a:t>
            </a:r>
            <a:r>
              <a:rPr lang="zh-CN" altLang="en-US" sz="1200" b="1" dirty="0" smtClean="0"/>
              <a:t>新注射水循环淋洗，低点排</a:t>
            </a:r>
            <a:r>
              <a:rPr lang="zh-CN" altLang="en-US" sz="1200" b="1" dirty="0" smtClean="0"/>
              <a:t>净。</a:t>
            </a:r>
            <a:endParaRPr lang="zh-CN" altLang="en-US" sz="1200" b="1" dirty="0" smtClean="0"/>
          </a:p>
          <a:p>
            <a:pPr>
              <a:lnSpc>
                <a:spcPct val="150000"/>
              </a:lnSpc>
            </a:pPr>
            <a:r>
              <a:rPr lang="en-US" altLang="zh-CN" sz="1200" b="1" dirty="0" smtClean="0"/>
              <a:t>3.</a:t>
            </a:r>
            <a:r>
              <a:rPr lang="zh-CN" altLang="en-US" sz="1200" b="1" dirty="0" smtClean="0"/>
              <a:t>再次</a:t>
            </a:r>
            <a:r>
              <a:rPr lang="zh-CN" altLang="en-US" sz="1200" b="1" dirty="0" smtClean="0"/>
              <a:t>补入注射水进行</a:t>
            </a:r>
            <a:r>
              <a:rPr lang="zh-CN" altLang="en-US" sz="1200" b="1" dirty="0" smtClean="0"/>
              <a:t>使用。</a:t>
            </a:r>
            <a:endParaRPr lang="en-US" altLang="zh-CN" sz="1200" b="1" dirty="0" smtClean="0"/>
          </a:p>
          <a:p>
            <a:pPr>
              <a:lnSpc>
                <a:spcPct val="150000"/>
              </a:lnSpc>
            </a:pPr>
            <a:r>
              <a:rPr lang="zh-CN" altLang="en-US" sz="1200" b="1" dirty="0" smtClean="0"/>
              <a:t>三、两套氮气加湿装置互补</a:t>
            </a:r>
            <a:endParaRPr lang="en-US" altLang="zh-CN" sz="1200" b="1" dirty="0" smtClean="0"/>
          </a:p>
          <a:p>
            <a:pPr>
              <a:lnSpc>
                <a:spcPct val="150000"/>
              </a:lnSpc>
            </a:pPr>
            <a:r>
              <a:rPr lang="zh-CN" altLang="en-US" sz="1200" b="1" dirty="0" smtClean="0"/>
              <a:t>在注射水周期范围内按照方式二，周期性循环清洗交替</a:t>
            </a:r>
            <a:r>
              <a:rPr lang="zh-CN" altLang="en-US" sz="1200" b="1" dirty="0" smtClean="0"/>
              <a:t>使用</a:t>
            </a:r>
            <a:r>
              <a:rPr lang="zh-CN" altLang="en-US" sz="1200" b="1" dirty="0"/>
              <a:t>。</a:t>
            </a:r>
            <a:endParaRPr lang="en-US" altLang="zh-CN" sz="1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2" r="1393" b="13231"/>
          <a:stretch/>
        </p:blipFill>
        <p:spPr>
          <a:xfrm>
            <a:off x="2967487" y="1333167"/>
            <a:ext cx="8804948" cy="509163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2700069" y="1495321"/>
            <a:ext cx="2410946" cy="1127110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14384" y="1037280"/>
            <a:ext cx="2185686" cy="97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>
                <a:sym typeface="+mn-ea"/>
              </a:rPr>
              <a:t>1.</a:t>
            </a:r>
            <a:r>
              <a:rPr lang="zh-CN" altLang="en-US" sz="1200" b="1" dirty="0" smtClean="0">
                <a:sym typeface="+mn-ea"/>
              </a:rPr>
              <a:t>进洁净区物料管路：设置有清洗吹扫口，能够往两个方向进行清洗吹</a:t>
            </a:r>
            <a:r>
              <a:rPr lang="zh-CN" altLang="en-US" sz="1200" b="1" dirty="0" smtClean="0">
                <a:sym typeface="+mn-ea"/>
              </a:rPr>
              <a:t>扫。</a:t>
            </a:r>
            <a:endParaRPr lang="zh-CN" altLang="en-US" sz="1200" b="1" dirty="0" smtClean="0">
              <a:sym typeface="+mn-ea"/>
            </a:endParaRPr>
          </a:p>
        </p:txBody>
      </p:sp>
      <p:cxnSp>
        <p:nvCxnSpPr>
          <p:cNvPr id="5" name="直接箭头连接符 4"/>
          <p:cNvCxnSpPr>
            <a:endCxn id="15" idx="3"/>
          </p:cNvCxnSpPr>
          <p:nvPr/>
        </p:nvCxnSpPr>
        <p:spPr>
          <a:xfrm flipH="1" flipV="1">
            <a:off x="2798767" y="3302940"/>
            <a:ext cx="3334971" cy="5851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4384" y="3015657"/>
            <a:ext cx="2284383" cy="57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/>
              <a:t>2.</a:t>
            </a:r>
            <a:r>
              <a:rPr lang="zh-CN" altLang="en-US" sz="1200" b="1" dirty="0" smtClean="0"/>
              <a:t>过滤器策略：过滤器采用离线清洗的方式。</a:t>
            </a:r>
            <a:endParaRPr lang="zh-CN" altLang="en-US" sz="12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514384" y="4389273"/>
            <a:ext cx="19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/>
              <a:t>3.</a:t>
            </a:r>
            <a:r>
              <a:rPr lang="zh-CN" altLang="en-US" sz="1200" b="1" dirty="0" smtClean="0"/>
              <a:t>注射水预</a:t>
            </a:r>
            <a:r>
              <a:rPr lang="zh-CN" altLang="en-US" sz="1200" b="1" dirty="0" smtClean="0"/>
              <a:t>冲洗排净管路。</a:t>
            </a:r>
            <a:endParaRPr lang="zh-CN" altLang="en-US" sz="1200" b="1" dirty="0"/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2618072" y="3829151"/>
            <a:ext cx="4852177" cy="744788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722526" y="1013235"/>
            <a:ext cx="3199066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 smtClean="0"/>
              <a:t>设备低</a:t>
            </a:r>
            <a:r>
              <a:rPr lang="zh-CN" altLang="en-US" b="1" dirty="0" smtClean="0"/>
              <a:t>点排净和高位</a:t>
            </a:r>
            <a:r>
              <a:rPr lang="zh-CN" altLang="en-US" b="1" dirty="0" smtClean="0"/>
              <a:t>吹扫点位</a:t>
            </a:r>
            <a:endParaRPr lang="zh-CN" altLang="en-US" b="1" dirty="0"/>
          </a:p>
        </p:txBody>
      </p:sp>
      <p:sp>
        <p:nvSpPr>
          <p:cNvPr id="3" name="圆角矩形 2"/>
          <p:cNvSpPr/>
          <p:nvPr/>
        </p:nvSpPr>
        <p:spPr>
          <a:xfrm>
            <a:off x="5188017" y="2622431"/>
            <a:ext cx="481263" cy="329820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147361" y="2977157"/>
            <a:ext cx="551822" cy="439811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肘形连接符 19"/>
          <p:cNvCxnSpPr/>
          <p:nvPr/>
        </p:nvCxnSpPr>
        <p:spPr>
          <a:xfrm rot="5400000">
            <a:off x="6704416" y="4202480"/>
            <a:ext cx="2703860" cy="904776"/>
          </a:xfrm>
          <a:prstGeom prst="bentConnector3">
            <a:avLst>
              <a:gd name="adj1" fmla="val 7282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9230628" y="5611528"/>
            <a:ext cx="19250" cy="47163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9837019" y="5696551"/>
            <a:ext cx="8022" cy="38661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2700071" y="5763511"/>
            <a:ext cx="6463180" cy="8383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14384" y="5557656"/>
            <a:ext cx="19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/>
              <a:t>4.</a:t>
            </a:r>
            <a:r>
              <a:rPr lang="zh-CN" altLang="en-US" sz="1200" b="1" dirty="0" smtClean="0"/>
              <a:t>设备低点排净管路。</a:t>
            </a:r>
            <a:endParaRPr lang="zh-CN" alt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72" y="1541026"/>
            <a:ext cx="6025910" cy="4820728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 flipV="1">
            <a:off x="3513221" y="1713297"/>
            <a:ext cx="5034016" cy="345582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31540" y="1365198"/>
            <a:ext cx="2926060" cy="69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>
                <a:sym typeface="+mn-ea"/>
              </a:rPr>
              <a:t>1.</a:t>
            </a:r>
            <a:r>
              <a:rPr lang="zh-CN" altLang="en-US" sz="1200" b="1" dirty="0" smtClean="0">
                <a:sym typeface="+mn-ea"/>
              </a:rPr>
              <a:t>进三合一的湿氮气管路</a:t>
            </a:r>
            <a:r>
              <a:rPr lang="zh-CN" altLang="en-US" sz="1200" b="1" dirty="0" smtClean="0">
                <a:sym typeface="+mn-ea"/>
              </a:rPr>
              <a:t>：设置有清洗吹扫口，能够往两个方向进行清洗吹</a:t>
            </a:r>
            <a:r>
              <a:rPr lang="zh-CN" altLang="en-US" sz="1200" b="1" dirty="0" smtClean="0">
                <a:sym typeface="+mn-ea"/>
              </a:rPr>
              <a:t>扫。</a:t>
            </a:r>
            <a:endParaRPr lang="zh-CN" altLang="en-US" sz="1200" b="1" dirty="0" smtClean="0"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653112" y="2058876"/>
            <a:ext cx="798897" cy="328189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34282" y="945858"/>
            <a:ext cx="3199066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 smtClean="0"/>
              <a:t>设备低</a:t>
            </a:r>
            <a:r>
              <a:rPr lang="zh-CN" altLang="en-US" b="1" dirty="0" smtClean="0"/>
              <a:t>点排净和高位</a:t>
            </a:r>
            <a:r>
              <a:rPr lang="zh-CN" altLang="en-US" b="1" dirty="0" smtClean="0"/>
              <a:t>吹扫点位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65381" y="2222970"/>
            <a:ext cx="266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 smtClean="0"/>
              <a:t>2.</a:t>
            </a:r>
            <a:r>
              <a:rPr lang="zh-CN" altLang="en-US" sz="1200" b="1" dirty="0">
                <a:sym typeface="+mn-ea"/>
              </a:rPr>
              <a:t>进三合一的湿氮气</a:t>
            </a:r>
            <a:r>
              <a:rPr lang="zh-CN" altLang="en-US" sz="1200" b="1" dirty="0" smtClean="0">
                <a:sym typeface="+mn-ea"/>
              </a:rPr>
              <a:t>管路地点排净</a:t>
            </a:r>
            <a:r>
              <a:rPr lang="zh-CN" altLang="en-US" sz="1200" b="1" dirty="0" smtClean="0"/>
              <a:t>。</a:t>
            </a:r>
            <a:endParaRPr lang="zh-CN" altLang="en-US" sz="1200" b="1" dirty="0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531974" y="2483318"/>
            <a:ext cx="2936206" cy="2781704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5400000">
            <a:off x="7359406" y="4134944"/>
            <a:ext cx="3655817" cy="529390"/>
          </a:xfrm>
          <a:prstGeom prst="bentConnector3">
            <a:avLst>
              <a:gd name="adj1" fmla="val 765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6583680" y="5111015"/>
            <a:ext cx="9626" cy="1029903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95808" y="3619759"/>
            <a:ext cx="4482584" cy="1491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 smtClean="0"/>
              <a:t>需客户确认：</a:t>
            </a:r>
            <a:endParaRPr lang="en-US" altLang="zh-CN" sz="1600" b="1" dirty="0" smtClean="0"/>
          </a:p>
          <a:p>
            <a:r>
              <a:rPr lang="zh-CN" altLang="en-US" sz="1400" b="1" dirty="0" smtClean="0"/>
              <a:t>排净和吹</a:t>
            </a:r>
            <a:r>
              <a:rPr lang="zh-CN" altLang="en-US" sz="1400" b="1" dirty="0" smtClean="0"/>
              <a:t>扫点</a:t>
            </a:r>
            <a:r>
              <a:rPr lang="zh-CN" altLang="en-US" sz="1400" b="1" dirty="0" smtClean="0"/>
              <a:t>位阀门安装要求</a:t>
            </a:r>
            <a:r>
              <a:rPr lang="en-US" altLang="zh-CN" sz="1400" b="1" dirty="0" smtClean="0"/>
              <a:t>2D</a:t>
            </a:r>
            <a:r>
              <a:rPr lang="zh-CN" altLang="en-US" sz="1400" b="1" dirty="0" smtClean="0"/>
              <a:t>还是</a:t>
            </a:r>
            <a:r>
              <a:rPr lang="en-US" altLang="zh-CN" sz="1400" b="1" dirty="0" smtClean="0"/>
              <a:t>3D?</a:t>
            </a:r>
          </a:p>
          <a:p>
            <a:r>
              <a:rPr lang="en-US" altLang="zh-CN" sz="1400" b="1" dirty="0" smtClean="0"/>
              <a:t>1.  2D——</a:t>
            </a:r>
            <a:r>
              <a:rPr lang="zh-CN" altLang="en-US" sz="1400" b="1" dirty="0" smtClean="0"/>
              <a:t>阀门采购周期较长；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2.  3D——</a:t>
            </a:r>
            <a:r>
              <a:rPr lang="zh-CN" altLang="en-US" sz="1400" b="1" dirty="0" smtClean="0"/>
              <a:t>阀门采购周期短，国内设备厂家反馈</a:t>
            </a:r>
            <a:r>
              <a:rPr lang="en-US" altLang="zh-CN" sz="1400" b="1" dirty="0" smtClean="0"/>
              <a:t>3D</a:t>
            </a:r>
            <a:r>
              <a:rPr lang="zh-CN" altLang="en-US" sz="1400" b="1" dirty="0" smtClean="0"/>
              <a:t>能够清洗干净。</a:t>
            </a:r>
            <a:endParaRPr lang="zh-CN" altLang="en-US" sz="1400" b="1" dirty="0"/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3531974" y="2387065"/>
            <a:ext cx="5294394" cy="452390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313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Xiangyang Peng</dc:creator>
  <cp:lastModifiedBy>Yongchao Wang</cp:lastModifiedBy>
  <cp:revision>16</cp:revision>
  <dcterms:created xsi:type="dcterms:W3CDTF">2026-09-24T07:07:32Z</dcterms:created>
  <dcterms:modified xsi:type="dcterms:W3CDTF">2026-09-24T10:20:28Z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