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7" r:id="rId3"/>
    <p:sldId id="266" r:id="rId4"/>
    <p:sldId id="264" r:id="rId5"/>
    <p:sldId id="260" r:id="rId6"/>
    <p:sldId id="262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4A6"/>
    <a:srgbClr val="B51B40"/>
    <a:srgbClr val="FF7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1E7D6-EC98-45BA-AFBC-2646A1C90A09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823BC-C1D6-4B34-9F47-12DE94B0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9194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1E7D6-EC98-45BA-AFBC-2646A1C90A09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823BC-C1D6-4B34-9F47-12DE94B0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1845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1E7D6-EC98-45BA-AFBC-2646A1C90A09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823BC-C1D6-4B34-9F47-12DE94B0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7867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1E7D6-EC98-45BA-AFBC-2646A1C90A09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823BC-C1D6-4B34-9F47-12DE94B0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0167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1E7D6-EC98-45BA-AFBC-2646A1C90A09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823BC-C1D6-4B34-9F47-12DE94B0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0741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1E7D6-EC98-45BA-AFBC-2646A1C90A09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823BC-C1D6-4B34-9F47-12DE94B0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197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1E7D6-EC98-45BA-AFBC-2646A1C90A09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823BC-C1D6-4B34-9F47-12DE94B0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8823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1E7D6-EC98-45BA-AFBC-2646A1C90A09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823BC-C1D6-4B34-9F47-12DE94B0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1041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1E7D6-EC98-45BA-AFBC-2646A1C90A09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823BC-C1D6-4B34-9F47-12DE94B0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8196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1E7D6-EC98-45BA-AFBC-2646A1C90A09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823BC-C1D6-4B34-9F47-12DE94B0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361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1E7D6-EC98-45BA-AFBC-2646A1C90A09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823BC-C1D6-4B34-9F47-12DE94B0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6359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3493453" y="655002"/>
            <a:ext cx="8698548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6474354"/>
            <a:ext cx="12192000" cy="284693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1360945" y="6474354"/>
            <a:ext cx="831056" cy="284693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598" y="315051"/>
            <a:ext cx="2648903" cy="526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22090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B1E7D6-EC98-45BA-AFBC-2646A1C90A09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823BC-C1D6-4B34-9F47-12DE94B0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525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855243" y="231006"/>
            <a:ext cx="2175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排废及加水流程</a:t>
            </a:r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82750" y="1459555"/>
            <a:ext cx="11689088" cy="4600281"/>
            <a:chOff x="99683" y="1659211"/>
            <a:chExt cx="11689088" cy="4600281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683" y="1659211"/>
              <a:ext cx="11689088" cy="4600281"/>
            </a:xfrm>
            <a:prstGeom prst="rect">
              <a:avLst/>
            </a:prstGeom>
          </p:spPr>
        </p:pic>
        <p:sp>
          <p:nvSpPr>
            <p:cNvPr id="6" name="矩形 5"/>
            <p:cNvSpPr/>
            <p:nvPr/>
          </p:nvSpPr>
          <p:spPr>
            <a:xfrm>
              <a:off x="1216152" y="3346704"/>
              <a:ext cx="45720" cy="12252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空心弧 6"/>
            <p:cNvSpPr/>
            <p:nvPr/>
          </p:nvSpPr>
          <p:spPr>
            <a:xfrm rot="10800000">
              <a:off x="1216152" y="3730375"/>
              <a:ext cx="731520" cy="1591056"/>
            </a:xfrm>
            <a:prstGeom prst="blockArc">
              <a:avLst>
                <a:gd name="adj1" fmla="val 10532664"/>
                <a:gd name="adj2" fmla="val 21107371"/>
                <a:gd name="adj3" fmla="val 507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" name="右箭头 8"/>
          <p:cNvSpPr/>
          <p:nvPr/>
        </p:nvSpPr>
        <p:spPr>
          <a:xfrm>
            <a:off x="5003800" y="2379133"/>
            <a:ext cx="1286934" cy="414866"/>
          </a:xfrm>
          <a:prstGeom prst="rightArrow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右箭头 9"/>
          <p:cNvSpPr/>
          <p:nvPr/>
        </p:nvSpPr>
        <p:spPr>
          <a:xfrm rot="5400000">
            <a:off x="9776093" y="3502790"/>
            <a:ext cx="665010" cy="331403"/>
          </a:xfrm>
          <a:prstGeom prst="rightArrow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v</a:t>
            </a:r>
            <a:endParaRPr lang="zh-CN" altLang="en-US" dirty="0"/>
          </a:p>
        </p:txBody>
      </p:sp>
      <p:sp>
        <p:nvSpPr>
          <p:cNvPr id="11" name="右箭头 10"/>
          <p:cNvSpPr/>
          <p:nvPr/>
        </p:nvSpPr>
        <p:spPr>
          <a:xfrm rot="5400000">
            <a:off x="9776092" y="4694514"/>
            <a:ext cx="665010" cy="331403"/>
          </a:xfrm>
          <a:prstGeom prst="rightArrow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 rot="5400000">
            <a:off x="10563493" y="4975991"/>
            <a:ext cx="665010" cy="331403"/>
          </a:xfrm>
          <a:prstGeom prst="rightArrow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628236" y="3341429"/>
            <a:ext cx="1385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accent1"/>
                </a:solidFill>
              </a:rPr>
              <a:t>①排废流路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 flipH="1">
            <a:off x="11030552" y="3759696"/>
            <a:ext cx="169486" cy="819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10363200" y="2343949"/>
            <a:ext cx="1408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②加水流路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 flipH="1">
            <a:off x="10108597" y="2719961"/>
            <a:ext cx="604382" cy="2089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右箭头 19"/>
          <p:cNvSpPr/>
          <p:nvPr/>
        </p:nvSpPr>
        <p:spPr>
          <a:xfrm>
            <a:off x="10253098" y="4310754"/>
            <a:ext cx="433503" cy="188676"/>
          </a:xfrm>
          <a:prstGeom prst="rightArrow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88364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855243" y="231006"/>
            <a:ext cx="2175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取样流程</a:t>
            </a:r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209749" y="1408755"/>
            <a:ext cx="11689088" cy="4600281"/>
            <a:chOff x="209749" y="1408755"/>
            <a:chExt cx="11689088" cy="4600281"/>
          </a:xfrm>
        </p:grpSpPr>
        <p:grpSp>
          <p:nvGrpSpPr>
            <p:cNvPr id="5" name="组合 4"/>
            <p:cNvGrpSpPr/>
            <p:nvPr/>
          </p:nvGrpSpPr>
          <p:grpSpPr>
            <a:xfrm>
              <a:off x="209749" y="1408755"/>
              <a:ext cx="11689088" cy="4600281"/>
              <a:chOff x="99683" y="1659211"/>
              <a:chExt cx="11689088" cy="4600281"/>
            </a:xfrm>
          </p:grpSpPr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9683" y="1659211"/>
                <a:ext cx="11689088" cy="4600281"/>
              </a:xfrm>
              <a:prstGeom prst="rect">
                <a:avLst/>
              </a:prstGeom>
            </p:spPr>
          </p:pic>
          <p:sp>
            <p:nvSpPr>
              <p:cNvPr id="7" name="矩形 6"/>
              <p:cNvSpPr/>
              <p:nvPr/>
            </p:nvSpPr>
            <p:spPr>
              <a:xfrm>
                <a:off x="1216152" y="3346704"/>
                <a:ext cx="45720" cy="122529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空心弧 7"/>
              <p:cNvSpPr/>
              <p:nvPr/>
            </p:nvSpPr>
            <p:spPr>
              <a:xfrm rot="10800000">
                <a:off x="1216152" y="3730375"/>
                <a:ext cx="731520" cy="1591056"/>
              </a:xfrm>
              <a:prstGeom prst="blockArc">
                <a:avLst>
                  <a:gd name="adj1" fmla="val 10532664"/>
                  <a:gd name="adj2" fmla="val 21107371"/>
                  <a:gd name="adj3" fmla="val 5075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" name="右箭头 8"/>
            <p:cNvSpPr/>
            <p:nvPr/>
          </p:nvSpPr>
          <p:spPr>
            <a:xfrm>
              <a:off x="5003800" y="2379133"/>
              <a:ext cx="1286934" cy="414866"/>
            </a:xfrm>
            <a:prstGeom prst="rightArrow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右箭头 9"/>
            <p:cNvSpPr/>
            <p:nvPr/>
          </p:nvSpPr>
          <p:spPr>
            <a:xfrm rot="5400000">
              <a:off x="9920592" y="3404106"/>
              <a:ext cx="665010" cy="331403"/>
            </a:xfrm>
            <a:prstGeom prst="rightArrow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v</a:t>
              </a:r>
              <a:endParaRPr lang="zh-CN" altLang="en-US" dirty="0"/>
            </a:p>
          </p:txBody>
        </p:sp>
        <p:sp>
          <p:nvSpPr>
            <p:cNvPr id="11" name="右箭头 10"/>
            <p:cNvSpPr/>
            <p:nvPr/>
          </p:nvSpPr>
          <p:spPr>
            <a:xfrm rot="5400000">
              <a:off x="10489410" y="4738925"/>
              <a:ext cx="665010" cy="331403"/>
            </a:xfrm>
            <a:prstGeom prst="rightArrow">
              <a:avLst/>
            </a:prstGeom>
            <a:solidFill>
              <a:schemeClr val="bg1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9330230" y="1469033"/>
            <a:ext cx="1845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①排废→②取样</a:t>
            </a:r>
            <a:endParaRPr lang="en-US" altLang="zh-CN" dirty="0" smtClean="0"/>
          </a:p>
        </p:txBody>
      </p:sp>
      <p:cxnSp>
        <p:nvCxnSpPr>
          <p:cNvPr id="16" name="直接箭头连接符 15"/>
          <p:cNvCxnSpPr/>
          <p:nvPr/>
        </p:nvCxnSpPr>
        <p:spPr>
          <a:xfrm flipH="1">
            <a:off x="10735733" y="1930400"/>
            <a:ext cx="86182" cy="1971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/>
          <p:cNvSpPr/>
          <p:nvPr/>
        </p:nvSpPr>
        <p:spPr>
          <a:xfrm>
            <a:off x="10244667" y="3994349"/>
            <a:ext cx="931296" cy="50991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495004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855243" y="231006"/>
            <a:ext cx="2175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取样流程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83" y="1470580"/>
            <a:ext cx="11689088" cy="4600281"/>
          </a:xfrm>
          <a:prstGeom prst="rect">
            <a:avLst/>
          </a:prstGeom>
        </p:spPr>
      </p:pic>
      <p:sp>
        <p:nvSpPr>
          <p:cNvPr id="3" name="上箭头 2"/>
          <p:cNvSpPr/>
          <p:nvPr/>
        </p:nvSpPr>
        <p:spPr>
          <a:xfrm>
            <a:off x="2260600" y="2861733"/>
            <a:ext cx="228600" cy="14732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右箭头 4"/>
          <p:cNvSpPr/>
          <p:nvPr/>
        </p:nvSpPr>
        <p:spPr>
          <a:xfrm>
            <a:off x="3793067" y="2472267"/>
            <a:ext cx="2023534" cy="254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 rot="5400000">
            <a:off x="9736666" y="3606800"/>
            <a:ext cx="884767" cy="2074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 rot="5400000">
            <a:off x="10320866" y="4834468"/>
            <a:ext cx="884767" cy="2074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左箭头 7"/>
          <p:cNvSpPr/>
          <p:nvPr/>
        </p:nvSpPr>
        <p:spPr>
          <a:xfrm>
            <a:off x="1769533" y="2463800"/>
            <a:ext cx="491067" cy="262467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左箭头 8"/>
          <p:cNvSpPr/>
          <p:nvPr/>
        </p:nvSpPr>
        <p:spPr>
          <a:xfrm rot="16200000">
            <a:off x="1367366" y="3424765"/>
            <a:ext cx="1066801" cy="262467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970867" y="973667"/>
            <a:ext cx="502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先吹扫</a:t>
            </a:r>
            <a:r>
              <a:rPr lang="zh-CN" altLang="en-US" dirty="0" smtClean="0">
                <a:solidFill>
                  <a:schemeClr val="accent1"/>
                </a:solidFill>
              </a:rPr>
              <a:t>①</a:t>
            </a:r>
            <a:r>
              <a:rPr lang="zh-CN" altLang="en-US" dirty="0" smtClean="0"/>
              <a:t>→吹扫</a:t>
            </a:r>
            <a:r>
              <a:rPr lang="zh-CN" altLang="en-US" dirty="0" smtClean="0">
                <a:solidFill>
                  <a:srgbClr val="FF0000"/>
                </a:solidFill>
              </a:rPr>
              <a:t>②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1" name="左箭头 10"/>
          <p:cNvSpPr/>
          <p:nvPr/>
        </p:nvSpPr>
        <p:spPr>
          <a:xfrm rot="16200000">
            <a:off x="1710775" y="4801871"/>
            <a:ext cx="1077975" cy="272627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左箭头 11"/>
          <p:cNvSpPr/>
          <p:nvPr/>
        </p:nvSpPr>
        <p:spPr>
          <a:xfrm rot="10800000">
            <a:off x="5989403" y="5380569"/>
            <a:ext cx="1066801" cy="262467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481203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855243" y="231006"/>
            <a:ext cx="2175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纯化水使用流程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596767" y="1148294"/>
            <a:ext cx="10168128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/>
              <a:t>一、纯化水使用流程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en-US" dirty="0" smtClean="0"/>
              <a:t>软管连接纯化水点至固定管线</a:t>
            </a:r>
            <a:r>
              <a:rPr lang="zh-CN" altLang="en-US" b="1" dirty="0" smtClean="0"/>
              <a:t>→</a:t>
            </a:r>
            <a:r>
              <a:rPr lang="zh-CN" altLang="en-US" dirty="0" smtClean="0"/>
              <a:t>打开水阀</a:t>
            </a:r>
            <a:r>
              <a:rPr lang="zh-CN" altLang="en-US" b="1" dirty="0" smtClean="0"/>
              <a:t>→</a:t>
            </a:r>
            <a:r>
              <a:rPr lang="zh-CN" altLang="en-US" dirty="0" smtClean="0"/>
              <a:t>纯化水开始</a:t>
            </a:r>
            <a:r>
              <a:rPr lang="zh-CN" altLang="en-US" dirty="0"/>
              <a:t>排废</a:t>
            </a:r>
            <a:r>
              <a:rPr lang="zh-CN" altLang="en-US" b="1" dirty="0" smtClean="0"/>
              <a:t>→</a:t>
            </a:r>
            <a:r>
              <a:rPr lang="zh-CN" altLang="en-US" dirty="0" smtClean="0"/>
              <a:t>排废结束后进入使用点位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en-US" dirty="0" smtClean="0"/>
              <a:t>开启氮气吹扫阀门</a:t>
            </a:r>
            <a:r>
              <a:rPr lang="zh-CN" altLang="en-US" b="1" dirty="0" smtClean="0"/>
              <a:t>→</a:t>
            </a:r>
            <a:r>
              <a:rPr lang="zh-CN" altLang="en-US" dirty="0" smtClean="0"/>
              <a:t>向设备侧进行吹扫</a:t>
            </a:r>
            <a:r>
              <a:rPr lang="zh-CN" altLang="en-US" b="1" dirty="0" smtClean="0"/>
              <a:t>→</a:t>
            </a:r>
            <a:r>
              <a:rPr lang="zh-CN" altLang="en-US" dirty="0" smtClean="0"/>
              <a:t>完成后</a:t>
            </a:r>
            <a:r>
              <a:rPr lang="zh-CN" altLang="en-US" b="1" dirty="0" smtClean="0"/>
              <a:t>→</a:t>
            </a:r>
            <a:r>
              <a:rPr lang="zh-CN" altLang="en-US" dirty="0" smtClean="0"/>
              <a:t>向纯水点位方向吹扫</a:t>
            </a:r>
            <a:r>
              <a:rPr lang="zh-CN" altLang="en-US" b="1" dirty="0" smtClean="0"/>
              <a:t>→</a:t>
            </a:r>
            <a:r>
              <a:rPr lang="zh-CN" altLang="en-US" dirty="0" smtClean="0"/>
              <a:t>结束后关闭所有阀门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en-US" b="1" dirty="0" smtClean="0"/>
              <a:t>二、取样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en-US" dirty="0" smtClean="0"/>
              <a:t>软管</a:t>
            </a:r>
            <a:r>
              <a:rPr lang="zh-CN" altLang="en-US" dirty="0"/>
              <a:t>连接纯化水点至固定管线</a:t>
            </a:r>
            <a:r>
              <a:rPr lang="zh-CN" altLang="en-US" b="1" dirty="0"/>
              <a:t>→</a:t>
            </a:r>
            <a:r>
              <a:rPr lang="zh-CN" altLang="en-US" dirty="0"/>
              <a:t>打开水阀</a:t>
            </a:r>
            <a:r>
              <a:rPr lang="zh-CN" altLang="en-US" b="1" dirty="0"/>
              <a:t>→</a:t>
            </a:r>
            <a:r>
              <a:rPr lang="zh-CN" altLang="en-US" dirty="0"/>
              <a:t>纯化水开始排废</a:t>
            </a:r>
            <a:r>
              <a:rPr lang="zh-CN" altLang="en-US" b="1" dirty="0"/>
              <a:t>→</a:t>
            </a:r>
            <a:r>
              <a:rPr lang="zh-CN" altLang="en-US" dirty="0"/>
              <a:t>排废结束</a:t>
            </a:r>
            <a:r>
              <a:rPr lang="zh-CN" altLang="en-US" dirty="0" smtClean="0"/>
              <a:t>后进行手动取样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en-US" b="1" dirty="0" smtClean="0"/>
              <a:t>三、过滤器管理原则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en-US" dirty="0" smtClean="0"/>
              <a:t>每次使用前安装滤器，保证滤器使用时间不超过</a:t>
            </a:r>
            <a:r>
              <a:rPr lang="en-US" altLang="zh-CN" dirty="0" smtClean="0"/>
              <a:t>24</a:t>
            </a:r>
            <a:r>
              <a:rPr lang="zh-CN" altLang="en-US" dirty="0" smtClean="0"/>
              <a:t>小时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7140546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117598"/>
              </p:ext>
            </p:extLst>
          </p:nvPr>
        </p:nvGraphicFramePr>
        <p:xfrm>
          <a:off x="240150" y="406187"/>
          <a:ext cx="11781803" cy="6099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56903">
                  <a:extLst>
                    <a:ext uri="{9D8B030D-6E8A-4147-A177-3AD203B41FA5}">
                      <a16:colId xmlns:a16="http://schemas.microsoft.com/office/drawing/2014/main" val="23088648"/>
                    </a:ext>
                  </a:extLst>
                </a:gridCol>
                <a:gridCol w="3833667">
                  <a:extLst>
                    <a:ext uri="{9D8B030D-6E8A-4147-A177-3AD203B41FA5}">
                      <a16:colId xmlns:a16="http://schemas.microsoft.com/office/drawing/2014/main" val="3341615477"/>
                    </a:ext>
                  </a:extLst>
                </a:gridCol>
                <a:gridCol w="1691233">
                  <a:extLst>
                    <a:ext uri="{9D8B030D-6E8A-4147-A177-3AD203B41FA5}">
                      <a16:colId xmlns:a16="http://schemas.microsoft.com/office/drawing/2014/main" val="3029883940"/>
                    </a:ext>
                  </a:extLst>
                </a:gridCol>
              </a:tblGrid>
              <a:tr h="6873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Action Item_x000a_</a:t>
                      </a:r>
                      <a:r>
                        <a:rPr lang="zh-CN" altLang="en-US" sz="1200" b="1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行动项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实施方案</a:t>
                      </a:r>
                      <a:endParaRPr lang="zh-CN" altLang="en-US" sz="1200" b="1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执行时间</a:t>
                      </a:r>
                      <a:endParaRPr lang="zh-CN" altLang="en-US" sz="1200" b="1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9050" marR="19050" marT="12700" marB="12700" anchor="ctr"/>
                </a:tc>
                <a:extLst>
                  <a:ext uri="{0D108BD9-81ED-4DB2-BD59-A6C34878D82A}">
                    <a16:rowId xmlns:a16="http://schemas.microsoft.com/office/drawing/2014/main" val="1217773972"/>
                  </a:ext>
                </a:extLst>
              </a:tr>
              <a:tr h="453598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Justify the one-month service life for dedicated PW hoses</a:t>
                      </a:r>
                      <a:br>
                        <a:rPr 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论证专用纯化水（</a:t>
                      </a:r>
                      <a:r>
                        <a:rPr 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PW）</a:t>
                      </a:r>
                      <a:r>
                        <a:rPr lang="zh-CN" alt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软管一个月使用寿命的依据。</a:t>
                      </a:r>
                    </a:p>
                  </a:txBody>
                  <a:tcPr marL="19050" marR="19050" marT="12700" marB="12700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执行标准：每周清洁，每半年更换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2026.10.20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2537177"/>
                  </a:ext>
                </a:extLst>
              </a:tr>
              <a:tr h="866591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Replace silicone water hoses with PTFE hoses or provide a documented technical justification</a:t>
                      </a:r>
                      <a:br>
                        <a:rPr 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将硅胶水管更换为 </a:t>
                      </a:r>
                      <a:r>
                        <a:rPr 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PTFE </a:t>
                      </a:r>
                      <a:r>
                        <a:rPr lang="zh-CN" alt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软管，或提供成文技术论证。</a:t>
                      </a:r>
                    </a:p>
                  </a:txBody>
                  <a:tcPr marL="19050" marR="19050" marT="12700" marB="12700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更换为</a:t>
                      </a:r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PTFE</a:t>
                      </a:r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材质软管</a:t>
                      </a:r>
                      <a:endParaRPr lang="en-US" altLang="zh-CN" sz="1400" kern="1200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algn="l"/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、国内品牌货期约</a:t>
                      </a:r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周</a:t>
                      </a:r>
                      <a:endParaRPr lang="en-US" altLang="zh-CN" sz="1400" kern="1200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algn="l"/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</a:t>
                      </a:r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国外品牌货</a:t>
                      </a:r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期约</a:t>
                      </a:r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周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</a:t>
                      </a:r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2026.10.30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</a:t>
                      </a:r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2026.11.30</a:t>
                      </a:r>
                      <a:endParaRPr lang="zh-CN" altLang="en-US" sz="1400" kern="1200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3702116"/>
                  </a:ext>
                </a:extLst>
              </a:tr>
              <a:tr h="866591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Update procedure to ensure immediate water hose disconnection and controlled storage after use</a:t>
                      </a:r>
                      <a:br>
                        <a:rPr 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更新程序，确保用水软管用后立即断开并受控存放。</a:t>
                      </a:r>
                    </a:p>
                  </a:txBody>
                  <a:tcPr marL="19050" marR="19050" marT="12700" marB="12700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更新文件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2026.10.20</a:t>
                      </a:r>
                      <a:endParaRPr lang="zh-CN" altLang="en-US" sz="1400" kern="1200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algn="l"/>
                      <a:endParaRPr lang="zh-CN" altLang="en-US" sz="140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472396"/>
                  </a:ext>
                </a:extLst>
              </a:tr>
              <a:tr h="3149985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Purified Water header throughout the facility does not meet industry guidance - sample point is not representative of POU, no means of pre-use flushing/blowing, etc. Additionally, POU filtration should be provided for any PW supplied to a growth promoting solution via hose connection (upstream of drain line). These filters should have time in use tracked and be replaced frequently (NMT 24 hours).</a:t>
                      </a:r>
                      <a:br>
                        <a:rPr 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Implement point-of-use flushing directly to waste and post-use draining and drying for purified-water lines using zero-static valves or minimum-distance tees without creating dead legs</a:t>
                      </a:r>
                      <a:br>
                        <a:rPr 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全厂纯化水（</a:t>
                      </a:r>
                      <a:r>
                        <a:rPr 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Purified Water）</a:t>
                      </a:r>
                      <a:r>
                        <a:rPr lang="zh-CN" alt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总管不符合行业指导</a:t>
                      </a:r>
                      <a:r>
                        <a:rPr lang="en-US" altLang="zh-CN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——</a:t>
                      </a:r>
                      <a:r>
                        <a:rPr lang="zh-CN" alt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取样点不能代表使用点（</a:t>
                      </a:r>
                      <a:r>
                        <a:rPr 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POU），</a:t>
                      </a:r>
                      <a:r>
                        <a:rPr lang="zh-CN" alt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缺乏使用前冲洗</a:t>
                      </a:r>
                      <a:r>
                        <a:rPr lang="en-US" altLang="zh-CN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吹扫手段等。此外，经软管向促生长溶液供应的任何 </a:t>
                      </a:r>
                      <a:r>
                        <a:rPr 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PW，</a:t>
                      </a:r>
                      <a:r>
                        <a:rPr lang="zh-CN" alt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应在排尽管路上游提供 </a:t>
                      </a:r>
                      <a:r>
                        <a:rPr 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POU </a:t>
                      </a:r>
                      <a:r>
                        <a:rPr lang="zh-CN" alt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过滤；此类过滤器应跟踪使用时间并频繁更换（</a:t>
                      </a:r>
                      <a:r>
                        <a:rPr 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NMT 24 hours）。</a:t>
                      </a:r>
                      <a:br>
                        <a:rPr 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实施使用点直接排废冲洗，以及纯化水管路使用后排尽与干燥；采用零静阀或最小距离三通，且不形成死角（</a:t>
                      </a:r>
                      <a:r>
                        <a:rPr 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dead-leg）。</a:t>
                      </a:r>
                    </a:p>
                  </a:txBody>
                  <a:tcPr marL="19050" marR="19050" marT="12700" marB="12700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如首页展示方案提交变更并进行改造阀（满足</a:t>
                      </a:r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3D</a:t>
                      </a:r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原则），经过评估时间如下：</a:t>
                      </a:r>
                      <a:endParaRPr lang="en-US" altLang="zh-CN" sz="1400" kern="1200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algn="l"/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采购周期约</a:t>
                      </a:r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</a:t>
                      </a:r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周</a:t>
                      </a:r>
                      <a:endParaRPr lang="en-US" altLang="zh-CN" sz="1400" kern="1200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algn="l"/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施工约</a:t>
                      </a:r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周</a:t>
                      </a:r>
                      <a:endParaRPr lang="en-US" altLang="zh-CN" sz="1400" kern="1200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algn="l"/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酸洗钝化约</a:t>
                      </a:r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周</a:t>
                      </a:r>
                      <a:endParaRPr lang="en-US" altLang="zh-CN" sz="1400" kern="1200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algn="l"/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连续取样验证并培养约</a:t>
                      </a:r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周</a:t>
                      </a:r>
                      <a:endParaRPr lang="en-US" altLang="zh-CN" sz="1400" kern="1200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algn="l"/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管路干燥验证约</a:t>
                      </a:r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2027.01.30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0675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7135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445498"/>
              </p:ext>
            </p:extLst>
          </p:nvPr>
        </p:nvGraphicFramePr>
        <p:xfrm>
          <a:off x="192505" y="433136"/>
          <a:ext cx="11636941" cy="60735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6535">
                  <a:extLst>
                    <a:ext uri="{9D8B030D-6E8A-4147-A177-3AD203B41FA5}">
                      <a16:colId xmlns:a16="http://schemas.microsoft.com/office/drawing/2014/main" val="23088648"/>
                    </a:ext>
                  </a:extLst>
                </a:gridCol>
                <a:gridCol w="2350256">
                  <a:extLst>
                    <a:ext uri="{9D8B030D-6E8A-4147-A177-3AD203B41FA5}">
                      <a16:colId xmlns:a16="http://schemas.microsoft.com/office/drawing/2014/main" val="3341615477"/>
                    </a:ext>
                  </a:extLst>
                </a:gridCol>
                <a:gridCol w="1630150">
                  <a:extLst>
                    <a:ext uri="{9D8B030D-6E8A-4147-A177-3AD203B41FA5}">
                      <a16:colId xmlns:a16="http://schemas.microsoft.com/office/drawing/2014/main" val="3029883940"/>
                    </a:ext>
                  </a:extLst>
                </a:gridCol>
              </a:tblGrid>
              <a:tr h="5862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Action Item_x000a_</a:t>
                      </a: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行动项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实施方案</a:t>
                      </a:r>
                      <a:endParaRPr lang="zh-CN" altLang="en-US" sz="1400" b="1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执行时间</a:t>
                      </a:r>
                      <a:endParaRPr lang="zh-CN" altLang="en-US" sz="1400" b="1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9050" marR="19050" marT="12700" marB="12700" anchor="ctr"/>
                </a:tc>
                <a:extLst>
                  <a:ext uri="{0D108BD9-81ED-4DB2-BD59-A6C34878D82A}">
                    <a16:rowId xmlns:a16="http://schemas.microsoft.com/office/drawing/2014/main" val="1217773972"/>
                  </a:ext>
                </a:extLst>
              </a:tr>
              <a:tr h="1561015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Implement the use of permeable film to cover the ends of process and water hoses while stored for drying</a:t>
                      </a:r>
                      <a:br>
                        <a:rPr 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在工艺及用水软管干燥存放期间，采用透气膜覆盖软管端部。</a:t>
                      </a:r>
                    </a:p>
                  </a:txBody>
                  <a:tcPr marL="19050" marR="19050" marT="12700" marB="12700"/>
                </a:tc>
                <a:tc>
                  <a:txBody>
                    <a:bodyPr/>
                    <a:lstStyle/>
                    <a:p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已经采购透气膜，如左图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2026.10.30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0605221"/>
                  </a:ext>
                </a:extLst>
              </a:tr>
              <a:tr h="1180225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Install point-of-use filters for purified water supplied by hose to growth-promoting solutions, track time in use, and replace filters no later than 24 hours</a:t>
                      </a:r>
                      <a:br>
                        <a:rPr 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为经软管向促生长溶液供应的纯化水安装使用点过滤器，跟踪使用时间，并最迟于 </a:t>
                      </a:r>
                      <a:r>
                        <a:rPr lang="en-US" altLang="zh-CN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 </a:t>
                      </a:r>
                      <a:r>
                        <a:rPr 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hours </a:t>
                      </a:r>
                      <a:r>
                        <a:rPr lang="zh-CN" alt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更换过滤器。</a:t>
                      </a:r>
                    </a:p>
                  </a:txBody>
                  <a:tcPr marL="19050" marR="19050" marT="12700" marB="127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立即整改</a:t>
                      </a:r>
                      <a:endParaRPr lang="en-US" altLang="zh-CN" sz="1400" kern="1200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2026.09.30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5900108"/>
                  </a:ext>
                </a:extLst>
              </a:tr>
              <a:tr h="1185004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Assess representative sampling from new point-of-use drains and determine whether formal revalidation or an informal verification study is required to confirm water-system quality</a:t>
                      </a:r>
                      <a:br>
                        <a:rPr 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评估新建使用点排尽口的代表性取样，并确定是否需要正式再验证或非正式确认研究以证明水系统质量。</a:t>
                      </a:r>
                    </a:p>
                  </a:txBody>
                  <a:tcPr marL="19050" marR="19050" marT="12700" marB="12700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取样点位评估正在进行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2026.10.30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9085301"/>
                  </a:ext>
                </a:extLst>
              </a:tr>
              <a:tr h="1561015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Store hose ends at least 6 inches off the floor and provide a clear visual indicator confirming compliant storage position</a:t>
                      </a:r>
                      <a:br>
                        <a:rPr 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软管端部存放高度至少离地 </a:t>
                      </a:r>
                      <a:r>
                        <a:rPr lang="en-US" altLang="zh-CN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 </a:t>
                      </a:r>
                      <a:r>
                        <a:rPr 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inches，</a:t>
                      </a:r>
                      <a:r>
                        <a:rPr lang="zh-CN" altLang="en-US" sz="1400" dirty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并提供明确目视标识以确认符合存放位置。</a:t>
                      </a:r>
                    </a:p>
                  </a:txBody>
                  <a:tcPr marL="19050" marR="19050" marT="12700" marB="12700"/>
                </a:tc>
                <a:tc>
                  <a:txBody>
                    <a:bodyPr/>
                    <a:lstStyle/>
                    <a:p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、短期方案，进行现场人员培训</a:t>
                      </a:r>
                      <a:endParaRPr lang="en-US" altLang="zh-CN" sz="1400" kern="1200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、长期方案，定制不锈钢水管支架，保证离地高度大于</a:t>
                      </a:r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 inches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</a:t>
                      </a:r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2026.09.30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</a:t>
                      </a:r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2026.11.30</a:t>
                      </a:r>
                      <a:endParaRPr lang="zh-CN" altLang="en-US" sz="1400" kern="1200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4685449"/>
                  </a:ext>
                </a:extLst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74" t="35228" r="21430" b="31088"/>
          <a:stretch/>
        </p:blipFill>
        <p:spPr>
          <a:xfrm>
            <a:off x="5996539" y="1294490"/>
            <a:ext cx="1778882" cy="122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872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</TotalTime>
  <Words>778</Words>
  <Application>Microsoft Office PowerPoint</Application>
  <PresentationFormat>宽屏</PresentationFormat>
  <Paragraphs>57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Helvetica Light</vt:lpstr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Yi Chen16528</dc:creator>
  <cp:lastModifiedBy>Chunpeng Hu16117</cp:lastModifiedBy>
  <cp:revision>51</cp:revision>
  <dcterms:created xsi:type="dcterms:W3CDTF">2026-09-21T09:08:32Z</dcterms:created>
  <dcterms:modified xsi:type="dcterms:W3CDTF">2026-09-24T10:32:48Z</dcterms:modified>
</cp:coreProperties>
</file>