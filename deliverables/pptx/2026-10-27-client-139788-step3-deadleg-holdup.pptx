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139788  ·  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Dead-leg and hold-up retrofit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1FAEE"/>
                </a:solidFill>
                <a:latin typeface="DejaVu Sans"/>
                <a:ea typeface="DejaVu Sans"/>
                <a:cs typeface="DejaVu Sans"/>
              </a:rPr>
              <a:t>Schedule for the three options, and where each one applies.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Asymchem   ·   Client review   · 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Demo uses Option 1. Pre-PPQ and PPQ use Option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430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Commercial manufacture uses Option 3. All four steps handle process material.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1115567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65960"/>
                <a:gridCol w="1874519"/>
                <a:gridCol w="2011680"/>
              </a:tblGrid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Process step</a:t>
                      </a:r>
                    </a:p>
                  </a:txBody>
                  <a:tcPr marL="91440"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Demo</a:t>
                      </a:r>
                    </a:p>
                  </a:txBody>
                  <a:tcPr marL="91440"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Pre-PPQ</a:t>
                      </a:r>
                    </a:p>
                  </a:txBody>
                  <a:tcPr marL="91440"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PPQ</a:t>
                      </a:r>
                    </a:p>
                  </a:txBody>
                  <a:tcPr marL="91440" marR="73152" marT="54864" marB="54864" anchor="ctr">
                    <a:solidFill>
                      <a:srgbClr val="1A23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Commercial</a:t>
                      </a:r>
                    </a:p>
                  </a:txBody>
                  <a:tcPr marL="91440" marR="73152" marT="54864" marB="54864" anchor="ctr">
                    <a:solidFill>
                      <a:srgbClr val="1A2332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buffer preparation</a:t>
                      </a:r>
                    </a:p>
                  </a:txBody>
                  <a:tcPr marL="91440"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</a:p>
                  </a:txBody>
                  <a:tcPr marL="91440"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</a:p>
                  </a:txBody>
                  <a:tcPr marL="91440"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Preparative chromatography</a:t>
                      </a:r>
                    </a:p>
                  </a:txBody>
                  <a:tcPr marL="91440"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</a:p>
                  </a:txBody>
                  <a:tcPr marL="91440"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</a:p>
                  </a:txBody>
                  <a:tcPr marL="91440"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TFF</a:t>
                      </a:r>
                    </a:p>
                  </a:txBody>
                  <a:tcPr marL="91440"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</a:p>
                  </a:txBody>
                  <a:tcPr marL="91440"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</a:p>
                  </a:txBody>
                  <a:tcPr marL="91440" marR="73152" marT="54864" marB="54864" anchor="ctr">
                    <a:solidFill>
                      <a:srgbClr val="E8F2EA"/>
                    </a:solidFill>
                  </a:tcPr>
                </a:tc>
              </a:tr>
              <a:tr h="832104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2332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Precipitation</a:t>
                      </a:r>
                    </a:p>
                  </a:txBody>
                  <a:tcPr marL="91440" marR="73152" marT="54864" marB="54864" anchor="ctr">
                    <a:solidFill>
                      <a:srgbClr val="F7FB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D8B8B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1</a:t>
                      </a:r>
                    </a:p>
                  </a:txBody>
                  <a:tcPr marL="91440" marR="73152" marT="54864" marB="54864" anchor="ctr">
                    <a:solidFill>
                      <a:srgbClr val="E7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C2833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2</a:t>
                      </a:r>
                    </a:p>
                  </a:txBody>
                  <a:tcPr marL="91440"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F6B4A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Option 3</a:t>
                      </a:r>
                    </a:p>
                  </a:txBody>
                  <a:tcPr marL="91440" marR="73152" marT="54864" marB="54864" anchor="ctr">
                    <a:solidFill>
                      <a:srgbClr val="E8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2  / 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1: procedural control by November 5,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The piping stays as it is. The control is how the line is used and cleaned.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WHAT REMAINS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94560"/>
            <a:ext cx="50292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piping does not meet the 2D/3D dead-leg criterion.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diaphragm valves do not meet the self-draining requirement.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Some piping is not ASME BPE piping.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WHAT WE WILL ADD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50749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After each system transfer, flush or clean with process solvent. Bioburden data support this step.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Write the flush, drain, purge, and disassembly requirements into the operating and cleaning procedures.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once the tighter procedural controls are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50292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5394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November 5,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3  / 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2: piping retrofit complete by February 6, 2027.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This is the configuration for Pre-PPQ and PPQ.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THE RETROFIT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94560"/>
            <a:ext cx="50292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Rebuild the piping and vessels with hygienic T-valves and short-outlet tees meeting the 3D criterion.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Control dead legs, slope, and drainability.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Leave valves for a later CIP connection.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RISK AND THE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50749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This is a new change control. The concern is an effect on product quality, and pre-use and post-use steps that are not yet sufficient.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Qualify the modified piping. Define the operating and cleaning sequence, and update the records.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with the modified hardware and the revised sequence.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50292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539496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February 6,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4  / 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A2332"/>
                </a:solidFill>
                <a:latin typeface="DejaVu Sans"/>
                <a:ea typeface="DejaVu Sans"/>
                <a:cs typeface="DejaVu Sans"/>
              </a:rPr>
              <a:t>Option 3 adds CIP, five months after Option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This is the configuration for commercial manufacture. It is built on the Option 2 piping.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48640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1645920"/>
            <a:ext cx="5532120" cy="3063240"/>
          </a:xfrm>
          <a:prstGeom prst="rect">
            <a:avLst/>
          </a:prstGeom>
          <a:solidFill>
            <a:srgbClr val="F7FBFB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WHAT CIP ADDS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194560"/>
            <a:ext cx="502920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Clean-in-place on the retrofitted piping.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Slope, drainage, and removal of dead legs.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Pre-use flush, cleaning, disinfection, and purge, all done in 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8105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RISK AND THE RESPONSE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507492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The design may be incomplete, and the CIP sequence and controls may be incomplete.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Qualify the system as a whole. Update the SOP and bring the requirements into routine use.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892040"/>
            <a:ext cx="7635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4892040"/>
            <a:ext cx="3429000" cy="1325880"/>
          </a:xfrm>
          <a:prstGeom prst="rect">
            <a:avLst/>
          </a:prstGeom>
          <a:solidFill>
            <a:srgbClr val="1A2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292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D8B8B"/>
                </a:solidFill>
                <a:latin typeface="DejaVu Sans"/>
                <a:ea typeface="DejaVu Sans"/>
                <a:cs typeface="DejaVu Sans"/>
              </a:rPr>
              <a:t>RESIDUAL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534924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833"/>
                </a:solidFill>
                <a:latin typeface="DejaVu Sans"/>
                <a:ea typeface="DejaVu Sans"/>
                <a:cs typeface="DejaVu Sans"/>
              </a:rPr>
              <a:t>Low, with the revised piping and the CIP cycle.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85632" y="5010912"/>
            <a:ext cx="301752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DADC"/>
                </a:solidFill>
                <a:latin typeface="DejaVu Sans"/>
                <a:ea typeface="DejaVu Sans"/>
                <a:cs typeface="DejaVu Sans"/>
              </a:rPr>
              <a:t>DUE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85632" y="5285232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5 months after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Option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139788 Step 3  ·  Dead-leg and hold-up retrofit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51052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D6D7E"/>
                </a:solidFill>
                <a:latin typeface="DejaVu Sans"/>
                <a:ea typeface="DejaVu Sans"/>
                <a:cs typeface="DejaVu Sans"/>
              </a:rPr>
              <a:t>5  / 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139788 Step 3 Dead-leg and Hold-up Retrofit</dc:title>
  <dc:subject>Client briefing</dc:subject>
  <dc:creator>Asymchem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