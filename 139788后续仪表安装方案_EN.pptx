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318" r:id="rId3"/>
    <p:sldId id="334" r:id="rId4"/>
    <p:sldId id="335" r:id="rId5"/>
    <p:sldId id="332" r:id="rId6"/>
    <p:sldId id="333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Qixuan Bu17334" initials="QB" lastIdx="1" clrIdx="0">
    <p:extLst>
      <p:ext uri="{19B8F6BF-5375-455C-9EA6-DF929625EA0E}">
        <p15:presenceInfo xmlns:p15="http://schemas.microsoft.com/office/powerpoint/2012/main" userId="Qixuan Bu17334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330" autoAdjust="0"/>
    <p:restoredTop sz="94660"/>
  </p:normalViewPr>
  <p:slideViewPr>
    <p:cSldViewPr snapToGrid="0">
      <p:cViewPr>
        <p:scale>
          <a:sx n="50" d="100"/>
          <a:sy n="50" d="100"/>
        </p:scale>
        <p:origin x="560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commentAuthors" Target="commentAuthors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0DE29-530B-4A92-B559-3A8E328F456E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0AFF6D-188D-41AE-B623-A5FDCCC46D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5418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319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2552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1245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7030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672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311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1157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2012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0343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6970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180610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50038-2ADE-46FC-A622-9A4B105163AC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9932D-01F1-4964-A8B9-79C491C49B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0185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Relationship Id="rId3" Type="http://schemas.openxmlformats.org/officeDocument/2006/relationships/image" Target="../media/image3.png"/><Relationship Id="rId4" Type="http://schemas.openxmlformats.org/officeDocument/2006/relationships/image" Target="../media/image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e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1.jp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  <a:alpha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13467" y="1282335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3200" b="1" dirty="0"/>
          </a:p>
        </p:txBody>
      </p:sp>
      <p:pic>
        <p:nvPicPr>
          <p:cNvPr id="16" name="图片 11" descr="333"/>
          <p:cNvPicPr>
            <a:picLocks noChangeAspect="1"/>
          </p:cNvPicPr>
          <p:nvPr/>
        </p:nvPicPr>
        <p:blipFill>
          <a:blip r:embed="rId2"/>
          <a:srcRect l="2396" r="3197" b="-1489"/>
          <a:stretch>
            <a:fillRect/>
          </a:stretch>
        </p:blipFill>
        <p:spPr>
          <a:xfrm>
            <a:off x="-1" y="3870640"/>
            <a:ext cx="12192000" cy="2364598"/>
          </a:xfrm>
          <a:prstGeom prst="rect">
            <a:avLst/>
          </a:prstGeom>
          <a:noFill/>
          <a:ln w="9525">
            <a:noFill/>
          </a:ln>
          <a:effectLst>
            <a:outerShdw dist="50800" dir="5400000" algn="ctr" rotWithShape="0">
              <a:srgbClr val="000000">
                <a:alpha val="0"/>
              </a:srgbClr>
            </a:outerShdw>
            <a:softEdge rad="0"/>
          </a:effectLst>
        </p:spPr>
      </p:pic>
      <p:pic>
        <p:nvPicPr>
          <p:cNvPr id="17" name="图片 1" descr="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919" y="456302"/>
            <a:ext cx="2663161" cy="4825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" name="Rectangle 111"/>
          <p:cNvSpPr txBox="1"/>
          <p:nvPr/>
        </p:nvSpPr>
        <p:spPr>
          <a:xfrm>
            <a:off x="0" y="5970399"/>
            <a:ext cx="12192000" cy="496996"/>
          </a:xfrm>
          <a:prstGeom prst="rect">
            <a:avLst/>
          </a:prstGeom>
          <a:solidFill>
            <a:srgbClr val="7EB2E6"/>
          </a:solidFill>
          <a:ln w="12700">
            <a:noFill/>
          </a:ln>
        </p:spPr>
        <p:txBody>
          <a:bodyPr wrap="square" lIns="45719" rIns="45719" anchor="t">
            <a:spAutoFit/>
          </a:bodyPr>
          <a:lstStyle/>
          <a:p>
            <a:pPr indent="0" algn="ctr" defTabSz="825500" hangingPunct="0">
              <a:lnSpc>
                <a:spcPct val="150000"/>
              </a:lnSpc>
            </a:pPr>
            <a:r>
              <a:rPr lang="en-US" altLang="zh-CN" sz="2000" dirty="0">
                <a:solidFill>
                  <a:srgbClr val="2F5A9E"/>
                </a:solidFill>
                <a:latin typeface="Arial" panose="020B0604020202020204"/>
                <a:ea typeface="Arial" panose="020B0604020202020204"/>
                <a:sym typeface="Arial" panose="020B0604020202020204"/>
              </a:rPr>
              <a:t>Green Chemistry is the Future</a:t>
            </a:r>
          </a:p>
        </p:txBody>
      </p:sp>
      <p:sp>
        <p:nvSpPr>
          <p:cNvPr id="19" name="Rectangle 111"/>
          <p:cNvSpPr txBox="1"/>
          <p:nvPr/>
        </p:nvSpPr>
        <p:spPr>
          <a:xfrm>
            <a:off x="1714500" y="6376451"/>
            <a:ext cx="8763000" cy="456535"/>
          </a:xfrm>
          <a:prstGeom prst="rect">
            <a:avLst/>
          </a:prstGeom>
          <a:noFill/>
          <a:ln w="12700">
            <a:noFill/>
          </a:ln>
        </p:spPr>
        <p:txBody>
          <a:bodyPr wrap="square" lIns="45719" rIns="45719" anchor="t">
            <a:spAutoFit/>
          </a:bodyPr>
          <a:lstStyle/>
          <a:p>
            <a:pPr indent="0" algn="ctr" defTabSz="825500" hangingPunct="0">
              <a:lnSpc>
                <a:spcPct val="150000"/>
              </a:lnSpc>
            </a:pPr>
            <a:r>
              <a:rPr lang="en-US" altLang="zh-CN" dirty="0" smtClean="0">
                <a:solidFill>
                  <a:srgbClr val="7EB2E6"/>
                </a:solidFill>
                <a:latin typeface="Arial" panose="020B0604020202020204"/>
                <a:ea typeface="Arial" panose="020B0604020202020204"/>
                <a:sym typeface="Arial" panose="020B0604020202020204"/>
              </a:rPr>
              <a:t>www.asymchem.com     </a:t>
            </a:r>
            <a:r>
              <a:rPr lang="en-US" altLang="zh-CN" dirty="0">
                <a:solidFill>
                  <a:srgbClr val="7EB2E6"/>
                </a:solidFill>
                <a:latin typeface="Arial" panose="020B0604020202020204"/>
                <a:ea typeface="Arial" panose="020B0604020202020204"/>
                <a:sym typeface="Arial" panose="020B0604020202020204"/>
              </a:rPr>
              <a:t>Stock Code</a:t>
            </a:r>
            <a:r>
              <a:rPr lang="en-US" altLang="zh-CN" dirty="0" smtClean="0">
                <a:solidFill>
                  <a:srgbClr val="7EB2E6"/>
                </a:solidFill>
                <a:latin typeface="Arial" panose="020B0604020202020204"/>
                <a:ea typeface="Arial" panose="020B0604020202020204"/>
                <a:sym typeface="Arial" panose="020B0604020202020204"/>
              </a:rPr>
              <a:t>: 002821.SZ</a:t>
            </a:r>
            <a:endParaRPr lang="en-US" altLang="zh-CN" dirty="0">
              <a:solidFill>
                <a:srgbClr val="7EB2E6"/>
              </a:solidFill>
              <a:latin typeface="Arial" panose="020B0604020202020204"/>
              <a:ea typeface="Arial" panose="020B0604020202020204"/>
              <a:sym typeface="Arial" panose="020B0604020202020204"/>
            </a:endParaRPr>
          </a:p>
        </p:txBody>
      </p:sp>
      <p:sp>
        <p:nvSpPr>
          <p:cNvPr id="20" name="TextBox 5"/>
          <p:cNvSpPr txBox="1">
            <a:spLocks noChangeArrowheads="1"/>
          </p:cNvSpPr>
          <p:nvPr/>
        </p:nvSpPr>
        <p:spPr bwMode="auto">
          <a:xfrm>
            <a:off x="57671" y="2480682"/>
            <a:ext cx="12076655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lvl="0" algn="ctr" hangingPunct="0"/>
            <a:r>
              <a:rPr lang="en-US" altLang="zh-CN" sz="3600" dirty="0" smtClean="0">
                <a:solidFill>
                  <a:schemeClr val="bg1"/>
                </a:solidFill>
                <a:latin typeface="Calibri" panose="020B0503020204020204" pitchFamily="34" charset="-122"/>
                <a:ea typeface="Calibri" panose="020B0503020204020204" pitchFamily="34" charset="-122"/>
                <a:cs typeface="Arial" panose="020B0604020202020204" pitchFamily="34" charset="0"/>
                <a:sym typeface="Impact" panose="020B0806030902050204" pitchFamily="34" charset="0"/>
              </a:rPr>
              <a:t>139788 Follow-on Instrument Installation</a:t>
            </a:r>
            <a:r>
              <a:rPr lang="zh-CN" altLang="en-US" sz="5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Impact" panose="020B0806030902050204" pitchFamily="34" charset="0"/>
              </a:rPr>
              <a:t/>
            </a:r>
            <a:endParaRPr lang="zh-CN" altLang="en-US" sz="5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237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 flipV="1">
            <a:off x="108667" y="1001975"/>
            <a:ext cx="11465782" cy="7952"/>
          </a:xfrm>
          <a:prstGeom prst="line">
            <a:avLst/>
          </a:prstGeom>
          <a:ln w="19050"/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2"/>
          <a:srcRect l="4387" t="77114" r="82409" b="8950"/>
          <a:stretch/>
        </p:blipFill>
        <p:spPr>
          <a:xfrm>
            <a:off x="10813174" y="288322"/>
            <a:ext cx="1038787" cy="61591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669280" y="427186"/>
            <a:ext cx="493776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b="1" dirty="0" smtClean="0">
                <a:solidFill>
                  <a:schemeClr val="accent5">
                    <a:lumMod val="50000"/>
                  </a:schemeClr>
                </a:solidFill>
                <a:latin typeface="Calibri" panose="020B0503020204020204" pitchFamily="34" charset="-122"/>
                <a:ea typeface="Calibri" panose="020B0503020204020204" pitchFamily="34" charset="-122"/>
              </a:rPr>
              <a:t>Temperature probe installation</a:t>
            </a:r>
            <a:endParaRPr lang="en-US" altLang="zh-CN" sz="2000" b="1" dirty="0" smtClean="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890" y="1084579"/>
            <a:ext cx="4051250" cy="56388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3617" y="1171162"/>
            <a:ext cx="3640024" cy="5343865"/>
          </a:xfrm>
          <a:prstGeom prst="rect">
            <a:avLst/>
          </a:prstGeom>
        </p:spPr>
      </p:pic>
      <p:sp>
        <p:nvSpPr>
          <p:cNvPr id="5" name="流程图: 过程 4"/>
          <p:cNvSpPr/>
          <p:nvPr/>
        </p:nvSpPr>
        <p:spPr>
          <a:xfrm>
            <a:off x="3258820" y="3004820"/>
            <a:ext cx="426720" cy="2387600"/>
          </a:xfrm>
          <a:prstGeom prst="flowChartProces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标注 6"/>
          <p:cNvSpPr/>
          <p:nvPr/>
        </p:nvSpPr>
        <p:spPr>
          <a:xfrm>
            <a:off x="5054600" y="1171162"/>
            <a:ext cx="2629017" cy="1711738"/>
          </a:xfrm>
          <a:prstGeom prst="wedgeRoundRectCallout">
            <a:avLst>
              <a:gd name="adj1" fmla="val -103438"/>
              <a:gd name="adj2" fmla="val 83780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226108" y="1270000"/>
            <a:ext cx="2286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z="1300">
                <a:latin typeface="Calibri"/>
                <a:ea typeface="Calibri"/>
              </a:rPr>
              <a:t>Current vessels:</a:t>
            </a:r>
            <a:r>
              <a:rPr lang="zh-CN" altLang="en-US" dirty="0" smtClean="0"/>
              <a:t/>
            </a:r>
            <a:endParaRPr lang="en-US" altLang="zh-CN" dirty="0" smtClean="0"/>
          </a:p>
          <a:p>
            <a:r>
              <a:rPr lang="zh-CN" altLang="en-US" dirty="0" smtClean="0" sz="1300">
                <a:latin typeface="Calibri"/>
                <a:ea typeface="Calibri"/>
              </a:rPr>
              <a:t>Top thermowell with thermal oil and a temperature sensor.</a:t>
            </a:r>
            <a:r>
              <a:rPr lang="en-US" altLang="zh-CN" dirty="0" smtClean="0"/>
              <a:t/>
            </a:r>
            <a:r>
              <a:rPr lang="zh-CN" altLang="en-US" dirty="0" smtClean="0"/>
              <a:t/>
            </a:r>
            <a:r>
              <a:rPr lang="en-US" altLang="zh-CN" dirty="0" smtClean="0"/>
              <a:t/>
            </a:r>
            <a:r>
              <a:rPr lang="zh-CN" altLang="en-US" dirty="0" smtClean="0"/>
              <a:t/>
            </a:r>
            <a:endParaRPr lang="zh-CN" altLang="en-US" dirty="0"/>
          </a:p>
        </p:txBody>
      </p:sp>
      <p:sp>
        <p:nvSpPr>
          <p:cNvPr id="10" name="圆角矩形标注 9"/>
          <p:cNvSpPr/>
          <p:nvPr/>
        </p:nvSpPr>
        <p:spPr>
          <a:xfrm>
            <a:off x="5054600" y="3044136"/>
            <a:ext cx="2629017" cy="1448542"/>
          </a:xfrm>
          <a:prstGeom prst="wedgeRoundRectCallout">
            <a:avLst>
              <a:gd name="adj1" fmla="val 117808"/>
              <a:gd name="adj2" fmla="val 88668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226108" y="3369966"/>
            <a:ext cx="228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 sz="1300">
                <a:latin typeface="Calibri"/>
                <a:ea typeface="Calibri"/>
              </a:rPr>
              <a:t>Replacement vessels:</a:t>
            </a:r>
            <a:endParaRPr lang="en-US" altLang="zh-CN" dirty="0" smtClean="0"/>
          </a:p>
          <a:p>
            <a:r>
              <a:rPr lang="zh-CN" altLang="en-US" dirty="0" smtClean="0" sz="1300">
                <a:latin typeface="Calibri"/>
                <a:ea typeface="Calibri"/>
              </a:rPr>
              <a:t>A 50 mm probe inserted into an NA nozzle on the lower shell.</a:t>
            </a:r>
            <a:r>
              <a:rPr lang="en-US" altLang="zh-CN" dirty="0" smtClean="0"/>
              <a:t/>
            </a:r>
            <a:r>
              <a:rPr lang="zh-CN" altLang="en-US" dirty="0" smtClean="0"/>
              <a:t/>
            </a:r>
            <a:r>
              <a:rPr lang="en-US" altLang="zh-CN" dirty="0" smtClean="0"/>
              <a:t/>
            </a:r>
            <a:r>
              <a:rPr lang="zh-CN" altLang="en-US" dirty="0" smtClean="0"/>
              <a:t/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9588500" y="4902200"/>
            <a:ext cx="444500" cy="490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0423" y="4570295"/>
            <a:ext cx="2013366" cy="2175259"/>
          </a:xfrm>
          <a:prstGeom prst="rect">
            <a:avLst/>
          </a:prstGeom>
        </p:spPr>
      </p:pic>
      <p:sp>
        <p:nvSpPr>
          <p:cNvPr id="14" name="圆角矩形标注 13"/>
          <p:cNvSpPr/>
          <p:nvPr/>
        </p:nvSpPr>
        <p:spPr>
          <a:xfrm>
            <a:off x="5080649" y="4605086"/>
            <a:ext cx="2629017" cy="2086397"/>
          </a:xfrm>
          <a:prstGeom prst="wedgeRoundRectCallout">
            <a:avLst>
              <a:gd name="adj1" fmla="val 116842"/>
              <a:gd name="adj2" fmla="val -26986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6148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5736" y="1078175"/>
            <a:ext cx="4086225" cy="5448300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V="1">
            <a:off x="108667" y="1001975"/>
            <a:ext cx="11465782" cy="7952"/>
          </a:xfrm>
          <a:prstGeom prst="line">
            <a:avLst/>
          </a:prstGeom>
          <a:ln w="19050"/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/>
          <a:srcRect l="4387" t="77114" r="82409" b="8950"/>
          <a:stretch/>
        </p:blipFill>
        <p:spPr>
          <a:xfrm>
            <a:off x="10813174" y="288322"/>
            <a:ext cx="1038787" cy="61591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669280" y="427186"/>
            <a:ext cx="493776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b="1" dirty="0" smtClean="0">
                <a:solidFill>
                  <a:schemeClr val="accent5">
                    <a:lumMod val="50000"/>
                  </a:schemeClr>
                </a:solidFill>
                <a:latin typeface="Calibri" panose="020B0503020204020204" pitchFamily="34" charset="-122"/>
                <a:ea typeface="Calibri" panose="020B0503020204020204" pitchFamily="34" charset="-122"/>
              </a:rPr>
              <a:t>Pressure transmitter installation</a:t>
            </a:r>
            <a:endParaRPr lang="en-US" altLang="zh-CN" sz="2000" b="1" dirty="0" smtClean="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26108" y="1270000"/>
            <a:ext cx="228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 sz="1300">
                <a:latin typeface="Calibri"/>
                <a:ea typeface="Calibri"/>
              </a:rPr>
              <a:t>Current:</a:t>
            </a:r>
            <a:endParaRPr lang="en-US" altLang="zh-CN" dirty="0" smtClean="0"/>
          </a:p>
          <a:p>
            <a:r>
              <a:rPr lang="zh-CN" altLang="en-US" dirty="0" smtClean="0" sz="1300">
                <a:latin typeface="Calibri"/>
                <a:ea typeface="Calibri"/>
              </a:rPr>
              <a:t>Shared nozzle with other connections, such as the vent, through a tee.</a:t>
            </a:r>
            <a:endParaRPr lang="zh-CN" altLang="en-US" dirty="0"/>
          </a:p>
        </p:txBody>
      </p:sp>
      <p:sp>
        <p:nvSpPr>
          <p:cNvPr id="10" name="圆角矩形标注 9"/>
          <p:cNvSpPr/>
          <p:nvPr/>
        </p:nvSpPr>
        <p:spPr>
          <a:xfrm>
            <a:off x="4883091" y="3044135"/>
            <a:ext cx="2629017" cy="1057965"/>
          </a:xfrm>
          <a:prstGeom prst="wedgeRoundRectCallout">
            <a:avLst>
              <a:gd name="adj1" fmla="val 102349"/>
              <a:gd name="adj2" fmla="val 189254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107662"/>
            <a:ext cx="3885665" cy="5444213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226108" y="3369966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 sz="1300">
                <a:latin typeface="Calibri"/>
                <a:ea typeface="Calibri"/>
              </a:rPr>
              <a:t>Planned:</a:t>
            </a:r>
            <a:endParaRPr lang="zh-CN" altLang="en-US" dirty="0"/>
          </a:p>
          <a:p>
            <a:r>
              <a:rPr sz="1300">
                <a:latin typeface="Calibri"/>
                <a:ea typeface="Calibri"/>
              </a:rPr>
              <a:t>A dedicated nozzle.</a:t>
            </a:r>
          </a:p>
        </p:txBody>
      </p:sp>
      <p:sp>
        <p:nvSpPr>
          <p:cNvPr id="7" name="圆角矩形标注 6"/>
          <p:cNvSpPr/>
          <p:nvPr/>
        </p:nvSpPr>
        <p:spPr>
          <a:xfrm>
            <a:off x="4883091" y="1171162"/>
            <a:ext cx="2629017" cy="1711738"/>
          </a:xfrm>
          <a:prstGeom prst="wedgeRoundRectCallout">
            <a:avLst>
              <a:gd name="adj1" fmla="val -100541"/>
              <a:gd name="adj2" fmla="val 69682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流程图: 可选过程 20"/>
          <p:cNvSpPr/>
          <p:nvPr/>
        </p:nvSpPr>
        <p:spPr>
          <a:xfrm>
            <a:off x="1854200" y="3136900"/>
            <a:ext cx="1727200" cy="1473200"/>
          </a:xfrm>
          <a:prstGeom prst="flowChartAlternateProces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流程图: 可选过程 21"/>
          <p:cNvSpPr/>
          <p:nvPr/>
        </p:nvSpPr>
        <p:spPr>
          <a:xfrm>
            <a:off x="8940800" y="5245100"/>
            <a:ext cx="647700" cy="927100"/>
          </a:xfrm>
          <a:prstGeom prst="flowChartAlternateProces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2007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531" y="1107662"/>
            <a:ext cx="4122254" cy="5496338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V="1">
            <a:off x="108667" y="1001975"/>
            <a:ext cx="11465782" cy="7952"/>
          </a:xfrm>
          <a:prstGeom prst="line">
            <a:avLst/>
          </a:prstGeom>
          <a:ln w="19050"/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/>
          <a:srcRect l="4387" t="77114" r="82409" b="8950"/>
          <a:stretch/>
        </p:blipFill>
        <p:spPr>
          <a:xfrm>
            <a:off x="10813174" y="288322"/>
            <a:ext cx="1038787" cy="61591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669280" y="427186"/>
            <a:ext cx="493776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b="1" dirty="0" smtClean="0">
                <a:solidFill>
                  <a:schemeClr val="accent5">
                    <a:lumMod val="50000"/>
                  </a:schemeClr>
                </a:solidFill>
                <a:latin typeface="Calibri" panose="020B0503020204020204" pitchFamily="34" charset="-122"/>
                <a:ea typeface="Calibri" panose="020B0503020204020204" pitchFamily="34" charset="-122"/>
              </a:rPr>
              <a:t>Level transmitter installation</a:t>
            </a:r>
            <a:endParaRPr lang="en-US" altLang="zh-CN" sz="2000" b="1" dirty="0" smtClean="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3617" y="1171162"/>
            <a:ext cx="3640024" cy="5343865"/>
          </a:xfrm>
          <a:prstGeom prst="rect">
            <a:avLst/>
          </a:prstGeom>
        </p:spPr>
      </p:pic>
      <p:sp>
        <p:nvSpPr>
          <p:cNvPr id="7" name="圆角矩形标注 6"/>
          <p:cNvSpPr/>
          <p:nvPr/>
        </p:nvSpPr>
        <p:spPr>
          <a:xfrm>
            <a:off x="5054600" y="1171162"/>
            <a:ext cx="2629017" cy="1711738"/>
          </a:xfrm>
          <a:prstGeom prst="wedgeRoundRectCallout">
            <a:avLst>
              <a:gd name="adj1" fmla="val -114066"/>
              <a:gd name="adj2" fmla="val 34812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226108" y="1270000"/>
            <a:ext cx="228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z="1300">
                <a:latin typeface="Calibri"/>
                <a:ea typeface="Calibri"/>
              </a:rPr>
              <a:t>Current vessels:</a:t>
            </a:r>
            <a:r>
              <a:rPr lang="zh-CN" altLang="en-US" dirty="0" smtClean="0"/>
              <a:t/>
            </a:r>
            <a:endParaRPr lang="en-US" altLang="zh-CN" dirty="0" smtClean="0"/>
          </a:p>
          <a:p>
            <a:r>
              <a:rPr lang="zh-CN" altLang="en-US" dirty="0" smtClean="0" sz="1300">
                <a:latin typeface="Calibri"/>
                <a:ea typeface="Calibri"/>
              </a:rPr>
              <a:t>Upper and lower quick-open nozzles on the side, with a DP level transmitter.</a:t>
            </a:r>
            <a:r>
              <a:rPr lang="en-US" altLang="zh-CN" dirty="0" smtClean="0"/>
              <a:t/>
            </a:r>
            <a:r>
              <a:rPr lang="zh-CN" altLang="en-US" dirty="0" smtClean="0"/>
              <a:t/>
            </a:r>
            <a:endParaRPr lang="zh-CN" altLang="en-US" dirty="0"/>
          </a:p>
        </p:txBody>
      </p:sp>
      <p:sp>
        <p:nvSpPr>
          <p:cNvPr id="10" name="圆角矩形标注 9"/>
          <p:cNvSpPr/>
          <p:nvPr/>
        </p:nvSpPr>
        <p:spPr>
          <a:xfrm>
            <a:off x="5054600" y="3044135"/>
            <a:ext cx="2629017" cy="3470891"/>
          </a:xfrm>
          <a:prstGeom prst="wedgeRoundRectCallout">
            <a:avLst>
              <a:gd name="adj1" fmla="val 128435"/>
              <a:gd name="adj2" fmla="val -60433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226108" y="3369966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 sz="1300">
                <a:latin typeface="Calibri"/>
                <a:ea typeface="Calibri"/>
              </a:rPr>
              <a:t>Replacement vessels:</a:t>
            </a:r>
            <a:endParaRPr lang="en-US" altLang="zh-CN" dirty="0" smtClean="0"/>
          </a:p>
          <a:p>
            <a:r>
              <a:rPr lang="zh-CN" altLang="en-US" dirty="0" smtClean="0" sz="1300">
                <a:latin typeface="Calibri"/>
                <a:ea typeface="Calibri"/>
              </a:rPr>
              <a:t>Radar level transmitter on the top NA nozzle.</a:t>
            </a:r>
            <a:r>
              <a:rPr lang="en-US" altLang="zh-CN" dirty="0" smtClean="0"/>
              <a:t/>
            </a:r>
            <a:r>
              <a:rPr lang="zh-CN" altLang="en-US" dirty="0" smtClean="0"/>
              <a:t/>
            </a:r>
            <a:r>
              <a:rPr lang="en-US" altLang="zh-CN" dirty="0" smtClean="0"/>
              <a:t/>
            </a:r>
            <a:r>
              <a:rPr lang="zh-CN" altLang="en-US" dirty="0" smtClean="0"/>
              <a:t/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9588500" y="4902200"/>
            <a:ext cx="444500" cy="490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流程图: 接点 12"/>
          <p:cNvSpPr/>
          <p:nvPr/>
        </p:nvSpPr>
        <p:spPr>
          <a:xfrm>
            <a:off x="2199608" y="4647500"/>
            <a:ext cx="1564351" cy="744920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流程图: 接点 16"/>
          <p:cNvSpPr/>
          <p:nvPr/>
        </p:nvSpPr>
        <p:spPr>
          <a:xfrm>
            <a:off x="1926558" y="2241728"/>
            <a:ext cx="1350042" cy="641171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3363" y="4349787"/>
            <a:ext cx="2019226" cy="201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140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 flipV="1">
            <a:off x="413467" y="1065475"/>
            <a:ext cx="11465782" cy="7952"/>
          </a:xfrm>
          <a:prstGeom prst="line">
            <a:avLst/>
          </a:prstGeom>
          <a:ln w="19050"/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2"/>
          <a:srcRect l="4387" t="77114" r="82409" b="8950"/>
          <a:stretch/>
        </p:blipFill>
        <p:spPr>
          <a:xfrm>
            <a:off x="10813174" y="288322"/>
            <a:ext cx="1038787" cy="61591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669280" y="427186"/>
            <a:ext cx="493776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600" b="1" dirty="0">
                <a:solidFill>
                  <a:schemeClr val="accent5">
                    <a:lumMod val="50000"/>
                  </a:schemeClr>
                </a:solidFill>
                <a:latin typeface="Calibri" panose="020B0503020204020204" pitchFamily="34" charset="-122"/>
                <a:ea typeface="Calibri" panose="020B0503020204020204" pitchFamily="34" charset="-122"/>
              </a:rPr>
              <a:t>pH probe installation</a:t>
            </a:r>
            <a:r>
              <a:rPr lang="zh-CN" altLang="en-US" sz="2000" b="1" dirty="0" smtClean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2000" b="1" dirty="0" smtClean="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467" y="1234662"/>
            <a:ext cx="4120433" cy="5527777"/>
          </a:xfrm>
          <a:prstGeom prst="rect">
            <a:avLst/>
          </a:prstGeom>
        </p:spPr>
      </p:pic>
      <p:sp>
        <p:nvSpPr>
          <p:cNvPr id="7" name="圆角矩形标注 6"/>
          <p:cNvSpPr/>
          <p:nvPr/>
        </p:nvSpPr>
        <p:spPr>
          <a:xfrm>
            <a:off x="5054600" y="1171162"/>
            <a:ext cx="2629017" cy="1299167"/>
          </a:xfrm>
          <a:prstGeom prst="wedgeRoundRectCallout">
            <a:avLst>
              <a:gd name="adj1" fmla="val -124694"/>
              <a:gd name="adj2" fmla="val 124601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226108" y="1270000"/>
            <a:ext cx="228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z="1300">
                <a:latin typeface="Calibri"/>
                <a:ea typeface="Calibri"/>
              </a:rPr>
              <a:t>Current vessels:</a:t>
            </a:r>
            <a:r>
              <a:rPr lang="zh-CN" altLang="en-US" dirty="0" smtClean="0"/>
              <a:t/>
            </a:r>
            <a:r>
              <a:rPr lang="en-US" altLang="zh-CN" dirty="0" smtClean="0"/>
              <a:t/>
            </a:r>
            <a:r>
              <a:rPr lang="zh-CN" altLang="en-US" dirty="0" smtClean="0"/>
              <a:t/>
            </a:r>
            <a:endParaRPr lang="en-US" altLang="zh-CN" dirty="0" smtClean="0"/>
          </a:p>
          <a:p>
            <a:r>
              <a:rPr lang="zh-CN" altLang="en-US" dirty="0" smtClean="0" sz="1300">
                <a:latin typeface="Calibri"/>
                <a:ea typeface="Calibri"/>
              </a:rPr>
              <a:t>Non-retractable pH probe on a quick-open nozzle, low on the side wall.</a:t>
            </a:r>
            <a:r>
              <a:rPr lang="en-US" altLang="zh-CN" dirty="0" smtClean="0"/>
              <a:t/>
            </a:r>
            <a:r>
              <a:rPr lang="zh-CN" altLang="en-US" dirty="0" smtClean="0"/>
              <a:t/>
            </a:r>
            <a:r>
              <a:rPr lang="en-US" altLang="zh-CN" dirty="0" smtClean="0"/>
              <a:t/>
            </a:r>
            <a:r>
              <a:rPr lang="zh-CN" altLang="en-US" dirty="0" smtClean="0"/>
              <a:t/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6589" y="1171162"/>
            <a:ext cx="3640024" cy="5343865"/>
          </a:xfrm>
          <a:prstGeom prst="rect">
            <a:avLst/>
          </a:prstGeom>
        </p:spPr>
      </p:pic>
      <p:sp>
        <p:nvSpPr>
          <p:cNvPr id="10" name="圆角矩形标注 9"/>
          <p:cNvSpPr/>
          <p:nvPr/>
        </p:nvSpPr>
        <p:spPr>
          <a:xfrm>
            <a:off x="5030331" y="2758662"/>
            <a:ext cx="2629017" cy="3756365"/>
          </a:xfrm>
          <a:prstGeom prst="wedgeRoundRectCallout">
            <a:avLst>
              <a:gd name="adj1" fmla="val 149207"/>
              <a:gd name="adj2" fmla="val 1961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201839" y="2857500"/>
            <a:ext cx="228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 sz="1300">
                <a:latin typeface="Calibri"/>
                <a:ea typeface="Calibri"/>
              </a:rPr>
              <a:t>Planned:</a:t>
            </a:r>
            <a:endParaRPr lang="en-US" altLang="zh-CN" dirty="0" smtClean="0"/>
          </a:p>
          <a:p>
            <a:r>
              <a:rPr lang="zh-CN" altLang="en-US" dirty="0" sz="1300">
                <a:latin typeface="Calibri"/>
                <a:ea typeface="Calibri"/>
              </a:rPr>
              <a:t>Retractable pH probe on an NA nozzle, low on the side wall.</a:t>
            </a:r>
            <a:r>
              <a:rPr lang="zh-CN" altLang="en-US" dirty="0" smtClean="0"/>
              <a:t/>
            </a:r>
            <a:r>
              <a:rPr lang="en-US" altLang="zh-CN" dirty="0" smtClean="0"/>
              <a:t/>
            </a:r>
            <a:r>
              <a:rPr lang="zh-CN" altLang="en-US" dirty="0" smtClean="0"/>
              <a:t/>
            </a:r>
            <a:r>
              <a:rPr lang="en-US" altLang="zh-CN" dirty="0" smtClean="0"/>
              <a:t/>
            </a:r>
            <a:r>
              <a:rPr lang="zh-CN" altLang="en-US" dirty="0" smtClean="0"/>
              <a:t/>
            </a:r>
            <a:r>
              <a:rPr lang="zh-CN" altLang="en-US" dirty="0"/>
              <a:t/>
            </a:r>
            <a:r>
              <a:rPr lang="en-US" altLang="zh-CN" dirty="0"/>
              <a:t/>
            </a:r>
            <a:r>
              <a:rPr lang="zh-CN" altLang="en-US" dirty="0" smtClean="0"/>
              <a:t/>
            </a:r>
            <a:endParaRPr lang="en-US" altLang="zh-CN" dirty="0" smtClean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1839" y="4761428"/>
            <a:ext cx="2192094" cy="124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015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 flipV="1">
            <a:off x="413467" y="1065475"/>
            <a:ext cx="11465782" cy="7952"/>
          </a:xfrm>
          <a:prstGeom prst="line">
            <a:avLst/>
          </a:prstGeom>
          <a:ln w="19050"/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2"/>
          <a:srcRect l="4387" t="77114" r="82409" b="8950"/>
          <a:stretch/>
        </p:blipFill>
        <p:spPr>
          <a:xfrm>
            <a:off x="10813174" y="288322"/>
            <a:ext cx="1038787" cy="61591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669280" y="427186"/>
            <a:ext cx="493776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b="1" dirty="0" smtClean="0">
                <a:solidFill>
                  <a:schemeClr val="accent5">
                    <a:lumMod val="50000"/>
                  </a:schemeClr>
                </a:solidFill>
                <a:latin typeface="Calibri" panose="020B0503020204020204" pitchFamily="34" charset="-122"/>
                <a:ea typeface="Calibri" panose="020B0503020204020204" pitchFamily="34" charset="-122"/>
              </a:rPr>
              <a:t>Mass flow meter installation</a:t>
            </a:r>
            <a:r>
              <a:rPr lang="zh-CN" altLang="en-US" sz="2000" b="1" dirty="0" smtClean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2000" b="1" dirty="0" smtClean="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2199" y="1234662"/>
            <a:ext cx="4011295" cy="534839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31" y="1234661"/>
            <a:ext cx="3747770" cy="5348393"/>
          </a:xfrm>
          <a:prstGeom prst="rect">
            <a:avLst/>
          </a:prstGeom>
        </p:spPr>
      </p:pic>
      <p:sp>
        <p:nvSpPr>
          <p:cNvPr id="7" name="圆角矩形标注 6"/>
          <p:cNvSpPr/>
          <p:nvPr/>
        </p:nvSpPr>
        <p:spPr>
          <a:xfrm>
            <a:off x="4540191" y="1234661"/>
            <a:ext cx="2629017" cy="1299167"/>
          </a:xfrm>
          <a:prstGeom prst="wedgeRoundRectCallout">
            <a:avLst>
              <a:gd name="adj1" fmla="val -106337"/>
              <a:gd name="adj2" fmla="val 96252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711699" y="1333499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 sz="1300">
                <a:latin typeface="Calibri"/>
                <a:ea typeface="Calibri"/>
              </a:rPr>
              <a:t>Current:</a:t>
            </a:r>
            <a:endParaRPr lang="en-US" altLang="zh-CN" dirty="0" smtClean="0"/>
          </a:p>
          <a:p>
            <a:r>
              <a:rPr lang="zh-CN" altLang="en-US" dirty="0" smtClean="0" sz="1300">
                <a:latin typeface="Calibri"/>
                <a:ea typeface="Calibri"/>
              </a:rPr>
              <a:t>Horizontal installation. The meter cannot drain completely.</a:t>
            </a:r>
            <a:endParaRPr lang="zh-CN" altLang="en-US" dirty="0"/>
          </a:p>
        </p:txBody>
      </p:sp>
      <p:sp>
        <p:nvSpPr>
          <p:cNvPr id="5" name="流程图: 可选过程 4"/>
          <p:cNvSpPr/>
          <p:nvPr/>
        </p:nvSpPr>
        <p:spPr>
          <a:xfrm>
            <a:off x="2070100" y="3035300"/>
            <a:ext cx="901700" cy="1676400"/>
          </a:xfrm>
          <a:prstGeom prst="flowChartAlternateProces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标注 9"/>
          <p:cNvSpPr/>
          <p:nvPr/>
        </p:nvSpPr>
        <p:spPr>
          <a:xfrm>
            <a:off x="4503361" y="3571461"/>
            <a:ext cx="2629017" cy="1299167"/>
          </a:xfrm>
          <a:prstGeom prst="wedgeRoundRectCallout">
            <a:avLst>
              <a:gd name="adj1" fmla="val 104765"/>
              <a:gd name="adj2" fmla="val -17144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流程图: 可选过程 10"/>
          <p:cNvSpPr/>
          <p:nvPr/>
        </p:nvSpPr>
        <p:spPr>
          <a:xfrm>
            <a:off x="8546146" y="3382844"/>
            <a:ext cx="2267028" cy="1487784"/>
          </a:xfrm>
          <a:prstGeom prst="flowChartAlternateProces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540191" y="3897878"/>
            <a:ext cx="23545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 sz="1300">
                <a:latin typeface="Calibri"/>
                <a:ea typeface="Calibri"/>
              </a:rPr>
              <a:t>Revised:</a:t>
            </a:r>
            <a:r>
              <a:rPr lang="zh-CN" altLang="en-US" dirty="0"/>
              <a:t/>
            </a:r>
            <a:endParaRPr lang="en-US" altLang="zh-CN" dirty="0"/>
          </a:p>
          <a:p>
            <a:r>
              <a:rPr lang="zh-CN" altLang="en-US" dirty="0" smtClean="0" sz="1300">
                <a:latin typeface="Calibri"/>
                <a:ea typeface="Calibri"/>
              </a:rPr>
              <a:t>Side installation. The meter drains by gravity.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2371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5874</TotalTime>
  <Words>184</Words>
  <Application>Microsoft Office PowerPoint</Application>
  <PresentationFormat>宽屏</PresentationFormat>
  <Paragraphs>27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等线</vt:lpstr>
      <vt:lpstr>等线 Light</vt:lpstr>
      <vt:lpstr>微软雅黑</vt:lpstr>
      <vt:lpstr>Arial</vt:lpstr>
      <vt:lpstr>Impact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Qixuan Bu17334</dc:creator>
  <cp:lastModifiedBy>Xingtao Fan</cp:lastModifiedBy>
  <cp:revision>372</cp:revision>
  <dcterms:created xsi:type="dcterms:W3CDTF">2026-08-11T10:09:09Z</dcterms:created>
  <dcterms:modified xsi:type="dcterms:W3CDTF">2026-10-01T10:28:54Z</dcterms:modified>
</cp:coreProperties>
</file>